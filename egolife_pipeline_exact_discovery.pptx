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Lst>
  <p:sldSz cx="12191999"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7F9FC"/>
        </a:solidFill>
        <a:effectLst/>
      </p:bgPr>
    </p:bg>
    <p:spTree>
      <p:nvGrpSpPr>
        <p:cNvPr id="1" name=""/>
        <p:cNvGrpSpPr/>
        <p:nvPr/>
      </p:nvGrpSpPr>
      <p:grpSpPr/>
      <p:sp>
        <p:nvSpPr>
          <p:cNvPr id="2" name="Rectangle 1"/>
          <p:cNvSpPr/>
          <p:nvPr/>
        </p:nvSpPr>
        <p:spPr>
          <a:xfrm>
            <a:off x="475488" y="256032"/>
            <a:ext cx="91440" cy="228600"/>
          </a:xfrm>
          <a:prstGeom prst="rect">
            <a:avLst/>
          </a:prstGeom>
          <a:solidFill>
            <a:srgbClr val="0080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37744"/>
            <a:ext cx="4389120" cy="274320"/>
          </a:xfrm>
          <a:prstGeom prst="rect">
            <a:avLst/>
          </a:prstGeom>
          <a:noFill/>
        </p:spPr>
        <p:txBody>
          <a:bodyPr wrap="none">
            <a:spAutoFit/>
          </a:bodyPr>
          <a:lstStyle/>
          <a:p>
            <a:pPr>
              <a:defRPr sz="850" b="1">
                <a:solidFill>
                  <a:srgbClr val="008080"/>
                </a:solidFill>
                <a:latin typeface="Aptos"/>
              </a:defRPr>
            </a:pPr>
            <a:r>
              <a:t>COLLABORATOR UPDATE</a:t>
            </a:r>
          </a:p>
        </p:txBody>
      </p:sp>
      <p:sp>
        <p:nvSpPr>
          <p:cNvPr id="4" name="TextBox 3"/>
          <p:cNvSpPr txBox="1"/>
          <p:nvPr/>
        </p:nvSpPr>
        <p:spPr>
          <a:xfrm>
            <a:off x="530352" y="932688"/>
            <a:ext cx="10789920" cy="658368"/>
          </a:xfrm>
          <a:prstGeom prst="rect">
            <a:avLst/>
          </a:prstGeom>
          <a:noFill/>
        </p:spPr>
        <p:txBody>
          <a:bodyPr wrap="square">
            <a:normAutofit/>
          </a:bodyPr>
          <a:lstStyle/>
          <a:p>
            <a:pPr algn="l">
              <a:defRPr sz="3400" b="1">
                <a:solidFill>
                  <a:srgbClr val="182334"/>
                </a:solidFill>
                <a:latin typeface="Aptos"/>
              </a:defRPr>
            </a:pPr>
            <a:r>
              <a:t>EgoLife Two-User QA</a:t>
            </a:r>
          </a:p>
        </p:txBody>
      </p:sp>
      <p:sp>
        <p:nvSpPr>
          <p:cNvPr id="5" name="TextBox 4"/>
          <p:cNvSpPr txBox="1"/>
          <p:nvPr/>
        </p:nvSpPr>
        <p:spPr>
          <a:xfrm>
            <a:off x="566928" y="1627632"/>
            <a:ext cx="9875520" cy="438912"/>
          </a:xfrm>
          <a:prstGeom prst="rect">
            <a:avLst/>
          </a:prstGeom>
          <a:noFill/>
        </p:spPr>
        <p:txBody>
          <a:bodyPr wrap="square">
            <a:normAutofit/>
          </a:bodyPr>
          <a:lstStyle/>
          <a:p>
            <a:pPr algn="l">
              <a:defRPr sz="2000" b="1">
                <a:solidFill>
                  <a:srgbClr val="008080"/>
                </a:solidFill>
                <a:latin typeface="Aptos"/>
              </a:defRPr>
            </a:pPr>
            <a:r>
              <a:t>Discovery-first progress update</a:t>
            </a:r>
          </a:p>
        </p:txBody>
      </p:sp>
      <p:sp>
        <p:nvSpPr>
          <p:cNvPr id="6" name="TextBox 5"/>
          <p:cNvSpPr txBox="1"/>
          <p:nvPr/>
        </p:nvSpPr>
        <p:spPr>
          <a:xfrm>
            <a:off x="585216" y="2148840"/>
            <a:ext cx="9966960" cy="502920"/>
          </a:xfrm>
          <a:prstGeom prst="rect">
            <a:avLst/>
          </a:prstGeom>
          <a:noFill/>
        </p:spPr>
        <p:txBody>
          <a:bodyPr wrap="square">
            <a:normAutofit/>
          </a:bodyPr>
          <a:lstStyle/>
          <a:p>
            <a:pPr algn="l">
              <a:defRPr sz="1400" b="0">
                <a:solidFill>
                  <a:srgbClr val="242D39"/>
                </a:solidFill>
                <a:latin typeface="Aptos"/>
              </a:defRPr>
            </a:pPr>
            <a:r>
              <a:t>Current pipeline for generating video-first multiple-choice questions that require evidence from at least two egocentric views.</a:t>
            </a:r>
          </a:p>
        </p:txBody>
      </p:sp>
      <p:sp>
        <p:nvSpPr>
          <p:cNvPr id="7" name="Rectangle 6"/>
          <p:cNvSpPr/>
          <p:nvPr/>
        </p:nvSpPr>
        <p:spPr>
          <a:xfrm>
            <a:off x="685800" y="3063240"/>
            <a:ext cx="2011680" cy="1143000"/>
          </a:xfrm>
          <a:prstGeom prst="rect">
            <a:avLst/>
          </a:prstGeom>
          <a:solidFill>
            <a:srgbClr val="FFFFFF"/>
          </a:solidFill>
          <a:ln w="12700">
            <a:solidFill>
              <a:srgbClr val="D6DE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95528" y="3172968"/>
            <a:ext cx="1792224" cy="502920"/>
          </a:xfrm>
          <a:prstGeom prst="rect">
            <a:avLst/>
          </a:prstGeom>
          <a:noFill/>
        </p:spPr>
        <p:txBody>
          <a:bodyPr wrap="square">
            <a:normAutofit/>
          </a:bodyPr>
          <a:lstStyle/>
          <a:p>
            <a:pPr algn="ctr">
              <a:defRPr sz="2400" b="1">
                <a:solidFill>
                  <a:srgbClr val="3060AA"/>
                </a:solidFill>
                <a:latin typeface="Aptos"/>
              </a:defRPr>
            </a:pPr>
            <a:r>
              <a:t>5</a:t>
            </a:r>
          </a:p>
        </p:txBody>
      </p:sp>
      <p:sp>
        <p:nvSpPr>
          <p:cNvPr id="9" name="TextBox 8"/>
          <p:cNvSpPr txBox="1"/>
          <p:nvPr/>
        </p:nvSpPr>
        <p:spPr>
          <a:xfrm>
            <a:off x="832104" y="3691889"/>
            <a:ext cx="1719072" cy="400050"/>
          </a:xfrm>
          <a:prstGeom prst="rect">
            <a:avLst/>
          </a:prstGeom>
          <a:noFill/>
        </p:spPr>
        <p:txBody>
          <a:bodyPr wrap="square">
            <a:normAutofit/>
          </a:bodyPr>
          <a:lstStyle/>
          <a:p>
            <a:pPr algn="ctr">
              <a:defRPr sz="950" b="1">
                <a:solidFill>
                  <a:srgbClr val="5E6976"/>
                </a:solidFill>
                <a:latin typeface="Aptos"/>
              </a:defRPr>
            </a:pPr>
            <a:r>
              <a:t>evidence packets in audit</a:t>
            </a:r>
          </a:p>
        </p:txBody>
      </p:sp>
      <p:sp>
        <p:nvSpPr>
          <p:cNvPr id="10" name="Rectangle 9"/>
          <p:cNvSpPr/>
          <p:nvPr/>
        </p:nvSpPr>
        <p:spPr>
          <a:xfrm>
            <a:off x="2971800" y="3063240"/>
            <a:ext cx="2011680" cy="1143000"/>
          </a:xfrm>
          <a:prstGeom prst="rect">
            <a:avLst/>
          </a:prstGeom>
          <a:solidFill>
            <a:srgbClr val="FFFFFF"/>
          </a:solidFill>
          <a:ln w="12700">
            <a:solidFill>
              <a:srgbClr val="D6DE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081528" y="3172968"/>
            <a:ext cx="1792224" cy="502920"/>
          </a:xfrm>
          <a:prstGeom prst="rect">
            <a:avLst/>
          </a:prstGeom>
          <a:noFill/>
        </p:spPr>
        <p:txBody>
          <a:bodyPr wrap="square">
            <a:normAutofit/>
          </a:bodyPr>
          <a:lstStyle/>
          <a:p>
            <a:pPr algn="ctr">
              <a:defRPr sz="2400" b="1">
                <a:solidFill>
                  <a:srgbClr val="CD8B30"/>
                </a:solidFill>
                <a:latin typeface="Aptos"/>
              </a:defRPr>
            </a:pPr>
            <a:r>
              <a:t>13</a:t>
            </a:r>
          </a:p>
        </p:txBody>
      </p:sp>
      <p:sp>
        <p:nvSpPr>
          <p:cNvPr id="12" name="TextBox 11"/>
          <p:cNvSpPr txBox="1"/>
          <p:nvPr/>
        </p:nvSpPr>
        <p:spPr>
          <a:xfrm>
            <a:off x="3118104" y="3691889"/>
            <a:ext cx="1719072" cy="400050"/>
          </a:xfrm>
          <a:prstGeom prst="rect">
            <a:avLst/>
          </a:prstGeom>
          <a:noFill/>
        </p:spPr>
        <p:txBody>
          <a:bodyPr wrap="square">
            <a:normAutofit/>
          </a:bodyPr>
          <a:lstStyle/>
          <a:p>
            <a:pPr algn="ctr">
              <a:defRPr sz="950" b="1">
                <a:solidFill>
                  <a:srgbClr val="5E6976"/>
                </a:solidFill>
                <a:latin typeface="Aptos"/>
              </a:defRPr>
            </a:pPr>
            <a:r>
              <a:t>discovery attempts</a:t>
            </a:r>
          </a:p>
        </p:txBody>
      </p:sp>
      <p:sp>
        <p:nvSpPr>
          <p:cNvPr id="13" name="Rectangle 12"/>
          <p:cNvSpPr/>
          <p:nvPr/>
        </p:nvSpPr>
        <p:spPr>
          <a:xfrm>
            <a:off x="5257800" y="3063240"/>
            <a:ext cx="2011680" cy="1143000"/>
          </a:xfrm>
          <a:prstGeom prst="rect">
            <a:avLst/>
          </a:prstGeom>
          <a:solidFill>
            <a:srgbClr val="FFFFFF"/>
          </a:solidFill>
          <a:ln w="12700">
            <a:solidFill>
              <a:srgbClr val="D6DE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367528" y="3172968"/>
            <a:ext cx="1792224" cy="502920"/>
          </a:xfrm>
          <a:prstGeom prst="rect">
            <a:avLst/>
          </a:prstGeom>
          <a:noFill/>
        </p:spPr>
        <p:txBody>
          <a:bodyPr wrap="square">
            <a:normAutofit/>
          </a:bodyPr>
          <a:lstStyle/>
          <a:p>
            <a:pPr algn="ctr">
              <a:defRPr sz="2400" b="1">
                <a:solidFill>
                  <a:srgbClr val="2A915C"/>
                </a:solidFill>
                <a:latin typeface="Aptos"/>
              </a:defRPr>
            </a:pPr>
            <a:r>
              <a:t>1</a:t>
            </a:r>
          </a:p>
        </p:txBody>
      </p:sp>
      <p:sp>
        <p:nvSpPr>
          <p:cNvPr id="15" name="TextBox 14"/>
          <p:cNvSpPr txBox="1"/>
          <p:nvPr/>
        </p:nvSpPr>
        <p:spPr>
          <a:xfrm>
            <a:off x="5404104" y="3691889"/>
            <a:ext cx="1719072" cy="400050"/>
          </a:xfrm>
          <a:prstGeom prst="rect">
            <a:avLst/>
          </a:prstGeom>
          <a:noFill/>
        </p:spPr>
        <p:txBody>
          <a:bodyPr wrap="square">
            <a:normAutofit/>
          </a:bodyPr>
          <a:lstStyle/>
          <a:p>
            <a:pPr algn="ctr">
              <a:defRPr sz="950" b="1">
                <a:solidFill>
                  <a:srgbClr val="5E6976"/>
                </a:solidFill>
                <a:latin typeface="Aptos"/>
              </a:defRPr>
            </a:pPr>
            <a:r>
              <a:t>accepted packet</a:t>
            </a:r>
          </a:p>
        </p:txBody>
      </p:sp>
      <p:sp>
        <p:nvSpPr>
          <p:cNvPr id="16" name="Rectangle 15"/>
          <p:cNvSpPr/>
          <p:nvPr/>
        </p:nvSpPr>
        <p:spPr>
          <a:xfrm>
            <a:off x="7543800" y="3063240"/>
            <a:ext cx="2011680" cy="1143000"/>
          </a:xfrm>
          <a:prstGeom prst="rect">
            <a:avLst/>
          </a:prstGeom>
          <a:solidFill>
            <a:srgbClr val="FFFFFF"/>
          </a:solidFill>
          <a:ln w="12700">
            <a:solidFill>
              <a:srgbClr val="D6DE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653527" y="3172968"/>
            <a:ext cx="1792224" cy="502920"/>
          </a:xfrm>
          <a:prstGeom prst="rect">
            <a:avLst/>
          </a:prstGeom>
          <a:noFill/>
        </p:spPr>
        <p:txBody>
          <a:bodyPr wrap="square">
            <a:normAutofit/>
          </a:bodyPr>
          <a:lstStyle/>
          <a:p>
            <a:pPr algn="ctr">
              <a:defRPr sz="2400" b="1">
                <a:solidFill>
                  <a:srgbClr val="008080"/>
                </a:solidFill>
                <a:latin typeface="Aptos"/>
              </a:defRPr>
            </a:pPr>
            <a:r>
              <a:t>20%</a:t>
            </a:r>
          </a:p>
        </p:txBody>
      </p:sp>
      <p:sp>
        <p:nvSpPr>
          <p:cNvPr id="18" name="TextBox 17"/>
          <p:cNvSpPr txBox="1"/>
          <p:nvPr/>
        </p:nvSpPr>
        <p:spPr>
          <a:xfrm>
            <a:off x="7690104" y="3691889"/>
            <a:ext cx="1719072" cy="400050"/>
          </a:xfrm>
          <a:prstGeom prst="rect">
            <a:avLst/>
          </a:prstGeom>
          <a:noFill/>
        </p:spPr>
        <p:txBody>
          <a:bodyPr wrap="square">
            <a:normAutofit/>
          </a:bodyPr>
          <a:lstStyle/>
          <a:p>
            <a:pPr algn="ctr">
              <a:defRPr sz="950" b="1">
                <a:solidFill>
                  <a:srgbClr val="5E6976"/>
                </a:solidFill>
                <a:latin typeface="Aptos"/>
              </a:defRPr>
            </a:pPr>
            <a:r>
              <a:t>acceptance rate</a:t>
            </a:r>
          </a:p>
        </p:txBody>
      </p:sp>
      <p:sp>
        <p:nvSpPr>
          <p:cNvPr id="19" name="Rounded Rectangle 18"/>
          <p:cNvSpPr/>
          <p:nvPr/>
        </p:nvSpPr>
        <p:spPr>
          <a:xfrm>
            <a:off x="685800" y="4617720"/>
            <a:ext cx="5074920" cy="1097280"/>
          </a:xfrm>
          <a:prstGeom prst="roundRect">
            <a:avLst/>
          </a:prstGeom>
          <a:solidFill>
            <a:srgbClr val="FFFFFF"/>
          </a:solidFill>
          <a:ln w="12700">
            <a:solidFill>
              <a:srgbClr val="D6DE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85800" y="4617720"/>
            <a:ext cx="73152" cy="1097280"/>
          </a:xfrm>
          <a:prstGeom prst="rect">
            <a:avLst/>
          </a:prstGeom>
          <a:solidFill>
            <a:srgbClr val="0080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86968" y="4764024"/>
            <a:ext cx="4754880" cy="320040"/>
          </a:xfrm>
          <a:prstGeom prst="rect">
            <a:avLst/>
          </a:prstGeom>
          <a:noFill/>
        </p:spPr>
        <p:txBody>
          <a:bodyPr wrap="square">
            <a:normAutofit/>
          </a:bodyPr>
          <a:lstStyle/>
          <a:p>
            <a:pPr algn="l">
              <a:defRPr sz="1300" b="1">
                <a:solidFill>
                  <a:srgbClr val="182334"/>
                </a:solidFill>
                <a:latin typeface="Aptos"/>
              </a:defRPr>
            </a:pPr>
            <a:r>
              <a:t>Core direction</a:t>
            </a:r>
          </a:p>
        </p:txBody>
      </p:sp>
      <p:sp>
        <p:nvSpPr>
          <p:cNvPr id="22" name="TextBox 21"/>
          <p:cNvSpPr txBox="1"/>
          <p:nvPr/>
        </p:nvSpPr>
        <p:spPr>
          <a:xfrm>
            <a:off x="886968" y="5138928"/>
            <a:ext cx="4754880" cy="438912"/>
          </a:xfrm>
          <a:prstGeom prst="rect">
            <a:avLst/>
          </a:prstGeom>
          <a:noFill/>
        </p:spPr>
        <p:txBody>
          <a:bodyPr wrap="square">
            <a:normAutofit/>
          </a:bodyPr>
          <a:lstStyle/>
          <a:p>
            <a:pPr algn="l">
              <a:defRPr sz="1150" b="0">
                <a:solidFill>
                  <a:srgbClr val="242D39"/>
                </a:solidFill>
                <a:latin typeface="Aptos"/>
              </a:defRPr>
            </a:pPr>
            <a:r>
              <a:t>Relation-first discovery before question writing: propose the cross-user information need, then turn that relation into an MCQ and run hard gates.</a:t>
            </a:r>
          </a:p>
        </p:txBody>
      </p:sp>
      <p:sp>
        <p:nvSpPr>
          <p:cNvPr id="23" name="Rounded Rectangle 22"/>
          <p:cNvSpPr/>
          <p:nvPr/>
        </p:nvSpPr>
        <p:spPr>
          <a:xfrm>
            <a:off x="6080760" y="4617720"/>
            <a:ext cx="5074920" cy="1097280"/>
          </a:xfrm>
          <a:prstGeom prst="roundRect">
            <a:avLst/>
          </a:prstGeom>
          <a:solidFill>
            <a:srgbClr val="FFFFFF"/>
          </a:solidFill>
          <a:ln w="12700">
            <a:solidFill>
              <a:srgbClr val="D6DE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6080760" y="4617720"/>
            <a:ext cx="73152" cy="1097280"/>
          </a:xfrm>
          <a:prstGeom prst="rect">
            <a:avLst/>
          </a:prstGeom>
          <a:solidFill>
            <a:srgbClr val="CD8B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281928" y="4764024"/>
            <a:ext cx="4754880" cy="320040"/>
          </a:xfrm>
          <a:prstGeom prst="rect">
            <a:avLst/>
          </a:prstGeom>
          <a:noFill/>
        </p:spPr>
        <p:txBody>
          <a:bodyPr wrap="square">
            <a:normAutofit/>
          </a:bodyPr>
          <a:lstStyle/>
          <a:p>
            <a:pPr algn="l">
              <a:defRPr sz="1300" b="1">
                <a:solidFill>
                  <a:srgbClr val="182334"/>
                </a:solidFill>
                <a:latin typeface="Aptos"/>
              </a:defRPr>
            </a:pPr>
            <a:r>
              <a:t>Status</a:t>
            </a:r>
          </a:p>
        </p:txBody>
      </p:sp>
      <p:sp>
        <p:nvSpPr>
          <p:cNvPr id="26" name="TextBox 25"/>
          <p:cNvSpPr txBox="1"/>
          <p:nvPr/>
        </p:nvSpPr>
        <p:spPr>
          <a:xfrm>
            <a:off x="6281928" y="5138928"/>
            <a:ext cx="4754880" cy="438912"/>
          </a:xfrm>
          <a:prstGeom prst="rect">
            <a:avLst/>
          </a:prstGeom>
          <a:noFill/>
        </p:spPr>
        <p:txBody>
          <a:bodyPr wrap="square">
            <a:normAutofit/>
          </a:bodyPr>
          <a:lstStyle/>
          <a:p>
            <a:pPr algn="l">
              <a:defRPr sz="1150" b="0">
                <a:solidFill>
                  <a:srgbClr val="242D39"/>
                </a:solidFill>
                <a:latin typeface="Aptos"/>
              </a:defRPr>
            </a:pPr>
            <a:r>
              <a:t>Pipeline is implemented end to end. Early audit shows the direction can pass strict gates, but single-view leakage remains the dominant failure to eliminate.</a:t>
            </a:r>
          </a:p>
        </p:txBody>
      </p:sp>
      <p:sp>
        <p:nvSpPr>
          <p:cNvPr id="27" name="TextBox 26"/>
          <p:cNvSpPr txBox="1"/>
          <p:nvPr/>
        </p:nvSpPr>
        <p:spPr>
          <a:xfrm>
            <a:off x="438912" y="6446520"/>
            <a:ext cx="9875520" cy="201168"/>
          </a:xfrm>
          <a:prstGeom prst="rect">
            <a:avLst/>
          </a:prstGeom>
          <a:noFill/>
        </p:spPr>
        <p:txBody>
          <a:bodyPr wrap="none">
            <a:spAutoFit/>
          </a:bodyPr>
          <a:lstStyle/>
          <a:p>
            <a:pPr>
              <a:defRPr sz="750">
                <a:solidFill>
                  <a:srgbClr val="5E6976"/>
                </a:solidFill>
                <a:latin typeface="Aptos"/>
              </a:defRPr>
            </a:pPr>
            <a:r>
              <a:t>Source: project code and template_vs_nontemplate_qa_study.xlsx</a:t>
            </a:r>
          </a:p>
        </p:txBody>
      </p:sp>
      <p:sp>
        <p:nvSpPr>
          <p:cNvPr id="28" name="TextBox 27"/>
          <p:cNvSpPr txBox="1"/>
          <p:nvPr/>
        </p:nvSpPr>
        <p:spPr>
          <a:xfrm>
            <a:off x="11292840" y="6446520"/>
            <a:ext cx="457200" cy="201168"/>
          </a:xfrm>
          <a:prstGeom prst="rect">
            <a:avLst/>
          </a:prstGeom>
          <a:noFill/>
        </p:spPr>
        <p:txBody>
          <a:bodyPr wrap="none">
            <a:spAutoFit/>
          </a:bodyPr>
          <a:lstStyle/>
          <a:p>
            <a:pPr algn="r">
              <a:defRPr sz="750">
                <a:solidFill>
                  <a:srgbClr val="5E6976"/>
                </a:solidFill>
                <a:latin typeface="Aptos"/>
              </a:defRPr>
            </a:pPr>
            <a:r>
              <a:t>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7F9FC"/>
        </a:solidFill>
        <a:effectLst/>
      </p:bgPr>
    </p:bg>
    <p:spTree>
      <p:nvGrpSpPr>
        <p:cNvPr id="1" name=""/>
        <p:cNvGrpSpPr/>
        <p:nvPr/>
      </p:nvGrpSpPr>
      <p:grpSpPr/>
      <p:sp>
        <p:nvSpPr>
          <p:cNvPr id="2" name="Rectangle 1"/>
          <p:cNvSpPr/>
          <p:nvPr/>
        </p:nvSpPr>
        <p:spPr>
          <a:xfrm>
            <a:off x="475488" y="256032"/>
            <a:ext cx="91440" cy="228600"/>
          </a:xfrm>
          <a:prstGeom prst="rect">
            <a:avLst/>
          </a:prstGeom>
          <a:solidFill>
            <a:srgbClr val="0080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37744"/>
            <a:ext cx="4389120" cy="274320"/>
          </a:xfrm>
          <a:prstGeom prst="rect">
            <a:avLst/>
          </a:prstGeom>
          <a:noFill/>
        </p:spPr>
        <p:txBody>
          <a:bodyPr wrap="none">
            <a:spAutoFit/>
          </a:bodyPr>
          <a:lstStyle/>
          <a:p>
            <a:pPr>
              <a:defRPr sz="850" b="1">
                <a:solidFill>
                  <a:srgbClr val="008080"/>
                </a:solidFill>
                <a:latin typeface="Aptos"/>
              </a:defRPr>
            </a:pPr>
            <a:r>
              <a:t>DISCOVERY-FIRST PIPELINE</a:t>
            </a:r>
          </a:p>
        </p:txBody>
      </p:sp>
      <p:sp>
        <p:nvSpPr>
          <p:cNvPr id="4" name="TextBox 3"/>
          <p:cNvSpPr txBox="1"/>
          <p:nvPr/>
        </p:nvSpPr>
        <p:spPr>
          <a:xfrm>
            <a:off x="475488" y="603504"/>
            <a:ext cx="11155680" cy="621792"/>
          </a:xfrm>
          <a:prstGeom prst="rect">
            <a:avLst/>
          </a:prstGeom>
          <a:noFill/>
        </p:spPr>
        <p:txBody>
          <a:bodyPr wrap="square">
            <a:spAutoFit/>
          </a:bodyPr>
          <a:lstStyle/>
          <a:p>
            <a:pPr>
              <a:defRPr sz="2800" b="1">
                <a:solidFill>
                  <a:srgbClr val="182334"/>
                </a:solidFill>
                <a:latin typeface="Aptos Display"/>
              </a:defRPr>
            </a:pPr>
            <a:r>
              <a:t>What the discovery path is trying to produce</a:t>
            </a:r>
          </a:p>
        </p:txBody>
      </p:sp>
      <p:sp>
        <p:nvSpPr>
          <p:cNvPr id="5" name="TextBox 4"/>
          <p:cNvSpPr txBox="1"/>
          <p:nvPr/>
        </p:nvSpPr>
        <p:spPr>
          <a:xfrm>
            <a:off x="493776" y="1234440"/>
            <a:ext cx="10789920" cy="457200"/>
          </a:xfrm>
          <a:prstGeom prst="rect">
            <a:avLst/>
          </a:prstGeom>
          <a:noFill/>
        </p:spPr>
        <p:txBody>
          <a:bodyPr wrap="square">
            <a:spAutoFit/>
          </a:bodyPr>
          <a:lstStyle/>
          <a:p>
            <a:pPr>
              <a:defRPr sz="1300">
                <a:solidFill>
                  <a:srgbClr val="5E6976"/>
                </a:solidFill>
                <a:latin typeface="Aptos"/>
              </a:defRPr>
            </a:pPr>
            <a:r>
              <a:t>A QA item is accepted only when the answer genuinely depends on a relation across users.</a:t>
            </a:r>
          </a:p>
        </p:txBody>
      </p:sp>
      <p:sp>
        <p:nvSpPr>
          <p:cNvPr id="6" name="TextBox 5"/>
          <p:cNvSpPr txBox="1"/>
          <p:nvPr/>
        </p:nvSpPr>
        <p:spPr>
          <a:xfrm>
            <a:off x="438912" y="6446520"/>
            <a:ext cx="9875520" cy="201168"/>
          </a:xfrm>
          <a:prstGeom prst="rect">
            <a:avLst/>
          </a:prstGeom>
          <a:noFill/>
        </p:spPr>
        <p:txBody>
          <a:bodyPr wrap="none">
            <a:spAutoFit/>
          </a:bodyPr>
          <a:lstStyle/>
          <a:p>
            <a:pPr>
              <a:defRPr sz="750">
                <a:solidFill>
                  <a:srgbClr val="5E6976"/>
                </a:solidFill>
                <a:latin typeface="Aptos"/>
              </a:defRPr>
            </a:pPr>
            <a:r>
              <a:t>Source: README.md, schema.py</a:t>
            </a:r>
          </a:p>
        </p:txBody>
      </p:sp>
      <p:sp>
        <p:nvSpPr>
          <p:cNvPr id="7" name="TextBox 6"/>
          <p:cNvSpPr txBox="1"/>
          <p:nvPr/>
        </p:nvSpPr>
        <p:spPr>
          <a:xfrm>
            <a:off x="11292840" y="6446520"/>
            <a:ext cx="457200" cy="201168"/>
          </a:xfrm>
          <a:prstGeom prst="rect">
            <a:avLst/>
          </a:prstGeom>
          <a:noFill/>
        </p:spPr>
        <p:txBody>
          <a:bodyPr wrap="none">
            <a:spAutoFit/>
          </a:bodyPr>
          <a:lstStyle/>
          <a:p>
            <a:pPr algn="r">
              <a:defRPr sz="750">
                <a:solidFill>
                  <a:srgbClr val="5E6976"/>
                </a:solidFill>
                <a:latin typeface="Aptos"/>
              </a:defRPr>
            </a:pPr>
            <a:r>
              <a:t>2</a:t>
            </a:r>
          </a:p>
        </p:txBody>
      </p:sp>
      <p:sp>
        <p:nvSpPr>
          <p:cNvPr id="8" name="Rounded Rectangle 7"/>
          <p:cNvSpPr/>
          <p:nvPr/>
        </p:nvSpPr>
        <p:spPr>
          <a:xfrm>
            <a:off x="594360" y="1874519"/>
            <a:ext cx="3429000" cy="1417320"/>
          </a:xfrm>
          <a:prstGeom prst="roundRect">
            <a:avLst/>
          </a:prstGeom>
          <a:solidFill>
            <a:srgbClr val="FFFFFF"/>
          </a:solidFill>
          <a:ln w="12700">
            <a:solidFill>
              <a:srgbClr val="D6DE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94360" y="1874519"/>
            <a:ext cx="73152" cy="1417320"/>
          </a:xfrm>
          <a:prstGeom prst="rect">
            <a:avLst/>
          </a:prstGeom>
          <a:solidFill>
            <a:srgbClr val="3060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95528" y="2020824"/>
            <a:ext cx="3108960" cy="320040"/>
          </a:xfrm>
          <a:prstGeom prst="rect">
            <a:avLst/>
          </a:prstGeom>
          <a:noFill/>
        </p:spPr>
        <p:txBody>
          <a:bodyPr wrap="square">
            <a:normAutofit/>
          </a:bodyPr>
          <a:lstStyle/>
          <a:p>
            <a:pPr algn="l">
              <a:defRPr sz="1300" b="1">
                <a:solidFill>
                  <a:srgbClr val="182334"/>
                </a:solidFill>
                <a:latin typeface="Aptos"/>
              </a:defRPr>
            </a:pPr>
            <a:r>
              <a:t>Input</a:t>
            </a:r>
          </a:p>
        </p:txBody>
      </p:sp>
      <p:sp>
        <p:nvSpPr>
          <p:cNvPr id="11" name="TextBox 10"/>
          <p:cNvSpPr txBox="1"/>
          <p:nvPr/>
        </p:nvSpPr>
        <p:spPr>
          <a:xfrm>
            <a:off x="795528" y="2395727"/>
            <a:ext cx="3108960" cy="758952"/>
          </a:xfrm>
          <a:prstGeom prst="rect">
            <a:avLst/>
          </a:prstGeom>
          <a:noFill/>
        </p:spPr>
        <p:txBody>
          <a:bodyPr wrap="square">
            <a:normAutofit/>
          </a:bodyPr>
          <a:lstStyle/>
          <a:p>
            <a:pPr algn="l">
              <a:defRPr sz="1150" b="0">
                <a:solidFill>
                  <a:srgbClr val="242D39"/>
                </a:solidFill>
                <a:latin typeface="Aptos"/>
              </a:defRPr>
            </a:pPr>
            <a:r>
              <a:t>Aligned EgoLife egocentric videos, per-user metadata, and gaze summaries when available. The active path is video-first: the model sees raw videos rather than prewritten captions.</a:t>
            </a:r>
          </a:p>
        </p:txBody>
      </p:sp>
      <p:sp>
        <p:nvSpPr>
          <p:cNvPr id="12" name="Rounded Rectangle 11"/>
          <p:cNvSpPr/>
          <p:nvPr/>
        </p:nvSpPr>
        <p:spPr>
          <a:xfrm>
            <a:off x="4370832" y="1874519"/>
            <a:ext cx="3429000" cy="1417320"/>
          </a:xfrm>
          <a:prstGeom prst="roundRect">
            <a:avLst/>
          </a:prstGeom>
          <a:solidFill>
            <a:srgbClr val="FFFFFF"/>
          </a:solidFill>
          <a:ln w="12700">
            <a:solidFill>
              <a:srgbClr val="D6DE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370832" y="1874519"/>
            <a:ext cx="73152" cy="1417320"/>
          </a:xfrm>
          <a:prstGeom prst="rect">
            <a:avLst/>
          </a:prstGeom>
          <a:solidFill>
            <a:srgbClr val="0080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72000" y="2020824"/>
            <a:ext cx="3108960" cy="320040"/>
          </a:xfrm>
          <a:prstGeom prst="rect">
            <a:avLst/>
          </a:prstGeom>
          <a:noFill/>
        </p:spPr>
        <p:txBody>
          <a:bodyPr wrap="square">
            <a:normAutofit/>
          </a:bodyPr>
          <a:lstStyle/>
          <a:p>
            <a:pPr algn="l">
              <a:defRPr sz="1300" b="1">
                <a:solidFill>
                  <a:srgbClr val="182334"/>
                </a:solidFill>
                <a:latin typeface="Aptos"/>
              </a:defRPr>
            </a:pPr>
            <a:r>
              <a:t>Target artifact</a:t>
            </a:r>
          </a:p>
        </p:txBody>
      </p:sp>
      <p:sp>
        <p:nvSpPr>
          <p:cNvPr id="15" name="TextBox 14"/>
          <p:cNvSpPr txBox="1"/>
          <p:nvPr/>
        </p:nvSpPr>
        <p:spPr>
          <a:xfrm>
            <a:off x="4572000" y="2395727"/>
            <a:ext cx="3108960" cy="758952"/>
          </a:xfrm>
          <a:prstGeom prst="rect">
            <a:avLst/>
          </a:prstGeom>
          <a:noFill/>
        </p:spPr>
        <p:txBody>
          <a:bodyPr wrap="square">
            <a:normAutofit/>
          </a:bodyPr>
          <a:lstStyle/>
          <a:p>
            <a:pPr algn="l">
              <a:defRPr sz="1150" b="0">
                <a:solidFill>
                  <a:srgbClr val="242D39"/>
                </a:solidFill>
                <a:latin typeface="Aptos"/>
              </a:defRPr>
            </a:pPr>
            <a:r>
              <a:t>One natural first-person five-option MCQ with exactly one correct answer, per-user evidence claims, timestamps/moments, answerability statements, and audit metadata.</a:t>
            </a:r>
          </a:p>
        </p:txBody>
      </p:sp>
      <p:sp>
        <p:nvSpPr>
          <p:cNvPr id="16" name="Rounded Rectangle 15"/>
          <p:cNvSpPr/>
          <p:nvPr/>
        </p:nvSpPr>
        <p:spPr>
          <a:xfrm>
            <a:off x="8138160" y="1874519"/>
            <a:ext cx="3429000" cy="1417320"/>
          </a:xfrm>
          <a:prstGeom prst="roundRect">
            <a:avLst/>
          </a:prstGeom>
          <a:solidFill>
            <a:srgbClr val="FFFFFF"/>
          </a:solidFill>
          <a:ln w="12700">
            <a:solidFill>
              <a:srgbClr val="D6DE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138160" y="1874519"/>
            <a:ext cx="73152" cy="1417320"/>
          </a:xfrm>
          <a:prstGeom prst="rect">
            <a:avLst/>
          </a:prstGeom>
          <a:solidFill>
            <a:srgbClr val="2A91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339328" y="2020824"/>
            <a:ext cx="3108960" cy="320040"/>
          </a:xfrm>
          <a:prstGeom prst="rect">
            <a:avLst/>
          </a:prstGeom>
          <a:noFill/>
        </p:spPr>
        <p:txBody>
          <a:bodyPr wrap="square">
            <a:normAutofit/>
          </a:bodyPr>
          <a:lstStyle/>
          <a:p>
            <a:pPr algn="l">
              <a:defRPr sz="1300" b="1">
                <a:solidFill>
                  <a:srgbClr val="182334"/>
                </a:solidFill>
                <a:latin typeface="Aptos"/>
              </a:defRPr>
            </a:pPr>
            <a:r>
              <a:t>Acceptance standard</a:t>
            </a:r>
          </a:p>
        </p:txBody>
      </p:sp>
      <p:sp>
        <p:nvSpPr>
          <p:cNvPr id="19" name="TextBox 18"/>
          <p:cNvSpPr txBox="1"/>
          <p:nvPr/>
        </p:nvSpPr>
        <p:spPr>
          <a:xfrm>
            <a:off x="8339328" y="2395727"/>
            <a:ext cx="3108960" cy="758952"/>
          </a:xfrm>
          <a:prstGeom prst="rect">
            <a:avLst/>
          </a:prstGeom>
          <a:noFill/>
        </p:spPr>
        <p:txBody>
          <a:bodyPr wrap="square">
            <a:normAutofit/>
          </a:bodyPr>
          <a:lstStyle/>
          <a:p>
            <a:pPr algn="l">
              <a:defRPr sz="1150" b="0">
                <a:solidFill>
                  <a:srgbClr val="242D39"/>
                </a:solidFill>
                <a:latin typeface="Aptos"/>
              </a:defRPr>
            </a:pPr>
            <a:r>
              <a:t>Each individual required user must be insufficient; the combined required users must make exactly one option correct; all structured reviewer and schema gates must pass.</a:t>
            </a:r>
          </a:p>
        </p:txBody>
      </p:sp>
      <p:sp>
        <p:nvSpPr>
          <p:cNvPr id="20" name="TextBox 19"/>
          <p:cNvSpPr txBox="1"/>
          <p:nvPr/>
        </p:nvSpPr>
        <p:spPr>
          <a:xfrm>
            <a:off x="777240" y="3977639"/>
            <a:ext cx="10652760" cy="658368"/>
          </a:xfrm>
          <a:prstGeom prst="rect">
            <a:avLst/>
          </a:prstGeom>
          <a:noFill/>
        </p:spPr>
        <p:txBody>
          <a:bodyPr wrap="square">
            <a:normAutofit/>
          </a:bodyPr>
          <a:lstStyle/>
          <a:p>
            <a:pPr algn="ctr">
              <a:defRPr sz="1800" b="1">
                <a:solidFill>
                  <a:srgbClr val="182334"/>
                </a:solidFill>
                <a:latin typeface="Aptos"/>
              </a:defRPr>
            </a:pPr>
            <a:r>
              <a:t>The collaborator-facing question is no longer "which generation mode do we use?" It is "how reliably can relation discovery find visually grounded, multi-user information needs?"</a:t>
            </a:r>
          </a:p>
        </p:txBody>
      </p:sp>
      <p:sp>
        <p:nvSpPr>
          <p:cNvPr id="21" name="TextBox 20"/>
          <p:cNvSpPr txBox="1"/>
          <p:nvPr/>
        </p:nvSpPr>
        <p:spPr>
          <a:xfrm>
            <a:off x="960120" y="4892040"/>
            <a:ext cx="10241280" cy="1005840"/>
          </a:xfrm>
          <a:prstGeom prst="rect">
            <a:avLst/>
          </a:prstGeom>
          <a:noFill/>
        </p:spPr>
        <p:txBody>
          <a:bodyPr wrap="square">
            <a:normAutofit/>
          </a:bodyPr>
          <a:lstStyle/>
          <a:p>
            <a:pPr>
              <a:lnSpc>
                <a:spcPct val="100000"/>
              </a:lnSpc>
              <a:spcAft>
                <a:spcPts val="700"/>
              </a:spcAft>
              <a:defRPr sz="1300">
                <a:solidFill>
                  <a:srgbClr val="242D39"/>
                </a:solidFill>
                <a:latin typeface="Aptos"/>
              </a:defRPr>
            </a:pPr>
            <a:r>
              <a:t>Natural in-situation wording, suitable for an AR-glasses assistant or memory aid.</a:t>
            </a:r>
          </a:p>
          <a:p>
            <a:pPr>
              <a:lnSpc>
                <a:spcPct val="100000"/>
              </a:lnSpc>
              <a:spcAft>
                <a:spcPts val="700"/>
              </a:spcAft>
              <a:defRPr sz="1300">
                <a:solidFill>
                  <a:srgbClr val="242D39"/>
                </a:solidFill>
                <a:latin typeface="Aptos"/>
              </a:defRPr>
            </a:pPr>
            <a:r>
              <a:t>Grounded in concrete visual moments from the provided users only.</a:t>
            </a:r>
          </a:p>
          <a:p>
            <a:pPr>
              <a:lnSpc>
                <a:spcPct val="100000"/>
              </a:lnSpc>
              <a:spcAft>
                <a:spcPts val="700"/>
              </a:spcAft>
              <a:defRPr sz="1300">
                <a:solidFill>
                  <a:srgbClr val="242D39"/>
                </a:solidFill>
                <a:latin typeface="Aptos"/>
              </a:defRPr>
            </a:pPr>
            <a:r>
              <a:t>Explicit proof that each user contributes necessary, non-redundant evidence.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7F9FC"/>
        </a:solidFill>
        <a:effectLst/>
      </p:bgPr>
    </p:bg>
    <p:spTree>
      <p:nvGrpSpPr>
        <p:cNvPr id="1" name=""/>
        <p:cNvGrpSpPr/>
        <p:nvPr/>
      </p:nvGrpSpPr>
      <p:grpSpPr/>
      <p:sp>
        <p:nvSpPr>
          <p:cNvPr id="2" name="Rectangle 1"/>
          <p:cNvSpPr/>
          <p:nvPr/>
        </p:nvSpPr>
        <p:spPr>
          <a:xfrm>
            <a:off x="475488" y="256032"/>
            <a:ext cx="91440" cy="228600"/>
          </a:xfrm>
          <a:prstGeom prst="rect">
            <a:avLst/>
          </a:prstGeom>
          <a:solidFill>
            <a:srgbClr val="0080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37744"/>
            <a:ext cx="4389120" cy="274320"/>
          </a:xfrm>
          <a:prstGeom prst="rect">
            <a:avLst/>
          </a:prstGeom>
          <a:noFill/>
        </p:spPr>
        <p:txBody>
          <a:bodyPr wrap="none">
            <a:spAutoFit/>
          </a:bodyPr>
          <a:lstStyle/>
          <a:p>
            <a:pPr>
              <a:defRPr sz="850" b="1">
                <a:solidFill>
                  <a:srgbClr val="008080"/>
                </a:solidFill>
                <a:latin typeface="Aptos"/>
              </a:defRPr>
            </a:pPr>
            <a:r>
              <a:t>DISCOVERY-FIRST PIPELINE</a:t>
            </a:r>
          </a:p>
        </p:txBody>
      </p:sp>
      <p:sp>
        <p:nvSpPr>
          <p:cNvPr id="4" name="TextBox 3"/>
          <p:cNvSpPr txBox="1"/>
          <p:nvPr/>
        </p:nvSpPr>
        <p:spPr>
          <a:xfrm>
            <a:off x="475488" y="603504"/>
            <a:ext cx="11155680" cy="621792"/>
          </a:xfrm>
          <a:prstGeom prst="rect">
            <a:avLst/>
          </a:prstGeom>
          <a:noFill/>
        </p:spPr>
        <p:txBody>
          <a:bodyPr wrap="square">
            <a:spAutoFit/>
          </a:bodyPr>
          <a:lstStyle/>
          <a:p>
            <a:pPr>
              <a:defRPr sz="2800" b="1">
                <a:solidFill>
                  <a:srgbClr val="182334"/>
                </a:solidFill>
                <a:latin typeface="Aptos Display"/>
              </a:defRPr>
            </a:pPr>
            <a:r>
              <a:t>Discovery pipeline at a glance</a:t>
            </a:r>
          </a:p>
        </p:txBody>
      </p:sp>
      <p:sp>
        <p:nvSpPr>
          <p:cNvPr id="5" name="TextBox 4"/>
          <p:cNvSpPr txBox="1"/>
          <p:nvPr/>
        </p:nvSpPr>
        <p:spPr>
          <a:xfrm>
            <a:off x="493776" y="1234440"/>
            <a:ext cx="10789920" cy="457200"/>
          </a:xfrm>
          <a:prstGeom prst="rect">
            <a:avLst/>
          </a:prstGeom>
          <a:noFill/>
        </p:spPr>
        <p:txBody>
          <a:bodyPr wrap="square">
            <a:spAutoFit/>
          </a:bodyPr>
          <a:lstStyle/>
          <a:p>
            <a:pPr>
              <a:defRPr sz="1300">
                <a:solidFill>
                  <a:srgbClr val="5E6976"/>
                </a:solidFill>
                <a:latin typeface="Aptos"/>
              </a:defRPr>
            </a:pPr>
            <a:r>
              <a:t>The current implementation separates relation discovery from MCQ writing, then uses gates to reject shallow or leaky questions.</a:t>
            </a:r>
          </a:p>
        </p:txBody>
      </p:sp>
      <p:sp>
        <p:nvSpPr>
          <p:cNvPr id="6" name="TextBox 5"/>
          <p:cNvSpPr txBox="1"/>
          <p:nvPr/>
        </p:nvSpPr>
        <p:spPr>
          <a:xfrm>
            <a:off x="438912" y="6446520"/>
            <a:ext cx="9875520" cy="201168"/>
          </a:xfrm>
          <a:prstGeom prst="rect">
            <a:avLst/>
          </a:prstGeom>
          <a:noFill/>
        </p:spPr>
        <p:txBody>
          <a:bodyPr wrap="none">
            <a:spAutoFit/>
          </a:bodyPr>
          <a:lstStyle/>
          <a:p>
            <a:pPr>
              <a:defRPr sz="750">
                <a:solidFill>
                  <a:srgbClr val="5E6976"/>
                </a:solidFill>
                <a:latin typeface="Aptos"/>
              </a:defRPr>
            </a:pPr>
            <a:r>
              <a:t>Source: video_qa_loop.py, prompts.py</a:t>
            </a:r>
          </a:p>
        </p:txBody>
      </p:sp>
      <p:sp>
        <p:nvSpPr>
          <p:cNvPr id="7" name="TextBox 6"/>
          <p:cNvSpPr txBox="1"/>
          <p:nvPr/>
        </p:nvSpPr>
        <p:spPr>
          <a:xfrm>
            <a:off x="11292840" y="6446520"/>
            <a:ext cx="457200" cy="201168"/>
          </a:xfrm>
          <a:prstGeom prst="rect">
            <a:avLst/>
          </a:prstGeom>
          <a:noFill/>
        </p:spPr>
        <p:txBody>
          <a:bodyPr wrap="none">
            <a:spAutoFit/>
          </a:bodyPr>
          <a:lstStyle/>
          <a:p>
            <a:pPr algn="r">
              <a:defRPr sz="750">
                <a:solidFill>
                  <a:srgbClr val="5E6976"/>
                </a:solidFill>
                <a:latin typeface="Aptos"/>
              </a:defRPr>
            </a:pPr>
            <a:r>
              <a:t>3</a:t>
            </a:r>
          </a:p>
        </p:txBody>
      </p:sp>
      <p:sp>
        <p:nvSpPr>
          <p:cNvPr id="8" name="Rounded Rectangle 7"/>
          <p:cNvSpPr/>
          <p:nvPr/>
        </p:nvSpPr>
        <p:spPr>
          <a:xfrm>
            <a:off x="594360" y="2011680"/>
            <a:ext cx="1645920" cy="1051560"/>
          </a:xfrm>
          <a:prstGeom prst="roundRect">
            <a:avLst/>
          </a:prstGeom>
          <a:solidFill>
            <a:srgbClr val="FFFFFF"/>
          </a:solidFill>
          <a:ln w="17780">
            <a:solidFill>
              <a:srgbClr val="3060A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2121408"/>
            <a:ext cx="1463040" cy="256032"/>
          </a:xfrm>
          <a:prstGeom prst="rect">
            <a:avLst/>
          </a:prstGeom>
          <a:noFill/>
        </p:spPr>
        <p:txBody>
          <a:bodyPr wrap="square">
            <a:normAutofit/>
          </a:bodyPr>
          <a:lstStyle/>
          <a:p>
            <a:pPr algn="ctr">
              <a:defRPr sz="1100" b="1">
                <a:solidFill>
                  <a:srgbClr val="3060AA"/>
                </a:solidFill>
                <a:latin typeface="Aptos"/>
              </a:defRPr>
            </a:pPr>
            <a:r>
              <a:t>Raw evidence</a:t>
            </a:r>
          </a:p>
        </p:txBody>
      </p:sp>
      <p:sp>
        <p:nvSpPr>
          <p:cNvPr id="10" name="TextBox 9"/>
          <p:cNvSpPr txBox="1"/>
          <p:nvPr/>
        </p:nvSpPr>
        <p:spPr>
          <a:xfrm>
            <a:off x="704088" y="2450592"/>
            <a:ext cx="1426464" cy="548639"/>
          </a:xfrm>
          <a:prstGeom prst="rect">
            <a:avLst/>
          </a:prstGeom>
          <a:noFill/>
        </p:spPr>
        <p:txBody>
          <a:bodyPr wrap="square">
            <a:normAutofit/>
          </a:bodyPr>
          <a:lstStyle/>
          <a:p>
            <a:pPr algn="ctr">
              <a:defRPr sz="850" b="0">
                <a:solidFill>
                  <a:srgbClr val="242D39"/>
                </a:solidFill>
                <a:latin typeface="Aptos"/>
              </a:defRPr>
            </a:pPr>
            <a:r>
              <a:t>aligned multi-user videos + metadata</a:t>
            </a:r>
          </a:p>
        </p:txBody>
      </p:sp>
      <p:cxnSp>
        <p:nvCxnSpPr>
          <p:cNvPr id="11" name="Connector 10"/>
          <p:cNvCxnSpPr/>
          <p:nvPr/>
        </p:nvCxnSpPr>
        <p:spPr>
          <a:xfrm>
            <a:off x="2240280" y="2537460"/>
            <a:ext cx="256032" cy="0"/>
          </a:xfrm>
          <a:prstGeom prst="line">
            <a:avLst/>
          </a:prstGeom>
          <a:ln w="17780">
            <a:solidFill>
              <a:srgbClr val="5E6976"/>
            </a:solidFill>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2496312" y="2011680"/>
            <a:ext cx="1645920" cy="1051560"/>
          </a:xfrm>
          <a:prstGeom prst="roundRect">
            <a:avLst/>
          </a:prstGeom>
          <a:solidFill>
            <a:srgbClr val="FFFFFF"/>
          </a:solidFill>
          <a:ln w="17780">
            <a:solidFill>
              <a:srgbClr val="00808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587752" y="2121408"/>
            <a:ext cx="1463040" cy="256032"/>
          </a:xfrm>
          <a:prstGeom prst="rect">
            <a:avLst/>
          </a:prstGeom>
          <a:noFill/>
        </p:spPr>
        <p:txBody>
          <a:bodyPr wrap="square">
            <a:normAutofit/>
          </a:bodyPr>
          <a:lstStyle/>
          <a:p>
            <a:pPr algn="ctr">
              <a:defRPr sz="1100" b="1">
                <a:solidFill>
                  <a:srgbClr val="008080"/>
                </a:solidFill>
                <a:latin typeface="Aptos"/>
              </a:defRPr>
            </a:pPr>
            <a:r>
              <a:t>Relation planner</a:t>
            </a:r>
          </a:p>
        </p:txBody>
      </p:sp>
      <p:sp>
        <p:nvSpPr>
          <p:cNvPr id="14" name="TextBox 13"/>
          <p:cNvSpPr txBox="1"/>
          <p:nvPr/>
        </p:nvSpPr>
        <p:spPr>
          <a:xfrm>
            <a:off x="2606040" y="2450592"/>
            <a:ext cx="1426464" cy="548639"/>
          </a:xfrm>
          <a:prstGeom prst="rect">
            <a:avLst/>
          </a:prstGeom>
          <a:noFill/>
        </p:spPr>
        <p:txBody>
          <a:bodyPr wrap="square">
            <a:normAutofit/>
          </a:bodyPr>
          <a:lstStyle/>
          <a:p>
            <a:pPr algn="ctr">
              <a:defRPr sz="850" b="0">
                <a:solidFill>
                  <a:srgbClr val="242D39"/>
                </a:solidFill>
                <a:latin typeface="Aptos"/>
              </a:defRPr>
            </a:pPr>
            <a:r>
              <a:t>3-5 information needs -&gt; selected relation</a:t>
            </a:r>
          </a:p>
        </p:txBody>
      </p:sp>
      <p:cxnSp>
        <p:nvCxnSpPr>
          <p:cNvPr id="15" name="Connector 14"/>
          <p:cNvCxnSpPr/>
          <p:nvPr/>
        </p:nvCxnSpPr>
        <p:spPr>
          <a:xfrm>
            <a:off x="4142232" y="2537460"/>
            <a:ext cx="256032" cy="0"/>
          </a:xfrm>
          <a:prstGeom prst="line">
            <a:avLst/>
          </a:prstGeom>
          <a:ln w="17780">
            <a:solidFill>
              <a:srgbClr val="5E6976"/>
            </a:solidFill>
          </a:ln>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4398264" y="2011680"/>
            <a:ext cx="1645920" cy="1051560"/>
          </a:xfrm>
          <a:prstGeom prst="roundRect">
            <a:avLst/>
          </a:prstGeom>
          <a:solidFill>
            <a:srgbClr val="FFFFFF"/>
          </a:solidFill>
          <a:ln w="17780">
            <a:solidFill>
              <a:srgbClr val="CD8B3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489704" y="2121408"/>
            <a:ext cx="1463040" cy="256032"/>
          </a:xfrm>
          <a:prstGeom prst="rect">
            <a:avLst/>
          </a:prstGeom>
          <a:noFill/>
        </p:spPr>
        <p:txBody>
          <a:bodyPr wrap="square">
            <a:normAutofit/>
          </a:bodyPr>
          <a:lstStyle/>
          <a:p>
            <a:pPr algn="ctr">
              <a:defRPr sz="1100" b="1">
                <a:solidFill>
                  <a:srgbClr val="CD8B30"/>
                </a:solidFill>
                <a:latin typeface="Aptos"/>
              </a:defRPr>
            </a:pPr>
            <a:r>
              <a:t>MCQ writer</a:t>
            </a:r>
          </a:p>
        </p:txBody>
      </p:sp>
      <p:sp>
        <p:nvSpPr>
          <p:cNvPr id="18" name="TextBox 17"/>
          <p:cNvSpPr txBox="1"/>
          <p:nvPr/>
        </p:nvSpPr>
        <p:spPr>
          <a:xfrm>
            <a:off x="4507992" y="2450592"/>
            <a:ext cx="1426464" cy="548639"/>
          </a:xfrm>
          <a:prstGeom prst="rect">
            <a:avLst/>
          </a:prstGeom>
          <a:noFill/>
        </p:spPr>
        <p:txBody>
          <a:bodyPr wrap="square">
            <a:normAutofit/>
          </a:bodyPr>
          <a:lstStyle/>
          <a:p>
            <a:pPr algn="ctr">
              <a:defRPr sz="850" b="0">
                <a:solidFill>
                  <a:srgbClr val="242D39"/>
                </a:solidFill>
                <a:latin typeface="Aptos"/>
              </a:defRPr>
            </a:pPr>
            <a:r>
              <a:t>free wording, five plausible options</a:t>
            </a:r>
          </a:p>
        </p:txBody>
      </p:sp>
      <p:cxnSp>
        <p:nvCxnSpPr>
          <p:cNvPr id="19" name="Connector 18"/>
          <p:cNvCxnSpPr/>
          <p:nvPr/>
        </p:nvCxnSpPr>
        <p:spPr>
          <a:xfrm>
            <a:off x="6044184" y="2537460"/>
            <a:ext cx="256032" cy="0"/>
          </a:xfrm>
          <a:prstGeom prst="line">
            <a:avLst/>
          </a:prstGeom>
          <a:ln w="17780">
            <a:solidFill>
              <a:srgbClr val="5E6976"/>
            </a:solidFill>
          </a:ln>
        </p:spPr>
        <p:style>
          <a:lnRef idx="2">
            <a:schemeClr val="accent1"/>
          </a:lnRef>
          <a:fillRef idx="0">
            <a:schemeClr val="accent1"/>
          </a:fillRef>
          <a:effectRef idx="1">
            <a:schemeClr val="accent1"/>
          </a:effectRef>
          <a:fontRef idx="minor">
            <a:schemeClr val="tx1"/>
          </a:fontRef>
        </p:style>
      </p:cxnSp>
      <p:sp>
        <p:nvSpPr>
          <p:cNvPr id="20" name="Rounded Rectangle 19"/>
          <p:cNvSpPr/>
          <p:nvPr/>
        </p:nvSpPr>
        <p:spPr>
          <a:xfrm>
            <a:off x="6300216" y="2011680"/>
            <a:ext cx="1645920" cy="1051560"/>
          </a:xfrm>
          <a:prstGeom prst="roundRect">
            <a:avLst/>
          </a:prstGeom>
          <a:solidFill>
            <a:srgbClr val="FFFFFF"/>
          </a:solidFill>
          <a:ln w="17780">
            <a:solidFill>
              <a:srgbClr val="3060A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391656" y="2121408"/>
            <a:ext cx="1463040" cy="256032"/>
          </a:xfrm>
          <a:prstGeom prst="rect">
            <a:avLst/>
          </a:prstGeom>
          <a:noFill/>
        </p:spPr>
        <p:txBody>
          <a:bodyPr wrap="square">
            <a:normAutofit/>
          </a:bodyPr>
          <a:lstStyle/>
          <a:p>
            <a:pPr algn="ctr">
              <a:defRPr sz="1100" b="1">
                <a:solidFill>
                  <a:srgbClr val="3060AA"/>
                </a:solidFill>
                <a:latin typeface="Aptos"/>
              </a:defRPr>
            </a:pPr>
            <a:r>
              <a:t>Schema normalize</a:t>
            </a:r>
          </a:p>
        </p:txBody>
      </p:sp>
      <p:sp>
        <p:nvSpPr>
          <p:cNvPr id="22" name="TextBox 21"/>
          <p:cNvSpPr txBox="1"/>
          <p:nvPr/>
        </p:nvSpPr>
        <p:spPr>
          <a:xfrm>
            <a:off x="6409944" y="2450592"/>
            <a:ext cx="1426464" cy="548639"/>
          </a:xfrm>
          <a:prstGeom prst="rect">
            <a:avLst/>
          </a:prstGeom>
          <a:noFill/>
        </p:spPr>
        <p:txBody>
          <a:bodyPr wrap="square">
            <a:normAutofit/>
          </a:bodyPr>
          <a:lstStyle/>
          <a:p>
            <a:pPr algn="ctr">
              <a:defRPr sz="850" b="0">
                <a:solidFill>
                  <a:srgbClr val="242D39"/>
                </a:solidFill>
                <a:latin typeface="Aptos"/>
              </a:defRPr>
            </a:pPr>
            <a:r>
              <a:t>required fields + audit traces</a:t>
            </a:r>
          </a:p>
        </p:txBody>
      </p:sp>
      <p:cxnSp>
        <p:nvCxnSpPr>
          <p:cNvPr id="23" name="Connector 22"/>
          <p:cNvCxnSpPr/>
          <p:nvPr/>
        </p:nvCxnSpPr>
        <p:spPr>
          <a:xfrm>
            <a:off x="7946136" y="2537460"/>
            <a:ext cx="256032" cy="0"/>
          </a:xfrm>
          <a:prstGeom prst="line">
            <a:avLst/>
          </a:prstGeom>
          <a:ln w="17780">
            <a:solidFill>
              <a:srgbClr val="5E6976"/>
            </a:solidFill>
          </a:ln>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8202168" y="2011680"/>
            <a:ext cx="1645920" cy="1051560"/>
          </a:xfrm>
          <a:prstGeom prst="roundRect">
            <a:avLst/>
          </a:prstGeom>
          <a:solidFill>
            <a:srgbClr val="FFFFFF"/>
          </a:solidFill>
          <a:ln w="17780">
            <a:solidFill>
              <a:srgbClr val="BE463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293608" y="2121408"/>
            <a:ext cx="1463040" cy="256032"/>
          </a:xfrm>
          <a:prstGeom prst="rect">
            <a:avLst/>
          </a:prstGeom>
          <a:noFill/>
        </p:spPr>
        <p:txBody>
          <a:bodyPr wrap="square">
            <a:normAutofit/>
          </a:bodyPr>
          <a:lstStyle/>
          <a:p>
            <a:pPr algn="ctr">
              <a:defRPr sz="1100" b="1">
                <a:solidFill>
                  <a:srgbClr val="BE463E"/>
                </a:solidFill>
                <a:latin typeface="Aptos"/>
              </a:defRPr>
            </a:pPr>
            <a:r>
              <a:t>Strict reviewer</a:t>
            </a:r>
          </a:p>
        </p:txBody>
      </p:sp>
      <p:sp>
        <p:nvSpPr>
          <p:cNvPr id="26" name="TextBox 25"/>
          <p:cNvSpPr txBox="1"/>
          <p:nvPr/>
        </p:nvSpPr>
        <p:spPr>
          <a:xfrm>
            <a:off x="8311896" y="2450592"/>
            <a:ext cx="1426464" cy="548639"/>
          </a:xfrm>
          <a:prstGeom prst="rect">
            <a:avLst/>
          </a:prstGeom>
          <a:noFill/>
        </p:spPr>
        <p:txBody>
          <a:bodyPr wrap="square">
            <a:normAutofit/>
          </a:bodyPr>
          <a:lstStyle/>
          <a:p>
            <a:pPr algn="ctr">
              <a:defRPr sz="850" b="0">
                <a:solidFill>
                  <a:srgbClr val="242D39"/>
                </a:solidFill>
                <a:latin typeface="Aptos"/>
              </a:defRPr>
            </a:pPr>
            <a:r>
              <a:t>9 structured visual checks</a:t>
            </a:r>
          </a:p>
        </p:txBody>
      </p:sp>
      <p:cxnSp>
        <p:nvCxnSpPr>
          <p:cNvPr id="27" name="Connector 26"/>
          <p:cNvCxnSpPr/>
          <p:nvPr/>
        </p:nvCxnSpPr>
        <p:spPr>
          <a:xfrm>
            <a:off x="9848088" y="2537460"/>
            <a:ext cx="256032" cy="0"/>
          </a:xfrm>
          <a:prstGeom prst="line">
            <a:avLst/>
          </a:prstGeom>
          <a:ln w="17780">
            <a:solidFill>
              <a:srgbClr val="5E6976"/>
            </a:solidFill>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10104120" y="2011680"/>
            <a:ext cx="1645920" cy="1051560"/>
          </a:xfrm>
          <a:prstGeom prst="roundRect">
            <a:avLst/>
          </a:prstGeom>
          <a:solidFill>
            <a:srgbClr val="FFFFFF"/>
          </a:solidFill>
          <a:ln w="17780">
            <a:solidFill>
              <a:srgbClr val="2A915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0195560" y="2121408"/>
            <a:ext cx="1463040" cy="256032"/>
          </a:xfrm>
          <a:prstGeom prst="rect">
            <a:avLst/>
          </a:prstGeom>
          <a:noFill/>
        </p:spPr>
        <p:txBody>
          <a:bodyPr wrap="square">
            <a:normAutofit/>
          </a:bodyPr>
          <a:lstStyle/>
          <a:p>
            <a:pPr algn="ctr">
              <a:defRPr sz="1100" b="1">
                <a:solidFill>
                  <a:srgbClr val="2A915C"/>
                </a:solidFill>
                <a:latin typeface="Aptos"/>
              </a:defRPr>
            </a:pPr>
            <a:r>
              <a:t>Answerability</a:t>
            </a:r>
          </a:p>
        </p:txBody>
      </p:sp>
      <p:sp>
        <p:nvSpPr>
          <p:cNvPr id="30" name="TextBox 29"/>
          <p:cNvSpPr txBox="1"/>
          <p:nvPr/>
        </p:nvSpPr>
        <p:spPr>
          <a:xfrm>
            <a:off x="10213848" y="2450592"/>
            <a:ext cx="1426464" cy="548639"/>
          </a:xfrm>
          <a:prstGeom prst="rect">
            <a:avLst/>
          </a:prstGeom>
          <a:noFill/>
        </p:spPr>
        <p:txBody>
          <a:bodyPr wrap="square">
            <a:normAutofit/>
          </a:bodyPr>
          <a:lstStyle/>
          <a:p>
            <a:pPr algn="ctr">
              <a:defRPr sz="850" b="0">
                <a:solidFill>
                  <a:srgbClr val="242D39"/>
                </a:solidFill>
                <a:latin typeface="Aptos"/>
              </a:defRPr>
            </a:pPr>
            <a:r>
              <a:t>single-user tests + combined-user test</a:t>
            </a:r>
          </a:p>
        </p:txBody>
      </p:sp>
      <p:sp>
        <p:nvSpPr>
          <p:cNvPr id="31" name="Rounded Rectangle 30"/>
          <p:cNvSpPr/>
          <p:nvPr/>
        </p:nvSpPr>
        <p:spPr>
          <a:xfrm>
            <a:off x="914400" y="3977639"/>
            <a:ext cx="4754880" cy="1234440"/>
          </a:xfrm>
          <a:prstGeom prst="roundRect">
            <a:avLst/>
          </a:prstGeom>
          <a:solidFill>
            <a:srgbClr val="FFFFFF"/>
          </a:solidFill>
          <a:ln w="12700">
            <a:solidFill>
              <a:srgbClr val="D6DE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914400" y="3977639"/>
            <a:ext cx="73152" cy="1234440"/>
          </a:xfrm>
          <a:prstGeom prst="rect">
            <a:avLst/>
          </a:prstGeom>
          <a:solidFill>
            <a:srgbClr val="CD8B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1115568" y="4123944"/>
            <a:ext cx="4434840" cy="320040"/>
          </a:xfrm>
          <a:prstGeom prst="rect">
            <a:avLst/>
          </a:prstGeom>
          <a:noFill/>
        </p:spPr>
        <p:txBody>
          <a:bodyPr wrap="square">
            <a:normAutofit/>
          </a:bodyPr>
          <a:lstStyle/>
          <a:p>
            <a:pPr algn="l">
              <a:defRPr sz="1300" b="1">
                <a:solidFill>
                  <a:srgbClr val="182334"/>
                </a:solidFill>
                <a:latin typeface="Aptos"/>
              </a:defRPr>
            </a:pPr>
            <a:r>
              <a:t>Retry loop</a:t>
            </a:r>
          </a:p>
        </p:txBody>
      </p:sp>
      <p:sp>
        <p:nvSpPr>
          <p:cNvPr id="34" name="TextBox 33"/>
          <p:cNvSpPr txBox="1"/>
          <p:nvPr/>
        </p:nvSpPr>
        <p:spPr>
          <a:xfrm>
            <a:off x="1115568" y="4498848"/>
            <a:ext cx="4434840" cy="576072"/>
          </a:xfrm>
          <a:prstGeom prst="rect">
            <a:avLst/>
          </a:prstGeom>
          <a:noFill/>
        </p:spPr>
        <p:txBody>
          <a:bodyPr wrap="square">
            <a:normAutofit/>
          </a:bodyPr>
          <a:lstStyle/>
          <a:p>
            <a:pPr algn="l">
              <a:defRPr sz="1150" b="0">
                <a:solidFill>
                  <a:srgbClr val="242D39"/>
                </a:solidFill>
                <a:latin typeface="Aptos"/>
              </a:defRPr>
            </a:pPr>
            <a:r>
              <a:t>Any failure becomes feedback for the next attempt. Feedback can come from invalid JSON, schema errors, reviewer rejection, answerability failure, or strict validation.</a:t>
            </a:r>
          </a:p>
        </p:txBody>
      </p:sp>
      <p:sp>
        <p:nvSpPr>
          <p:cNvPr id="35" name="Rounded Rectangle 34"/>
          <p:cNvSpPr/>
          <p:nvPr/>
        </p:nvSpPr>
        <p:spPr>
          <a:xfrm>
            <a:off x="6446520" y="3977639"/>
            <a:ext cx="4754880" cy="1234440"/>
          </a:xfrm>
          <a:prstGeom prst="roundRect">
            <a:avLst/>
          </a:prstGeom>
          <a:solidFill>
            <a:srgbClr val="FFFFFF"/>
          </a:solidFill>
          <a:ln w="12700">
            <a:solidFill>
              <a:srgbClr val="D6DE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6446520" y="3977639"/>
            <a:ext cx="73152" cy="1234440"/>
          </a:xfrm>
          <a:prstGeom prst="rect">
            <a:avLst/>
          </a:prstGeom>
          <a:solidFill>
            <a:srgbClr val="0080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6647688" y="4123944"/>
            <a:ext cx="4434840" cy="320040"/>
          </a:xfrm>
          <a:prstGeom prst="rect">
            <a:avLst/>
          </a:prstGeom>
          <a:noFill/>
        </p:spPr>
        <p:txBody>
          <a:bodyPr wrap="square">
            <a:normAutofit/>
          </a:bodyPr>
          <a:lstStyle/>
          <a:p>
            <a:pPr algn="l">
              <a:defRPr sz="1300" b="1">
                <a:solidFill>
                  <a:srgbClr val="182334"/>
                </a:solidFill>
                <a:latin typeface="Aptos"/>
              </a:defRPr>
            </a:pPr>
            <a:r>
              <a:t>Outputs</a:t>
            </a:r>
          </a:p>
        </p:txBody>
      </p:sp>
      <p:sp>
        <p:nvSpPr>
          <p:cNvPr id="38" name="TextBox 37"/>
          <p:cNvSpPr txBox="1"/>
          <p:nvPr/>
        </p:nvSpPr>
        <p:spPr>
          <a:xfrm>
            <a:off x="6647688" y="4498848"/>
            <a:ext cx="4434840" cy="576072"/>
          </a:xfrm>
          <a:prstGeom prst="rect">
            <a:avLst/>
          </a:prstGeom>
          <a:noFill/>
        </p:spPr>
        <p:txBody>
          <a:bodyPr wrap="square">
            <a:normAutofit/>
          </a:bodyPr>
          <a:lstStyle/>
          <a:p>
            <a:pPr algn="l">
              <a:defRPr sz="1150" b="0">
                <a:solidFill>
                  <a:srgbClr val="242D39"/>
                </a:solidFill>
                <a:latin typeface="Aptos"/>
              </a:defRPr>
            </a:pPr>
            <a:r>
              <a:t>Accepted QAs go to JSONL with generation_trace, human_audit, source URLs, review details, and answerability evaluations. Rejected packets keep attempt traces for debugging.</a:t>
            </a:r>
          </a:p>
        </p:txBody>
      </p:sp>
      <p:sp>
        <p:nvSpPr>
          <p:cNvPr id="39" name="TextBox 38"/>
          <p:cNvSpPr txBox="1"/>
          <p:nvPr/>
        </p:nvSpPr>
        <p:spPr>
          <a:xfrm>
            <a:off x="914400" y="5532120"/>
            <a:ext cx="10287000" cy="320040"/>
          </a:xfrm>
          <a:prstGeom prst="rect">
            <a:avLst/>
          </a:prstGeom>
          <a:noFill/>
        </p:spPr>
        <p:txBody>
          <a:bodyPr wrap="square">
            <a:normAutofit/>
          </a:bodyPr>
          <a:lstStyle/>
          <a:p>
            <a:pPr algn="ctr">
              <a:defRPr sz="1250" b="1">
                <a:solidFill>
                  <a:srgbClr val="5E6976"/>
                </a:solidFill>
                <a:latin typeface="Aptos"/>
              </a:defRPr>
            </a:pPr>
            <a:r>
              <a:t>Default retry budget in the loop: up to 3 attempts per evidence packet.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7F9FC"/>
        </a:solidFill>
        <a:effectLst/>
      </p:bgPr>
    </p:bg>
    <p:spTree>
      <p:nvGrpSpPr>
        <p:cNvPr id="1" name=""/>
        <p:cNvGrpSpPr/>
        <p:nvPr/>
      </p:nvGrpSpPr>
      <p:grpSpPr/>
      <p:sp>
        <p:nvSpPr>
          <p:cNvPr id="2" name="Rectangle 1"/>
          <p:cNvSpPr/>
          <p:nvPr/>
        </p:nvSpPr>
        <p:spPr>
          <a:xfrm>
            <a:off x="475488" y="256032"/>
            <a:ext cx="91440" cy="228600"/>
          </a:xfrm>
          <a:prstGeom prst="rect">
            <a:avLst/>
          </a:prstGeom>
          <a:solidFill>
            <a:srgbClr val="0080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37744"/>
            <a:ext cx="4389120" cy="274320"/>
          </a:xfrm>
          <a:prstGeom prst="rect">
            <a:avLst/>
          </a:prstGeom>
          <a:noFill/>
        </p:spPr>
        <p:txBody>
          <a:bodyPr wrap="none">
            <a:spAutoFit/>
          </a:bodyPr>
          <a:lstStyle/>
          <a:p>
            <a:pPr>
              <a:defRPr sz="850" b="1">
                <a:solidFill>
                  <a:srgbClr val="008080"/>
                </a:solidFill>
                <a:latin typeface="Aptos"/>
              </a:defRPr>
            </a:pPr>
            <a:r>
              <a:t>DISCOVERY-FIRST PIPELINE</a:t>
            </a:r>
          </a:p>
        </p:txBody>
      </p:sp>
      <p:sp>
        <p:nvSpPr>
          <p:cNvPr id="4" name="TextBox 3"/>
          <p:cNvSpPr txBox="1"/>
          <p:nvPr/>
        </p:nvSpPr>
        <p:spPr>
          <a:xfrm>
            <a:off x="475488" y="603504"/>
            <a:ext cx="11155680" cy="621792"/>
          </a:xfrm>
          <a:prstGeom prst="rect">
            <a:avLst/>
          </a:prstGeom>
          <a:noFill/>
        </p:spPr>
        <p:txBody>
          <a:bodyPr wrap="square">
            <a:spAutoFit/>
          </a:bodyPr>
          <a:lstStyle/>
          <a:p>
            <a:pPr>
              <a:defRPr sz="2800" b="1">
                <a:solidFill>
                  <a:srgbClr val="182334"/>
                </a:solidFill>
                <a:latin typeface="Aptos Display"/>
              </a:defRPr>
            </a:pPr>
            <a:r>
              <a:t>Step 1: discover the relation before writing the question</a:t>
            </a:r>
          </a:p>
        </p:txBody>
      </p:sp>
      <p:sp>
        <p:nvSpPr>
          <p:cNvPr id="5" name="TextBox 4"/>
          <p:cNvSpPr txBox="1"/>
          <p:nvPr/>
        </p:nvSpPr>
        <p:spPr>
          <a:xfrm>
            <a:off x="493776" y="1234440"/>
            <a:ext cx="10789920" cy="457200"/>
          </a:xfrm>
          <a:prstGeom prst="rect">
            <a:avLst/>
          </a:prstGeom>
          <a:noFill/>
        </p:spPr>
        <p:txBody>
          <a:bodyPr wrap="square">
            <a:spAutoFit/>
          </a:bodyPr>
          <a:lstStyle/>
          <a:p>
            <a:pPr>
              <a:defRPr sz="1300">
                <a:solidFill>
                  <a:srgbClr val="5E6976"/>
                </a:solidFill>
                <a:latin typeface="Aptos"/>
              </a:defRPr>
            </a:pPr>
            <a:r>
              <a:t>The planner is asked to inspect the situation and propose cross-user information needs, not to fill a question pattern.</a:t>
            </a:r>
          </a:p>
        </p:txBody>
      </p:sp>
      <p:sp>
        <p:nvSpPr>
          <p:cNvPr id="6" name="TextBox 5"/>
          <p:cNvSpPr txBox="1"/>
          <p:nvPr/>
        </p:nvSpPr>
        <p:spPr>
          <a:xfrm>
            <a:off x="438912" y="6446520"/>
            <a:ext cx="9875520" cy="201168"/>
          </a:xfrm>
          <a:prstGeom prst="rect">
            <a:avLst/>
          </a:prstGeom>
          <a:noFill/>
        </p:spPr>
        <p:txBody>
          <a:bodyPr wrap="none">
            <a:spAutoFit/>
          </a:bodyPr>
          <a:lstStyle/>
          <a:p>
            <a:pPr>
              <a:defRPr sz="750">
                <a:solidFill>
                  <a:srgbClr val="5E6976"/>
                </a:solidFill>
                <a:latin typeface="Aptos"/>
              </a:defRPr>
            </a:pPr>
            <a:r>
              <a:t>Source: build_relation_discovery_prompt in prompts.py</a:t>
            </a:r>
          </a:p>
        </p:txBody>
      </p:sp>
      <p:sp>
        <p:nvSpPr>
          <p:cNvPr id="7" name="TextBox 6"/>
          <p:cNvSpPr txBox="1"/>
          <p:nvPr/>
        </p:nvSpPr>
        <p:spPr>
          <a:xfrm>
            <a:off x="11292840" y="6446520"/>
            <a:ext cx="457200" cy="201168"/>
          </a:xfrm>
          <a:prstGeom prst="rect">
            <a:avLst/>
          </a:prstGeom>
          <a:noFill/>
        </p:spPr>
        <p:txBody>
          <a:bodyPr wrap="none">
            <a:spAutoFit/>
          </a:bodyPr>
          <a:lstStyle/>
          <a:p>
            <a:pPr algn="r">
              <a:defRPr sz="750">
                <a:solidFill>
                  <a:srgbClr val="5E6976"/>
                </a:solidFill>
                <a:latin typeface="Aptos"/>
              </a:defRPr>
            </a:pPr>
            <a:r>
              <a:t>4</a:t>
            </a:r>
          </a:p>
        </p:txBody>
      </p:sp>
      <p:sp>
        <p:nvSpPr>
          <p:cNvPr id="8" name="Rounded Rectangle 7"/>
          <p:cNvSpPr/>
          <p:nvPr/>
        </p:nvSpPr>
        <p:spPr>
          <a:xfrm>
            <a:off x="685800" y="1874519"/>
            <a:ext cx="5212080" cy="1600200"/>
          </a:xfrm>
          <a:prstGeom prst="roundRect">
            <a:avLst/>
          </a:prstGeom>
          <a:solidFill>
            <a:srgbClr val="FFFFFF"/>
          </a:solidFill>
          <a:ln w="12700">
            <a:solidFill>
              <a:srgbClr val="D6DE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85800" y="1874519"/>
            <a:ext cx="73152" cy="1600200"/>
          </a:xfrm>
          <a:prstGeom prst="rect">
            <a:avLst/>
          </a:prstGeom>
          <a:solidFill>
            <a:srgbClr val="3060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86968" y="2020824"/>
            <a:ext cx="4892040" cy="320040"/>
          </a:xfrm>
          <a:prstGeom prst="rect">
            <a:avLst/>
          </a:prstGeom>
          <a:noFill/>
        </p:spPr>
        <p:txBody>
          <a:bodyPr wrap="square">
            <a:normAutofit/>
          </a:bodyPr>
          <a:lstStyle/>
          <a:p>
            <a:pPr algn="l">
              <a:defRPr sz="1300" b="1">
                <a:solidFill>
                  <a:srgbClr val="182334"/>
                </a:solidFill>
                <a:latin typeface="Aptos"/>
              </a:defRPr>
            </a:pPr>
            <a:r>
              <a:t>Planner asks for 3-5 needs</a:t>
            </a:r>
          </a:p>
        </p:txBody>
      </p:sp>
      <p:sp>
        <p:nvSpPr>
          <p:cNvPr id="11" name="TextBox 10"/>
          <p:cNvSpPr txBox="1"/>
          <p:nvPr/>
        </p:nvSpPr>
        <p:spPr>
          <a:xfrm>
            <a:off x="886968" y="2395727"/>
            <a:ext cx="4892040" cy="941832"/>
          </a:xfrm>
          <a:prstGeom prst="rect">
            <a:avLst/>
          </a:prstGeom>
          <a:noFill/>
        </p:spPr>
        <p:txBody>
          <a:bodyPr wrap="square">
            <a:normAutofit/>
          </a:bodyPr>
          <a:lstStyle/>
          <a:p>
            <a:pPr algn="l">
              <a:defRPr sz="1150" b="0">
                <a:solidFill>
                  <a:srgbClr val="242D39"/>
                </a:solidFill>
                <a:latin typeface="Aptos"/>
              </a:defRPr>
            </a:pPr>
            <a:r>
              <a:t>For each candidate: speaker-side visual anchor, other user visual facts, what only becomes clear when combined, why someone would naturally ask, and whether one view may already answer it.</a:t>
            </a:r>
          </a:p>
        </p:txBody>
      </p:sp>
      <p:sp>
        <p:nvSpPr>
          <p:cNvPr id="12" name="Rounded Rectangle 11"/>
          <p:cNvSpPr/>
          <p:nvPr/>
        </p:nvSpPr>
        <p:spPr>
          <a:xfrm>
            <a:off x="6309360" y="1874519"/>
            <a:ext cx="5212080" cy="1600200"/>
          </a:xfrm>
          <a:prstGeom prst="roundRect">
            <a:avLst/>
          </a:prstGeom>
          <a:solidFill>
            <a:srgbClr val="FFFFFF"/>
          </a:solidFill>
          <a:ln w="12700">
            <a:solidFill>
              <a:srgbClr val="D6DE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309360" y="1874519"/>
            <a:ext cx="73152" cy="1600200"/>
          </a:xfrm>
          <a:prstGeom prst="rect">
            <a:avLst/>
          </a:prstGeom>
          <a:solidFill>
            <a:srgbClr val="0080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510528" y="2020824"/>
            <a:ext cx="4892040" cy="320040"/>
          </a:xfrm>
          <a:prstGeom prst="rect">
            <a:avLst/>
          </a:prstGeom>
          <a:noFill/>
        </p:spPr>
        <p:txBody>
          <a:bodyPr wrap="square">
            <a:normAutofit/>
          </a:bodyPr>
          <a:lstStyle/>
          <a:p>
            <a:pPr algn="l">
              <a:defRPr sz="1300" b="1">
                <a:solidFill>
                  <a:srgbClr val="182334"/>
                </a:solidFill>
                <a:latin typeface="Aptos"/>
              </a:defRPr>
            </a:pPr>
            <a:r>
              <a:t>Selection criterion</a:t>
            </a:r>
          </a:p>
        </p:txBody>
      </p:sp>
      <p:sp>
        <p:nvSpPr>
          <p:cNvPr id="15" name="TextBox 14"/>
          <p:cNvSpPr txBox="1"/>
          <p:nvPr/>
        </p:nvSpPr>
        <p:spPr>
          <a:xfrm>
            <a:off x="6510528" y="2395727"/>
            <a:ext cx="4892040" cy="941832"/>
          </a:xfrm>
          <a:prstGeom prst="rect">
            <a:avLst/>
          </a:prstGeom>
          <a:noFill/>
        </p:spPr>
        <p:txBody>
          <a:bodyPr wrap="square">
            <a:normAutofit/>
          </a:bodyPr>
          <a:lstStyle/>
          <a:p>
            <a:pPr algn="l">
              <a:defRPr sz="1150" b="0">
                <a:solidFill>
                  <a:srgbClr val="242D39"/>
                </a:solidFill>
                <a:latin typeface="Aptos"/>
              </a:defRPr>
            </a:pPr>
            <a:r>
              <a:t>Choose exactly one relation that is natural, visually grounded, and least likely to be answerable from one user alone.</a:t>
            </a:r>
          </a:p>
        </p:txBody>
      </p:sp>
      <p:sp>
        <p:nvSpPr>
          <p:cNvPr id="16" name="TextBox 15"/>
          <p:cNvSpPr txBox="1"/>
          <p:nvPr/>
        </p:nvSpPr>
        <p:spPr>
          <a:xfrm>
            <a:off x="822960" y="3950208"/>
            <a:ext cx="2743200" cy="274320"/>
          </a:xfrm>
          <a:prstGeom prst="rect">
            <a:avLst/>
          </a:prstGeom>
          <a:noFill/>
        </p:spPr>
        <p:txBody>
          <a:bodyPr wrap="square">
            <a:normAutofit/>
          </a:bodyPr>
          <a:lstStyle/>
          <a:p>
            <a:pPr algn="l">
              <a:defRPr sz="1500" b="1">
                <a:solidFill>
                  <a:srgbClr val="182334"/>
                </a:solidFill>
                <a:latin typeface="Aptos"/>
              </a:defRPr>
            </a:pPr>
            <a:r>
              <a:t>Why this matters</a:t>
            </a:r>
          </a:p>
        </p:txBody>
      </p:sp>
      <p:sp>
        <p:nvSpPr>
          <p:cNvPr id="17" name="TextBox 16"/>
          <p:cNvSpPr txBox="1"/>
          <p:nvPr/>
        </p:nvSpPr>
        <p:spPr>
          <a:xfrm>
            <a:off x="868680" y="4343400"/>
            <a:ext cx="10424160" cy="1234440"/>
          </a:xfrm>
          <a:prstGeom prst="rect">
            <a:avLst/>
          </a:prstGeom>
          <a:noFill/>
        </p:spPr>
        <p:txBody>
          <a:bodyPr wrap="square">
            <a:normAutofit/>
          </a:bodyPr>
          <a:lstStyle/>
          <a:p>
            <a:pPr>
              <a:lnSpc>
                <a:spcPct val="100000"/>
              </a:lnSpc>
              <a:spcAft>
                <a:spcPts val="700"/>
              </a:spcAft>
              <a:defRPr sz="1300">
                <a:solidFill>
                  <a:srgbClr val="242D39"/>
                </a:solidFill>
                <a:latin typeface="Aptos"/>
              </a:defRPr>
            </a:pPr>
            <a:r>
              <a:t>It shifts generation from surface-level wording to an explicit dependency claim.</a:t>
            </a:r>
          </a:p>
          <a:p>
            <a:pPr>
              <a:lnSpc>
                <a:spcPct val="100000"/>
              </a:lnSpc>
              <a:spcAft>
                <a:spcPts val="700"/>
              </a:spcAft>
              <a:defRPr sz="1300">
                <a:solidFill>
                  <a:srgbClr val="242D39"/>
                </a:solidFill>
                <a:latin typeface="Aptos"/>
              </a:defRPr>
            </a:pPr>
            <a:r>
              <a:t>It exposes the intended speaker, supporting users, missing detail, and combined-only relation before the MCQ exists.</a:t>
            </a:r>
          </a:p>
          <a:p>
            <a:pPr>
              <a:lnSpc>
                <a:spcPct val="100000"/>
              </a:lnSpc>
              <a:spcAft>
                <a:spcPts val="700"/>
              </a:spcAft>
              <a:defRPr sz="1300">
                <a:solidFill>
                  <a:srgbClr val="242D39"/>
                </a:solidFill>
                <a:latin typeface="Aptos"/>
              </a:defRPr>
            </a:pPr>
            <a:r>
              <a:t>It gives reviewer/evaluator feedback a place to act: repair the relation, not just the final wording.</a:t>
            </a:r>
          </a:p>
        </p:txBody>
      </p:sp>
      <p:sp>
        <p:nvSpPr>
          <p:cNvPr id="18" name="Rounded Rectangle 17"/>
          <p:cNvSpPr/>
          <p:nvPr/>
        </p:nvSpPr>
        <p:spPr>
          <a:xfrm>
            <a:off x="868680" y="5715000"/>
            <a:ext cx="1234440" cy="310896"/>
          </a:xfrm>
          <a:prstGeom prst="roundRect">
            <a:avLst/>
          </a:prstGeom>
          <a:solidFill>
            <a:srgbClr val="EEF3FA"/>
          </a:solidFill>
          <a:ln>
            <a:solidFill>
              <a:srgbClr val="CC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23544" y="5774436"/>
            <a:ext cx="1124712" cy="182880"/>
          </a:xfrm>
          <a:prstGeom prst="rect">
            <a:avLst/>
          </a:prstGeom>
          <a:noFill/>
        </p:spPr>
        <p:txBody>
          <a:bodyPr wrap="none">
            <a:spAutoFit/>
          </a:bodyPr>
          <a:lstStyle/>
          <a:p>
            <a:pPr algn="ctr">
              <a:defRPr sz="850" b="1">
                <a:solidFill>
                  <a:srgbClr val="3060AA"/>
                </a:solidFill>
                <a:latin typeface="Aptos"/>
              </a:defRPr>
            </a:pPr>
            <a:r>
              <a:t>raw videos only</a:t>
            </a:r>
          </a:p>
        </p:txBody>
      </p:sp>
      <p:sp>
        <p:nvSpPr>
          <p:cNvPr id="20" name="Rounded Rectangle 19"/>
          <p:cNvSpPr/>
          <p:nvPr/>
        </p:nvSpPr>
        <p:spPr>
          <a:xfrm>
            <a:off x="2240280" y="5715000"/>
            <a:ext cx="1005840" cy="310896"/>
          </a:xfrm>
          <a:prstGeom prst="roundRect">
            <a:avLst/>
          </a:prstGeom>
          <a:solidFill>
            <a:srgbClr val="EEF3FA"/>
          </a:solidFill>
          <a:ln>
            <a:solidFill>
              <a:srgbClr val="CC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2295144" y="5774436"/>
            <a:ext cx="896112" cy="182880"/>
          </a:xfrm>
          <a:prstGeom prst="rect">
            <a:avLst/>
          </a:prstGeom>
          <a:noFill/>
        </p:spPr>
        <p:txBody>
          <a:bodyPr wrap="none">
            <a:spAutoFit/>
          </a:bodyPr>
          <a:lstStyle/>
          <a:p>
            <a:pPr algn="ctr">
              <a:defRPr sz="850" b="1">
                <a:solidFill>
                  <a:srgbClr val="3060AA"/>
                </a:solidFill>
                <a:latin typeface="Aptos"/>
              </a:defRPr>
            </a:pPr>
            <a:r>
              <a:t>no captions</a:t>
            </a:r>
          </a:p>
        </p:txBody>
      </p:sp>
      <p:sp>
        <p:nvSpPr>
          <p:cNvPr id="22" name="Rounded Rectangle 21"/>
          <p:cNvSpPr/>
          <p:nvPr/>
        </p:nvSpPr>
        <p:spPr>
          <a:xfrm>
            <a:off x="3383280" y="5715000"/>
            <a:ext cx="1572768" cy="310896"/>
          </a:xfrm>
          <a:prstGeom prst="roundRect">
            <a:avLst/>
          </a:prstGeom>
          <a:solidFill>
            <a:srgbClr val="EEF3FA"/>
          </a:solidFill>
          <a:ln>
            <a:solidFill>
              <a:srgbClr val="CC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3438144" y="5774436"/>
            <a:ext cx="1463040" cy="182880"/>
          </a:xfrm>
          <a:prstGeom prst="rect">
            <a:avLst/>
          </a:prstGeom>
          <a:noFill/>
        </p:spPr>
        <p:txBody>
          <a:bodyPr wrap="none">
            <a:spAutoFit/>
          </a:bodyPr>
          <a:lstStyle/>
          <a:p>
            <a:pPr algn="ctr">
              <a:defRPr sz="850" b="1">
                <a:solidFill>
                  <a:srgbClr val="3060AA"/>
                </a:solidFill>
                <a:latin typeface="Aptos"/>
              </a:defRPr>
            </a:pPr>
            <a:r>
              <a:t>no outside knowledge</a:t>
            </a:r>
          </a:p>
        </p:txBody>
      </p:sp>
      <p:sp>
        <p:nvSpPr>
          <p:cNvPr id="24" name="Rounded Rectangle 23"/>
          <p:cNvSpPr/>
          <p:nvPr/>
        </p:nvSpPr>
        <p:spPr>
          <a:xfrm>
            <a:off x="5102352" y="5715000"/>
            <a:ext cx="1554480" cy="310896"/>
          </a:xfrm>
          <a:prstGeom prst="roundRect">
            <a:avLst/>
          </a:prstGeom>
          <a:solidFill>
            <a:srgbClr val="EEF3FA"/>
          </a:solidFill>
          <a:ln>
            <a:solidFill>
              <a:srgbClr val="CC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157216" y="5774436"/>
            <a:ext cx="1444752" cy="182880"/>
          </a:xfrm>
          <a:prstGeom prst="rect">
            <a:avLst/>
          </a:prstGeom>
          <a:noFill/>
        </p:spPr>
        <p:txBody>
          <a:bodyPr wrap="none">
            <a:spAutoFit/>
          </a:bodyPr>
          <a:lstStyle/>
          <a:p>
            <a:pPr algn="ctr">
              <a:defRPr sz="850" b="1">
                <a:solidFill>
                  <a:srgbClr val="3060AA"/>
                </a:solidFill>
                <a:latin typeface="Aptos"/>
              </a:defRPr>
            </a:pPr>
            <a:r>
              <a:t>template-free wording</a:t>
            </a:r>
          </a:p>
        </p:txBody>
      </p:sp>
      <p:sp>
        <p:nvSpPr>
          <p:cNvPr id="26" name="Rounded Rectangle 25"/>
          <p:cNvSpPr/>
          <p:nvPr/>
        </p:nvSpPr>
        <p:spPr>
          <a:xfrm>
            <a:off x="6812280" y="5715000"/>
            <a:ext cx="1874519" cy="310896"/>
          </a:xfrm>
          <a:prstGeom prst="roundRect">
            <a:avLst/>
          </a:prstGeom>
          <a:solidFill>
            <a:srgbClr val="EEF3FA"/>
          </a:solidFill>
          <a:ln>
            <a:solidFill>
              <a:srgbClr val="CC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867144" y="5774436"/>
            <a:ext cx="1764791" cy="182880"/>
          </a:xfrm>
          <a:prstGeom prst="rect">
            <a:avLst/>
          </a:prstGeom>
          <a:noFill/>
        </p:spPr>
        <p:txBody>
          <a:bodyPr wrap="none">
            <a:spAutoFit/>
          </a:bodyPr>
          <a:lstStyle/>
          <a:p>
            <a:pPr algn="ctr">
              <a:defRPr sz="850" b="1">
                <a:solidFill>
                  <a:srgbClr val="3060AA"/>
                </a:solidFill>
                <a:latin typeface="Aptos"/>
              </a:defRPr>
            </a:pPr>
            <a:r>
              <a:t>single-view risk called out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7F9FC"/>
        </a:solidFill>
        <a:effectLst/>
      </p:bgPr>
    </p:bg>
    <p:spTree>
      <p:nvGrpSpPr>
        <p:cNvPr id="1" name=""/>
        <p:cNvGrpSpPr/>
        <p:nvPr/>
      </p:nvGrpSpPr>
      <p:grpSpPr/>
      <p:sp>
        <p:nvSpPr>
          <p:cNvPr id="2" name="Rectangle 1"/>
          <p:cNvSpPr/>
          <p:nvPr/>
        </p:nvSpPr>
        <p:spPr>
          <a:xfrm>
            <a:off x="475488" y="256032"/>
            <a:ext cx="91440" cy="228600"/>
          </a:xfrm>
          <a:prstGeom prst="rect">
            <a:avLst/>
          </a:prstGeom>
          <a:solidFill>
            <a:srgbClr val="0080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37744"/>
            <a:ext cx="4389120" cy="274320"/>
          </a:xfrm>
          <a:prstGeom prst="rect">
            <a:avLst/>
          </a:prstGeom>
          <a:noFill/>
        </p:spPr>
        <p:txBody>
          <a:bodyPr wrap="none">
            <a:spAutoFit/>
          </a:bodyPr>
          <a:lstStyle/>
          <a:p>
            <a:pPr>
              <a:defRPr sz="850" b="1">
                <a:solidFill>
                  <a:srgbClr val="008080"/>
                </a:solidFill>
                <a:latin typeface="Aptos"/>
              </a:defRPr>
            </a:pPr>
            <a:r>
              <a:t>DISCOVERY-FIRST PIPELINE</a:t>
            </a:r>
          </a:p>
        </p:txBody>
      </p:sp>
      <p:sp>
        <p:nvSpPr>
          <p:cNvPr id="4" name="TextBox 3"/>
          <p:cNvSpPr txBox="1"/>
          <p:nvPr/>
        </p:nvSpPr>
        <p:spPr>
          <a:xfrm>
            <a:off x="475488" y="603504"/>
            <a:ext cx="11155680" cy="621792"/>
          </a:xfrm>
          <a:prstGeom prst="rect">
            <a:avLst/>
          </a:prstGeom>
          <a:noFill/>
        </p:spPr>
        <p:txBody>
          <a:bodyPr wrap="square">
            <a:spAutoFit/>
          </a:bodyPr>
          <a:lstStyle/>
          <a:p>
            <a:pPr>
              <a:defRPr sz="2800" b="1">
                <a:solidFill>
                  <a:srgbClr val="182334"/>
                </a:solidFill>
                <a:latin typeface="Aptos Display"/>
              </a:defRPr>
            </a:pPr>
            <a:r>
              <a:t>Step 2: turn the selected relation into one MCQ</a:t>
            </a:r>
          </a:p>
        </p:txBody>
      </p:sp>
      <p:sp>
        <p:nvSpPr>
          <p:cNvPr id="5" name="TextBox 4"/>
          <p:cNvSpPr txBox="1"/>
          <p:nvPr/>
        </p:nvSpPr>
        <p:spPr>
          <a:xfrm>
            <a:off x="493776" y="1234440"/>
            <a:ext cx="10789920" cy="457200"/>
          </a:xfrm>
          <a:prstGeom prst="rect">
            <a:avLst/>
          </a:prstGeom>
          <a:noFill/>
        </p:spPr>
        <p:txBody>
          <a:bodyPr wrap="square">
            <a:spAutoFit/>
          </a:bodyPr>
          <a:lstStyle/>
          <a:p>
            <a:pPr>
              <a:defRPr sz="1300">
                <a:solidFill>
                  <a:srgbClr val="5E6976"/>
                </a:solidFill>
                <a:latin typeface="Aptos"/>
              </a:defRPr>
            </a:pPr>
            <a:r>
              <a:t>The generator can choose wording freely, but the acceptance contract is narrow.</a:t>
            </a:r>
          </a:p>
        </p:txBody>
      </p:sp>
      <p:sp>
        <p:nvSpPr>
          <p:cNvPr id="6" name="TextBox 5"/>
          <p:cNvSpPr txBox="1"/>
          <p:nvPr/>
        </p:nvSpPr>
        <p:spPr>
          <a:xfrm>
            <a:off x="438912" y="6446520"/>
            <a:ext cx="9875520" cy="201168"/>
          </a:xfrm>
          <a:prstGeom prst="rect">
            <a:avLst/>
          </a:prstGeom>
          <a:noFill/>
        </p:spPr>
        <p:txBody>
          <a:bodyPr wrap="none">
            <a:spAutoFit/>
          </a:bodyPr>
          <a:lstStyle/>
          <a:p>
            <a:pPr>
              <a:defRPr sz="750">
                <a:solidFill>
                  <a:srgbClr val="5E6976"/>
                </a:solidFill>
                <a:latin typeface="Aptos"/>
              </a:defRPr>
            </a:pPr>
            <a:r>
              <a:t>Source: build_relation_mcq_prompt in prompts.py</a:t>
            </a:r>
          </a:p>
        </p:txBody>
      </p:sp>
      <p:sp>
        <p:nvSpPr>
          <p:cNvPr id="7" name="TextBox 6"/>
          <p:cNvSpPr txBox="1"/>
          <p:nvPr/>
        </p:nvSpPr>
        <p:spPr>
          <a:xfrm>
            <a:off x="11292840" y="6446520"/>
            <a:ext cx="457200" cy="201168"/>
          </a:xfrm>
          <a:prstGeom prst="rect">
            <a:avLst/>
          </a:prstGeom>
          <a:noFill/>
        </p:spPr>
        <p:txBody>
          <a:bodyPr wrap="none">
            <a:spAutoFit/>
          </a:bodyPr>
          <a:lstStyle/>
          <a:p>
            <a:pPr algn="r">
              <a:defRPr sz="750">
                <a:solidFill>
                  <a:srgbClr val="5E6976"/>
                </a:solidFill>
                <a:latin typeface="Aptos"/>
              </a:defRPr>
            </a:pPr>
            <a:r>
              <a:t>5</a:t>
            </a:r>
          </a:p>
        </p:txBody>
      </p:sp>
      <p:sp>
        <p:nvSpPr>
          <p:cNvPr id="8" name="Rounded Rectangle 7"/>
          <p:cNvSpPr/>
          <p:nvPr/>
        </p:nvSpPr>
        <p:spPr>
          <a:xfrm>
            <a:off x="685800" y="1828800"/>
            <a:ext cx="5074920" cy="960120"/>
          </a:xfrm>
          <a:prstGeom prst="roundRect">
            <a:avLst/>
          </a:prstGeom>
          <a:solidFill>
            <a:srgbClr val="FFFFFF"/>
          </a:solidFill>
          <a:ln w="12700">
            <a:solidFill>
              <a:srgbClr val="D6DE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85800" y="1828800"/>
            <a:ext cx="73152" cy="960120"/>
          </a:xfrm>
          <a:prstGeom prst="rect">
            <a:avLst/>
          </a:prstGeom>
          <a:solidFill>
            <a:srgbClr val="3060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86968" y="1975104"/>
            <a:ext cx="4754880" cy="320040"/>
          </a:xfrm>
          <a:prstGeom prst="rect">
            <a:avLst/>
          </a:prstGeom>
          <a:noFill/>
        </p:spPr>
        <p:txBody>
          <a:bodyPr wrap="square">
            <a:normAutofit/>
          </a:bodyPr>
          <a:lstStyle/>
          <a:p>
            <a:pPr algn="l">
              <a:defRPr sz="1250" b="1">
                <a:solidFill>
                  <a:srgbClr val="182334"/>
                </a:solidFill>
                <a:latin typeface="Aptos"/>
              </a:defRPr>
            </a:pPr>
            <a:r>
              <a:t>Natural question</a:t>
            </a:r>
          </a:p>
        </p:txBody>
      </p:sp>
      <p:sp>
        <p:nvSpPr>
          <p:cNvPr id="11" name="TextBox 10"/>
          <p:cNvSpPr txBox="1"/>
          <p:nvPr/>
        </p:nvSpPr>
        <p:spPr>
          <a:xfrm>
            <a:off x="886968" y="2350008"/>
            <a:ext cx="4754880" cy="301752"/>
          </a:xfrm>
          <a:prstGeom prst="rect">
            <a:avLst/>
          </a:prstGeom>
          <a:noFill/>
        </p:spPr>
        <p:txBody>
          <a:bodyPr wrap="square">
            <a:normAutofit/>
          </a:bodyPr>
          <a:lstStyle/>
          <a:p>
            <a:pPr algn="l">
              <a:defRPr sz="1050" b="0">
                <a:solidFill>
                  <a:srgbClr val="242D39"/>
                </a:solidFill>
                <a:latin typeface="Aptos"/>
              </a:defRPr>
            </a:pPr>
            <a:r>
              <a:t>First-person wording that someone in the situation could plausibly ask.</a:t>
            </a:r>
          </a:p>
        </p:txBody>
      </p:sp>
      <p:sp>
        <p:nvSpPr>
          <p:cNvPr id="12" name="Rounded Rectangle 11"/>
          <p:cNvSpPr/>
          <p:nvPr/>
        </p:nvSpPr>
        <p:spPr>
          <a:xfrm>
            <a:off x="6172200" y="1828800"/>
            <a:ext cx="5074920" cy="960120"/>
          </a:xfrm>
          <a:prstGeom prst="roundRect">
            <a:avLst/>
          </a:prstGeom>
          <a:solidFill>
            <a:srgbClr val="FFFFFF"/>
          </a:solidFill>
          <a:ln w="12700">
            <a:solidFill>
              <a:srgbClr val="D6DE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172200" y="1828800"/>
            <a:ext cx="73152" cy="960120"/>
          </a:xfrm>
          <a:prstGeom prst="rect">
            <a:avLst/>
          </a:prstGeom>
          <a:solidFill>
            <a:srgbClr val="0080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73368" y="1975104"/>
            <a:ext cx="4754880" cy="320040"/>
          </a:xfrm>
          <a:prstGeom prst="rect">
            <a:avLst/>
          </a:prstGeom>
          <a:noFill/>
        </p:spPr>
        <p:txBody>
          <a:bodyPr wrap="square">
            <a:normAutofit/>
          </a:bodyPr>
          <a:lstStyle/>
          <a:p>
            <a:pPr algn="l">
              <a:defRPr sz="1250" b="1">
                <a:solidFill>
                  <a:srgbClr val="182334"/>
                </a:solidFill>
                <a:latin typeface="Aptos"/>
              </a:defRPr>
            </a:pPr>
            <a:r>
              <a:t>Five options</a:t>
            </a:r>
          </a:p>
        </p:txBody>
      </p:sp>
      <p:sp>
        <p:nvSpPr>
          <p:cNvPr id="15" name="TextBox 14"/>
          <p:cNvSpPr txBox="1"/>
          <p:nvPr/>
        </p:nvSpPr>
        <p:spPr>
          <a:xfrm>
            <a:off x="6373368" y="2350008"/>
            <a:ext cx="4754880" cy="301752"/>
          </a:xfrm>
          <a:prstGeom prst="rect">
            <a:avLst/>
          </a:prstGeom>
          <a:noFill/>
        </p:spPr>
        <p:txBody>
          <a:bodyPr wrap="square">
            <a:normAutofit/>
          </a:bodyPr>
          <a:lstStyle/>
          <a:p>
            <a:pPr algn="l">
              <a:defRPr sz="1050" b="0">
                <a:solidFill>
                  <a:srgbClr val="242D39"/>
                </a:solidFill>
                <a:latin typeface="Aptos"/>
              </a:defRPr>
            </a:pPr>
            <a:r>
              <a:t>Exactly five multi-word, plausible, parallel options with one correct answer.</a:t>
            </a:r>
          </a:p>
        </p:txBody>
      </p:sp>
      <p:sp>
        <p:nvSpPr>
          <p:cNvPr id="16" name="Rounded Rectangle 15"/>
          <p:cNvSpPr/>
          <p:nvPr/>
        </p:nvSpPr>
        <p:spPr>
          <a:xfrm>
            <a:off x="685800" y="3063240"/>
            <a:ext cx="5074920" cy="960120"/>
          </a:xfrm>
          <a:prstGeom prst="roundRect">
            <a:avLst/>
          </a:prstGeom>
          <a:solidFill>
            <a:srgbClr val="FFFFFF"/>
          </a:solidFill>
          <a:ln w="12700">
            <a:solidFill>
              <a:srgbClr val="D6DE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85800" y="3063240"/>
            <a:ext cx="73152" cy="960120"/>
          </a:xfrm>
          <a:prstGeom prst="rect">
            <a:avLst/>
          </a:prstGeom>
          <a:solidFill>
            <a:srgbClr val="CD8B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86968" y="3209544"/>
            <a:ext cx="4754880" cy="320040"/>
          </a:xfrm>
          <a:prstGeom prst="rect">
            <a:avLst/>
          </a:prstGeom>
          <a:noFill/>
        </p:spPr>
        <p:txBody>
          <a:bodyPr wrap="square">
            <a:normAutofit/>
          </a:bodyPr>
          <a:lstStyle/>
          <a:p>
            <a:pPr algn="l">
              <a:defRPr sz="1250" b="1">
                <a:solidFill>
                  <a:srgbClr val="182334"/>
                </a:solidFill>
                <a:latin typeface="Aptos"/>
              </a:defRPr>
            </a:pPr>
            <a:r>
              <a:t>Evidence fields</a:t>
            </a:r>
          </a:p>
        </p:txBody>
      </p:sp>
      <p:sp>
        <p:nvSpPr>
          <p:cNvPr id="19" name="TextBox 18"/>
          <p:cNvSpPr txBox="1"/>
          <p:nvPr/>
        </p:nvSpPr>
        <p:spPr>
          <a:xfrm>
            <a:off x="886968" y="3584448"/>
            <a:ext cx="4754880" cy="301752"/>
          </a:xfrm>
          <a:prstGeom prst="rect">
            <a:avLst/>
          </a:prstGeom>
          <a:noFill/>
        </p:spPr>
        <p:txBody>
          <a:bodyPr wrap="square">
            <a:normAutofit/>
          </a:bodyPr>
          <a:lstStyle/>
          <a:p>
            <a:pPr algn="l">
              <a:defRPr sz="1050" b="0">
                <a:solidFill>
                  <a:srgbClr val="242D39"/>
                </a:solidFill>
                <a:latin typeface="Aptos"/>
              </a:defRPr>
            </a:pPr>
            <a:r>
              <a:t>Each needed user gets a visual fact and a specific timeframe or moment.</a:t>
            </a:r>
          </a:p>
        </p:txBody>
      </p:sp>
      <p:sp>
        <p:nvSpPr>
          <p:cNvPr id="20" name="Rounded Rectangle 19"/>
          <p:cNvSpPr/>
          <p:nvPr/>
        </p:nvSpPr>
        <p:spPr>
          <a:xfrm>
            <a:off x="6172200" y="3063240"/>
            <a:ext cx="5074920" cy="960120"/>
          </a:xfrm>
          <a:prstGeom prst="roundRect">
            <a:avLst/>
          </a:prstGeom>
          <a:solidFill>
            <a:srgbClr val="FFFFFF"/>
          </a:solidFill>
          <a:ln w="12700">
            <a:solidFill>
              <a:srgbClr val="D6DE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172200" y="3063240"/>
            <a:ext cx="73152" cy="960120"/>
          </a:xfrm>
          <a:prstGeom prst="rect">
            <a:avLst/>
          </a:prstGeom>
          <a:solidFill>
            <a:srgbClr val="2A91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73368" y="3209544"/>
            <a:ext cx="4754880" cy="320040"/>
          </a:xfrm>
          <a:prstGeom prst="rect">
            <a:avLst/>
          </a:prstGeom>
          <a:noFill/>
        </p:spPr>
        <p:txBody>
          <a:bodyPr wrap="square">
            <a:normAutofit/>
          </a:bodyPr>
          <a:lstStyle/>
          <a:p>
            <a:pPr algn="l">
              <a:defRPr sz="1250" b="1">
                <a:solidFill>
                  <a:srgbClr val="182334"/>
                </a:solidFill>
                <a:latin typeface="Aptos"/>
              </a:defRPr>
            </a:pPr>
            <a:r>
              <a:t>No meta wording</a:t>
            </a:r>
          </a:p>
        </p:txBody>
      </p:sp>
      <p:sp>
        <p:nvSpPr>
          <p:cNvPr id="23" name="TextBox 22"/>
          <p:cNvSpPr txBox="1"/>
          <p:nvPr/>
        </p:nvSpPr>
        <p:spPr>
          <a:xfrm>
            <a:off x="6373368" y="3584448"/>
            <a:ext cx="4754880" cy="301752"/>
          </a:xfrm>
          <a:prstGeom prst="rect">
            <a:avLst/>
          </a:prstGeom>
          <a:noFill/>
        </p:spPr>
        <p:txBody>
          <a:bodyPr wrap="square">
            <a:normAutofit/>
          </a:bodyPr>
          <a:lstStyle/>
          <a:p>
            <a:pPr algn="l">
              <a:defRPr sz="1050" b="0">
                <a:solidFill>
                  <a:srgbClr val="242D39"/>
                </a:solidFill>
                <a:latin typeface="Aptos"/>
              </a:defRPr>
            </a:pPr>
            <a:r>
              <a:t>Question/options cannot mention videos, frames, cameras, captions, embeddings, or similar artifacts.</a:t>
            </a:r>
          </a:p>
        </p:txBody>
      </p:sp>
      <p:sp>
        <p:nvSpPr>
          <p:cNvPr id="24" name="Rounded Rectangle 23"/>
          <p:cNvSpPr/>
          <p:nvPr/>
        </p:nvSpPr>
        <p:spPr>
          <a:xfrm>
            <a:off x="685800" y="4297680"/>
            <a:ext cx="5074920" cy="960120"/>
          </a:xfrm>
          <a:prstGeom prst="roundRect">
            <a:avLst/>
          </a:prstGeom>
          <a:solidFill>
            <a:srgbClr val="FFFFFF"/>
          </a:solidFill>
          <a:ln w="12700">
            <a:solidFill>
              <a:srgbClr val="D6DE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685800" y="4297680"/>
            <a:ext cx="73152" cy="960120"/>
          </a:xfrm>
          <a:prstGeom prst="rect">
            <a:avLst/>
          </a:prstGeom>
          <a:solidFill>
            <a:srgbClr val="BE46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86968" y="4443984"/>
            <a:ext cx="4754880" cy="320040"/>
          </a:xfrm>
          <a:prstGeom prst="rect">
            <a:avLst/>
          </a:prstGeom>
          <a:noFill/>
        </p:spPr>
        <p:txBody>
          <a:bodyPr wrap="square">
            <a:normAutofit/>
          </a:bodyPr>
          <a:lstStyle/>
          <a:p>
            <a:pPr algn="l">
              <a:defRPr sz="1250" b="1">
                <a:solidFill>
                  <a:srgbClr val="182334"/>
                </a:solidFill>
                <a:latin typeface="Aptos"/>
              </a:defRPr>
            </a:pPr>
            <a:r>
              <a:t>Two-user proof</a:t>
            </a:r>
          </a:p>
        </p:txBody>
      </p:sp>
      <p:sp>
        <p:nvSpPr>
          <p:cNvPr id="27" name="TextBox 26"/>
          <p:cNvSpPr txBox="1"/>
          <p:nvPr/>
        </p:nvSpPr>
        <p:spPr>
          <a:xfrm>
            <a:off x="886968" y="4818888"/>
            <a:ext cx="4754880" cy="301752"/>
          </a:xfrm>
          <a:prstGeom prst="rect">
            <a:avLst/>
          </a:prstGeom>
          <a:noFill/>
        </p:spPr>
        <p:txBody>
          <a:bodyPr wrap="square">
            <a:normAutofit/>
          </a:bodyPr>
          <a:lstStyle/>
          <a:p>
            <a:pPr algn="l">
              <a:defRPr sz="1050" b="0">
                <a:solidFill>
                  <a:srgbClr val="242D39"/>
                </a:solidFill>
                <a:latin typeface="Aptos"/>
              </a:defRPr>
            </a:pPr>
            <a:r>
              <a:t>single_user_answerability must say each required user is insufficient; combined_answerability must explain sufficient support.</a:t>
            </a:r>
          </a:p>
        </p:txBody>
      </p:sp>
      <p:sp>
        <p:nvSpPr>
          <p:cNvPr id="28" name="Rounded Rectangle 27"/>
          <p:cNvSpPr/>
          <p:nvPr/>
        </p:nvSpPr>
        <p:spPr>
          <a:xfrm>
            <a:off x="6172200" y="4297680"/>
            <a:ext cx="5074920" cy="960120"/>
          </a:xfrm>
          <a:prstGeom prst="roundRect">
            <a:avLst/>
          </a:prstGeom>
          <a:solidFill>
            <a:srgbClr val="FFFFFF"/>
          </a:solidFill>
          <a:ln w="12700">
            <a:solidFill>
              <a:srgbClr val="D6DE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6172200" y="4297680"/>
            <a:ext cx="73152" cy="960120"/>
          </a:xfrm>
          <a:prstGeom prst="rect">
            <a:avLst/>
          </a:prstGeom>
          <a:solidFill>
            <a:srgbClr val="0080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373368" y="4443984"/>
            <a:ext cx="4754880" cy="320040"/>
          </a:xfrm>
          <a:prstGeom prst="rect">
            <a:avLst/>
          </a:prstGeom>
          <a:noFill/>
        </p:spPr>
        <p:txBody>
          <a:bodyPr wrap="square">
            <a:normAutofit/>
          </a:bodyPr>
          <a:lstStyle/>
          <a:p>
            <a:pPr algn="l">
              <a:defRPr sz="1250" b="1">
                <a:solidFill>
                  <a:srgbClr val="182334"/>
                </a:solidFill>
                <a:latin typeface="Aptos"/>
              </a:defRPr>
            </a:pPr>
            <a:r>
              <a:t>Exact schema</a:t>
            </a:r>
          </a:p>
        </p:txBody>
      </p:sp>
      <p:sp>
        <p:nvSpPr>
          <p:cNvPr id="31" name="TextBox 30"/>
          <p:cNvSpPr txBox="1"/>
          <p:nvPr/>
        </p:nvSpPr>
        <p:spPr>
          <a:xfrm>
            <a:off x="6373368" y="4818888"/>
            <a:ext cx="4754880" cy="301752"/>
          </a:xfrm>
          <a:prstGeom prst="rect">
            <a:avLst/>
          </a:prstGeom>
          <a:noFill/>
        </p:spPr>
        <p:txBody>
          <a:bodyPr wrap="square">
            <a:normAutofit/>
          </a:bodyPr>
          <a:lstStyle/>
          <a:p>
            <a:pPr algn="l">
              <a:defRPr sz="1050" b="0">
                <a:solidFill>
                  <a:srgbClr val="242D39"/>
                </a:solidFill>
                <a:latin typeface="Aptos"/>
              </a:defRPr>
            </a:pPr>
            <a:r>
              <a:t>answer must equal options[correct]; correct is A-E; all audit fields are returned.</a:t>
            </a:r>
          </a:p>
        </p:txBody>
      </p:sp>
      <p:sp>
        <p:nvSpPr>
          <p:cNvPr id="32" name="TextBox 31"/>
          <p:cNvSpPr txBox="1"/>
          <p:nvPr/>
        </p:nvSpPr>
        <p:spPr>
          <a:xfrm>
            <a:off x="868680" y="5806440"/>
            <a:ext cx="10424160" cy="365760"/>
          </a:xfrm>
          <a:prstGeom prst="rect">
            <a:avLst/>
          </a:prstGeom>
          <a:noFill/>
        </p:spPr>
        <p:txBody>
          <a:bodyPr wrap="square">
            <a:normAutofit/>
          </a:bodyPr>
          <a:lstStyle/>
          <a:p>
            <a:pPr algn="ctr">
              <a:defRPr sz="1300" b="1">
                <a:solidFill>
                  <a:srgbClr val="182334"/>
                </a:solidFill>
                <a:latin typeface="Aptos"/>
              </a:defRPr>
            </a:pPr>
            <a:r>
              <a:t>Key design choice: the MCQ writer receives the selected relation as input, so the question is anchored to a dependency claim rather than a reusable template.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7F9FC"/>
        </a:solidFill>
        <a:effectLst/>
      </p:bgPr>
    </p:bg>
    <p:spTree>
      <p:nvGrpSpPr>
        <p:cNvPr id="1" name=""/>
        <p:cNvGrpSpPr/>
        <p:nvPr/>
      </p:nvGrpSpPr>
      <p:grpSpPr/>
      <p:sp>
        <p:nvSpPr>
          <p:cNvPr id="2" name="Rectangle 1"/>
          <p:cNvSpPr/>
          <p:nvPr/>
        </p:nvSpPr>
        <p:spPr>
          <a:xfrm>
            <a:off x="475488" y="256032"/>
            <a:ext cx="91440" cy="228600"/>
          </a:xfrm>
          <a:prstGeom prst="rect">
            <a:avLst/>
          </a:prstGeom>
          <a:solidFill>
            <a:srgbClr val="0080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37744"/>
            <a:ext cx="4389120" cy="274320"/>
          </a:xfrm>
          <a:prstGeom prst="rect">
            <a:avLst/>
          </a:prstGeom>
          <a:noFill/>
        </p:spPr>
        <p:txBody>
          <a:bodyPr wrap="none">
            <a:spAutoFit/>
          </a:bodyPr>
          <a:lstStyle/>
          <a:p>
            <a:pPr>
              <a:defRPr sz="850" b="1">
                <a:solidFill>
                  <a:srgbClr val="008080"/>
                </a:solidFill>
                <a:latin typeface="Aptos"/>
              </a:defRPr>
            </a:pPr>
            <a:r>
              <a:t>DISCOVERY-FIRST PIPELINE</a:t>
            </a:r>
          </a:p>
        </p:txBody>
      </p:sp>
      <p:sp>
        <p:nvSpPr>
          <p:cNvPr id="4" name="TextBox 3"/>
          <p:cNvSpPr txBox="1"/>
          <p:nvPr/>
        </p:nvSpPr>
        <p:spPr>
          <a:xfrm>
            <a:off x="475488" y="603504"/>
            <a:ext cx="11155680" cy="621792"/>
          </a:xfrm>
          <a:prstGeom prst="rect">
            <a:avLst/>
          </a:prstGeom>
          <a:noFill/>
        </p:spPr>
        <p:txBody>
          <a:bodyPr wrap="square">
            <a:spAutoFit/>
          </a:bodyPr>
          <a:lstStyle/>
          <a:p>
            <a:pPr>
              <a:defRPr sz="2800" b="1">
                <a:solidFill>
                  <a:srgbClr val="182334"/>
                </a:solidFill>
                <a:latin typeface="Aptos Display"/>
              </a:defRPr>
            </a:pPr>
            <a:r>
              <a:t>Quality gates after generation</a:t>
            </a:r>
          </a:p>
        </p:txBody>
      </p:sp>
      <p:sp>
        <p:nvSpPr>
          <p:cNvPr id="5" name="TextBox 4"/>
          <p:cNvSpPr txBox="1"/>
          <p:nvPr/>
        </p:nvSpPr>
        <p:spPr>
          <a:xfrm>
            <a:off x="493776" y="1234440"/>
            <a:ext cx="10789920" cy="457200"/>
          </a:xfrm>
          <a:prstGeom prst="rect">
            <a:avLst/>
          </a:prstGeom>
          <a:noFill/>
        </p:spPr>
        <p:txBody>
          <a:bodyPr wrap="square">
            <a:spAutoFit/>
          </a:bodyPr>
          <a:lstStyle/>
          <a:p>
            <a:pPr>
              <a:defRPr sz="1300">
                <a:solidFill>
                  <a:srgbClr val="5E6976"/>
                </a:solidFill>
                <a:latin typeface="Aptos"/>
              </a:defRPr>
            </a:pPr>
            <a:r>
              <a:t>Acceptance is deliberately conservative: a generated QA must survive schema checks, reviewer checks, and answerability checks.</a:t>
            </a:r>
          </a:p>
        </p:txBody>
      </p:sp>
      <p:sp>
        <p:nvSpPr>
          <p:cNvPr id="6" name="TextBox 5"/>
          <p:cNvSpPr txBox="1"/>
          <p:nvPr/>
        </p:nvSpPr>
        <p:spPr>
          <a:xfrm>
            <a:off x="438912" y="6446520"/>
            <a:ext cx="9875520" cy="201168"/>
          </a:xfrm>
          <a:prstGeom prst="rect">
            <a:avLst/>
          </a:prstGeom>
          <a:noFill/>
        </p:spPr>
        <p:txBody>
          <a:bodyPr wrap="none">
            <a:spAutoFit/>
          </a:bodyPr>
          <a:lstStyle/>
          <a:p>
            <a:pPr>
              <a:defRPr sz="750">
                <a:solidFill>
                  <a:srgbClr val="5E6976"/>
                </a:solidFill>
                <a:latin typeface="Aptos"/>
              </a:defRPr>
            </a:pPr>
            <a:r>
              <a:t>Source: video_qa_loop.py, schema.py, DISCOVERY_MODE_PROMPTS_REVIEW.txt</a:t>
            </a:r>
          </a:p>
        </p:txBody>
      </p:sp>
      <p:sp>
        <p:nvSpPr>
          <p:cNvPr id="7" name="TextBox 6"/>
          <p:cNvSpPr txBox="1"/>
          <p:nvPr/>
        </p:nvSpPr>
        <p:spPr>
          <a:xfrm>
            <a:off x="11292840" y="6446520"/>
            <a:ext cx="457200" cy="201168"/>
          </a:xfrm>
          <a:prstGeom prst="rect">
            <a:avLst/>
          </a:prstGeom>
          <a:noFill/>
        </p:spPr>
        <p:txBody>
          <a:bodyPr wrap="none">
            <a:spAutoFit/>
          </a:bodyPr>
          <a:lstStyle/>
          <a:p>
            <a:pPr algn="r">
              <a:defRPr sz="750">
                <a:solidFill>
                  <a:srgbClr val="5E6976"/>
                </a:solidFill>
                <a:latin typeface="Aptos"/>
              </a:defRPr>
            </a:pPr>
            <a:r>
              <a:t>6</a:t>
            </a:r>
          </a:p>
        </p:txBody>
      </p:sp>
      <p:sp>
        <p:nvSpPr>
          <p:cNvPr id="8" name="Rounded Rectangle 7"/>
          <p:cNvSpPr/>
          <p:nvPr/>
        </p:nvSpPr>
        <p:spPr>
          <a:xfrm>
            <a:off x="640080" y="1828800"/>
            <a:ext cx="3474720" cy="1417320"/>
          </a:xfrm>
          <a:prstGeom prst="roundRect">
            <a:avLst/>
          </a:prstGeom>
          <a:solidFill>
            <a:srgbClr val="FFFFFF"/>
          </a:solidFill>
          <a:ln w="12700">
            <a:solidFill>
              <a:srgbClr val="D6DE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40080" y="1828800"/>
            <a:ext cx="73152" cy="1417320"/>
          </a:xfrm>
          <a:prstGeom prst="rect">
            <a:avLst/>
          </a:prstGeom>
          <a:solidFill>
            <a:srgbClr val="3060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41247" y="1975104"/>
            <a:ext cx="3154679" cy="320040"/>
          </a:xfrm>
          <a:prstGeom prst="rect">
            <a:avLst/>
          </a:prstGeom>
          <a:noFill/>
        </p:spPr>
        <p:txBody>
          <a:bodyPr wrap="square">
            <a:normAutofit/>
          </a:bodyPr>
          <a:lstStyle/>
          <a:p>
            <a:pPr algn="l">
              <a:defRPr sz="1300" b="1">
                <a:solidFill>
                  <a:srgbClr val="182334"/>
                </a:solidFill>
                <a:latin typeface="Aptos"/>
              </a:defRPr>
            </a:pPr>
            <a:r>
              <a:t>1. Schema gate</a:t>
            </a:r>
          </a:p>
        </p:txBody>
      </p:sp>
      <p:sp>
        <p:nvSpPr>
          <p:cNvPr id="11" name="TextBox 10"/>
          <p:cNvSpPr txBox="1"/>
          <p:nvPr/>
        </p:nvSpPr>
        <p:spPr>
          <a:xfrm>
            <a:off x="841247" y="2350008"/>
            <a:ext cx="3154679" cy="758952"/>
          </a:xfrm>
          <a:prstGeom prst="rect">
            <a:avLst/>
          </a:prstGeom>
          <a:noFill/>
        </p:spPr>
        <p:txBody>
          <a:bodyPr wrap="square">
            <a:normAutofit/>
          </a:bodyPr>
          <a:lstStyle/>
          <a:p>
            <a:pPr algn="l">
              <a:defRPr sz="1150" b="0">
                <a:solidFill>
                  <a:srgbClr val="242D39"/>
                </a:solidFill>
                <a:latin typeface="Aptos"/>
              </a:defRPr>
            </a:pPr>
            <a:r>
              <a:t>Valid JSON shape, five options, correct answer consistency, at least two unique users, single-user insufficiency text, combined support text, and review object.</a:t>
            </a:r>
          </a:p>
        </p:txBody>
      </p:sp>
      <p:sp>
        <p:nvSpPr>
          <p:cNvPr id="12" name="Rounded Rectangle 11"/>
          <p:cNvSpPr/>
          <p:nvPr/>
        </p:nvSpPr>
        <p:spPr>
          <a:xfrm>
            <a:off x="4343400" y="1828800"/>
            <a:ext cx="3474720" cy="1417320"/>
          </a:xfrm>
          <a:prstGeom prst="roundRect">
            <a:avLst/>
          </a:prstGeom>
          <a:solidFill>
            <a:srgbClr val="FFFFFF"/>
          </a:solidFill>
          <a:ln w="12700">
            <a:solidFill>
              <a:srgbClr val="D6DE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343400" y="1828800"/>
            <a:ext cx="73152" cy="1417320"/>
          </a:xfrm>
          <a:prstGeom prst="rect">
            <a:avLst/>
          </a:prstGeom>
          <a:solidFill>
            <a:srgbClr val="BE46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44568" y="1975104"/>
            <a:ext cx="3154679" cy="320040"/>
          </a:xfrm>
          <a:prstGeom prst="rect">
            <a:avLst/>
          </a:prstGeom>
          <a:noFill/>
        </p:spPr>
        <p:txBody>
          <a:bodyPr wrap="square">
            <a:normAutofit/>
          </a:bodyPr>
          <a:lstStyle/>
          <a:p>
            <a:pPr algn="l">
              <a:defRPr sz="1300" b="1">
                <a:solidFill>
                  <a:srgbClr val="182334"/>
                </a:solidFill>
                <a:latin typeface="Aptos"/>
              </a:defRPr>
            </a:pPr>
            <a:r>
              <a:t>2. Reviewer gate</a:t>
            </a:r>
          </a:p>
        </p:txBody>
      </p:sp>
      <p:sp>
        <p:nvSpPr>
          <p:cNvPr id="15" name="TextBox 14"/>
          <p:cNvSpPr txBox="1"/>
          <p:nvPr/>
        </p:nvSpPr>
        <p:spPr>
          <a:xfrm>
            <a:off x="4544568" y="2350008"/>
            <a:ext cx="3154679" cy="758952"/>
          </a:xfrm>
          <a:prstGeom prst="rect">
            <a:avLst/>
          </a:prstGeom>
          <a:noFill/>
        </p:spPr>
        <p:txBody>
          <a:bodyPr wrap="square">
            <a:normAutofit/>
          </a:bodyPr>
          <a:lstStyle/>
          <a:p>
            <a:pPr algn="l">
              <a:defRPr sz="1150" b="0">
                <a:solidFill>
                  <a:srgbClr val="242D39"/>
                </a:solidFill>
                <a:latin typeface="Aptos"/>
              </a:defRPr>
            </a:pPr>
            <a:r>
              <a:t>A strict VLM reviewer inspects the same raw evidence and returns structured PASS/FAIL/UNCERTAIN checks. The structured check statuses are authoritative.</a:t>
            </a:r>
          </a:p>
        </p:txBody>
      </p:sp>
      <p:sp>
        <p:nvSpPr>
          <p:cNvPr id="16" name="Rounded Rectangle 15"/>
          <p:cNvSpPr/>
          <p:nvPr/>
        </p:nvSpPr>
        <p:spPr>
          <a:xfrm>
            <a:off x="8046720" y="1828800"/>
            <a:ext cx="3474720" cy="1417320"/>
          </a:xfrm>
          <a:prstGeom prst="roundRect">
            <a:avLst/>
          </a:prstGeom>
          <a:solidFill>
            <a:srgbClr val="FFFFFF"/>
          </a:solidFill>
          <a:ln w="12700">
            <a:solidFill>
              <a:srgbClr val="D6DE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046720" y="1828800"/>
            <a:ext cx="73152" cy="1417320"/>
          </a:xfrm>
          <a:prstGeom prst="rect">
            <a:avLst/>
          </a:prstGeom>
          <a:solidFill>
            <a:srgbClr val="2A91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47888" y="1975104"/>
            <a:ext cx="3154679" cy="320040"/>
          </a:xfrm>
          <a:prstGeom prst="rect">
            <a:avLst/>
          </a:prstGeom>
          <a:noFill/>
        </p:spPr>
        <p:txBody>
          <a:bodyPr wrap="square">
            <a:normAutofit/>
          </a:bodyPr>
          <a:lstStyle/>
          <a:p>
            <a:pPr algn="l">
              <a:defRPr sz="1300" b="1">
                <a:solidFill>
                  <a:srgbClr val="182334"/>
                </a:solidFill>
                <a:latin typeface="Aptos"/>
              </a:defRPr>
            </a:pPr>
            <a:r>
              <a:t>3. Answerability gate</a:t>
            </a:r>
          </a:p>
        </p:txBody>
      </p:sp>
      <p:sp>
        <p:nvSpPr>
          <p:cNvPr id="19" name="TextBox 18"/>
          <p:cNvSpPr txBox="1"/>
          <p:nvPr/>
        </p:nvSpPr>
        <p:spPr>
          <a:xfrm>
            <a:off x="8247888" y="2350008"/>
            <a:ext cx="3154679" cy="758952"/>
          </a:xfrm>
          <a:prstGeom prst="rect">
            <a:avLst/>
          </a:prstGeom>
          <a:noFill/>
        </p:spPr>
        <p:txBody>
          <a:bodyPr wrap="square">
            <a:normAutofit/>
          </a:bodyPr>
          <a:lstStyle/>
          <a:p>
            <a:pPr algn="l">
              <a:defRPr sz="1150" b="0">
                <a:solidFill>
                  <a:srgbClr val="242D39"/>
                </a:solidFill>
                <a:latin typeface="Aptos"/>
              </a:defRPr>
            </a:pPr>
            <a:r>
              <a:t>The model re-answers the MCQ under restricted evidence conditions. Combined users must get the right answer; each single/proper subset must not.</a:t>
            </a:r>
          </a:p>
        </p:txBody>
      </p:sp>
      <p:graphicFrame>
        <p:nvGraphicFramePr>
          <p:cNvPr id="20" name="Table 19"/>
          <p:cNvGraphicFramePr>
            <a:graphicFrameLocks noGrp="1"/>
          </p:cNvGraphicFramePr>
          <p:nvPr/>
        </p:nvGraphicFramePr>
        <p:xfrm>
          <a:off x="1051560" y="3657600"/>
          <a:ext cx="10058400" cy="2240280"/>
        </p:xfrm>
        <a:graphic>
          <a:graphicData uri="http://schemas.openxmlformats.org/drawingml/2006/table">
            <a:tbl>
              <a:tblPr firstRow="1" bandRow="1">
                <a:tableStyleId>{5C22544A-7EE6-4342-B048-85BDC9FD1C3A}</a:tableStyleId>
              </a:tblPr>
              <a:tblGrid>
                <a:gridCol w="2971800"/>
                <a:gridCol w="7086600"/>
              </a:tblGrid>
              <a:tr h="224028">
                <a:tc>
                  <a:txBody>
                    <a:bodyPr wrap="square">
                      <a:normAutofit/>
                    </a:bodyPr>
                    <a:lstStyle/>
                    <a:p>
                      <a:pPr algn="ctr">
                        <a:defRPr sz="819" b="1">
                          <a:solidFill>
                            <a:srgbClr val="FFFFFF"/>
                          </a:solidFill>
                          <a:latin typeface="Aptos"/>
                        </a:defRPr>
                      </a:pPr>
                      <a:r>
                        <a:t>Reviewer blocking checks</a:t>
                      </a:r>
                    </a:p>
                  </a:txBody>
                  <a:tcPr marL="36576" marR="36576" marT="27432" marB="27432">
                    <a:solidFill>
                      <a:srgbClr val="263B53"/>
                    </a:solidFill>
                  </a:tcPr>
                </a:tc>
                <a:tc>
                  <a:txBody>
                    <a:bodyPr wrap="square">
                      <a:normAutofit/>
                    </a:bodyPr>
                    <a:lstStyle/>
                    <a:p>
                      <a:pPr algn="ctr">
                        <a:defRPr sz="819" b="1">
                          <a:solidFill>
                            <a:srgbClr val="FFFFFF"/>
                          </a:solidFill>
                          <a:latin typeface="Aptos"/>
                        </a:defRPr>
                      </a:pPr>
                      <a:r>
                        <a:t>What they protect against</a:t>
                      </a:r>
                    </a:p>
                  </a:txBody>
                  <a:tcPr marL="36576" marR="36576" marT="27432" marB="27432">
                    <a:solidFill>
                      <a:srgbClr val="263B53"/>
                    </a:solidFill>
                  </a:tcPr>
                </a:tc>
              </a:tr>
              <a:tr h="224028">
                <a:tc>
                  <a:txBody>
                    <a:bodyPr wrap="square">
                      <a:normAutofit/>
                    </a:bodyPr>
                    <a:lstStyle/>
                    <a:p>
                      <a:pPr algn="ctr">
                        <a:defRPr sz="819" b="0">
                          <a:solidFill>
                            <a:srgbClr val="242D39"/>
                          </a:solidFill>
                          <a:latin typeface="Aptos"/>
                        </a:defRPr>
                      </a:pPr>
                      <a:r>
                        <a:t>first_person_naturalness</a:t>
                      </a:r>
                    </a:p>
                  </a:txBody>
                  <a:tcPr marL="36576" marR="36576" marT="27432" marB="27432">
                    <a:solidFill>
                      <a:srgbClr val="FFFFFF"/>
                    </a:solidFill>
                  </a:tcPr>
                </a:tc>
                <a:tc>
                  <a:txBody>
                    <a:bodyPr wrap="square">
                      <a:normAutofit/>
                    </a:bodyPr>
                    <a:lstStyle/>
                    <a:p>
                      <a:pPr algn="ctr">
                        <a:defRPr sz="819" b="0">
                          <a:solidFill>
                            <a:srgbClr val="242D39"/>
                          </a:solidFill>
                          <a:latin typeface="Aptos"/>
                        </a:defRPr>
                      </a:pPr>
                      <a:r>
                        <a:t>awkward or non-situated wording</a:t>
                      </a:r>
                    </a:p>
                  </a:txBody>
                  <a:tcPr marL="36576" marR="36576" marT="27432" marB="27432">
                    <a:solidFill>
                      <a:srgbClr val="FFFFFF"/>
                    </a:solidFill>
                  </a:tcPr>
                </a:tc>
              </a:tr>
              <a:tr h="224028">
                <a:tc>
                  <a:txBody>
                    <a:bodyPr wrap="square">
                      <a:normAutofit/>
                    </a:bodyPr>
                    <a:lstStyle/>
                    <a:p>
                      <a:pPr algn="ctr">
                        <a:defRPr sz="819" b="0">
                          <a:solidFill>
                            <a:srgbClr val="242D39"/>
                          </a:solidFill>
                          <a:latin typeface="Aptos"/>
                        </a:defRPr>
                      </a:pPr>
                      <a:r>
                        <a:t>agent_perspective</a:t>
                      </a:r>
                    </a:p>
                  </a:txBody>
                  <a:tcPr marL="36576" marR="36576" marT="27432" marB="27432">
                    <a:solidFill>
                      <a:srgbClr val="FBFCFE"/>
                    </a:solidFill>
                  </a:tcPr>
                </a:tc>
                <a:tc>
                  <a:txBody>
                    <a:bodyPr wrap="square">
                      <a:normAutofit/>
                    </a:bodyPr>
                    <a:lstStyle/>
                    <a:p>
                      <a:pPr algn="ctr">
                        <a:defRPr sz="819" b="0">
                          <a:solidFill>
                            <a:srgbClr val="242D39"/>
                          </a:solidFill>
                          <a:latin typeface="Aptos"/>
                        </a:defRPr>
                      </a:pPr>
                      <a:r>
                        <a:t>dataset-observer or media-artifact wording</a:t>
                      </a:r>
                    </a:p>
                  </a:txBody>
                  <a:tcPr marL="36576" marR="36576" marT="27432" marB="27432">
                    <a:solidFill>
                      <a:srgbClr val="FBFCFE"/>
                    </a:solidFill>
                  </a:tcPr>
                </a:tc>
              </a:tr>
              <a:tr h="224028">
                <a:tc>
                  <a:txBody>
                    <a:bodyPr wrap="square">
                      <a:normAutofit/>
                    </a:bodyPr>
                    <a:lstStyle/>
                    <a:p>
                      <a:pPr algn="ctr">
                        <a:defRPr sz="819" b="0">
                          <a:solidFill>
                            <a:srgbClr val="242D39"/>
                          </a:solidFill>
                          <a:latin typeface="Aptos"/>
                        </a:defRPr>
                      </a:pPr>
                      <a:r>
                        <a:t>source_scope</a:t>
                      </a:r>
                    </a:p>
                  </a:txBody>
                  <a:tcPr marL="36576" marR="36576" marT="27432" marB="27432">
                    <a:solidFill>
                      <a:srgbClr val="FFFFFF"/>
                    </a:solidFill>
                  </a:tcPr>
                </a:tc>
                <a:tc>
                  <a:txBody>
                    <a:bodyPr wrap="square">
                      <a:normAutofit/>
                    </a:bodyPr>
                    <a:lstStyle/>
                    <a:p>
                      <a:pPr algn="ctr">
                        <a:defRPr sz="819" b="0">
                          <a:solidFill>
                            <a:srgbClr val="242D39"/>
                          </a:solidFill>
                          <a:latin typeface="Aptos"/>
                        </a:defRPr>
                      </a:pPr>
                      <a:r>
                        <a:t>outside knowledge or unsupported inference</a:t>
                      </a:r>
                    </a:p>
                  </a:txBody>
                  <a:tcPr marL="36576" marR="36576" marT="27432" marB="27432">
                    <a:solidFill>
                      <a:srgbClr val="FFFFFF"/>
                    </a:solidFill>
                  </a:tcPr>
                </a:tc>
              </a:tr>
              <a:tr h="224028">
                <a:tc>
                  <a:txBody>
                    <a:bodyPr wrap="square">
                      <a:normAutofit/>
                    </a:bodyPr>
                    <a:lstStyle/>
                    <a:p>
                      <a:pPr algn="ctr">
                        <a:defRPr sz="819" b="0">
                          <a:solidFill>
                            <a:srgbClr val="242D39"/>
                          </a:solidFill>
                          <a:latin typeface="Aptos"/>
                        </a:defRPr>
                      </a:pPr>
                      <a:r>
                        <a:t>question_type_semantics</a:t>
                      </a:r>
                    </a:p>
                  </a:txBody>
                  <a:tcPr marL="36576" marR="36576" marT="27432" marB="27432">
                    <a:solidFill>
                      <a:srgbClr val="FBFCFE"/>
                    </a:solidFill>
                  </a:tcPr>
                </a:tc>
                <a:tc>
                  <a:txBody>
                    <a:bodyPr wrap="square">
                      <a:normAutofit/>
                    </a:bodyPr>
                    <a:lstStyle/>
                    <a:p>
                      <a:pPr algn="ctr">
                        <a:defRPr sz="819" b="0">
                          <a:solidFill>
                            <a:srgbClr val="242D39"/>
                          </a:solidFill>
                          <a:latin typeface="Aptos"/>
                        </a:defRPr>
                      </a:pPr>
                      <a:r>
                        <a:t>wrong commonality/difference meaning</a:t>
                      </a:r>
                    </a:p>
                  </a:txBody>
                  <a:tcPr marL="36576" marR="36576" marT="27432" marB="27432">
                    <a:solidFill>
                      <a:srgbClr val="FBFCFE"/>
                    </a:solidFill>
                  </a:tcPr>
                </a:tc>
              </a:tr>
              <a:tr h="224028">
                <a:tc>
                  <a:txBody>
                    <a:bodyPr wrap="square">
                      <a:normAutofit/>
                    </a:bodyPr>
                    <a:lstStyle/>
                    <a:p>
                      <a:pPr algn="ctr">
                        <a:defRPr sz="819" b="0">
                          <a:solidFill>
                            <a:srgbClr val="242D39"/>
                          </a:solidFill>
                          <a:latin typeface="Aptos"/>
                        </a:defRPr>
                      </a:pPr>
                      <a:r>
                        <a:t>multi_video_necessity</a:t>
                      </a:r>
                    </a:p>
                  </a:txBody>
                  <a:tcPr marL="36576" marR="36576" marT="27432" marB="27432">
                    <a:solidFill>
                      <a:srgbClr val="FFFFFF"/>
                    </a:solidFill>
                  </a:tcPr>
                </a:tc>
                <a:tc>
                  <a:txBody>
                    <a:bodyPr wrap="square">
                      <a:normAutofit/>
                    </a:bodyPr>
                    <a:lstStyle/>
                    <a:p>
                      <a:pPr algn="ctr">
                        <a:defRPr sz="819" b="0">
                          <a:solidFill>
                            <a:srgbClr val="242D39"/>
                          </a:solidFill>
                          <a:latin typeface="Aptos"/>
                        </a:defRPr>
                      </a:pPr>
                      <a:r>
                        <a:t>not actually requiring both users</a:t>
                      </a:r>
                    </a:p>
                  </a:txBody>
                  <a:tcPr marL="36576" marR="36576" marT="27432" marB="27432">
                    <a:solidFill>
                      <a:srgbClr val="FFFFFF"/>
                    </a:solidFill>
                  </a:tcPr>
                </a:tc>
              </a:tr>
              <a:tr h="224028">
                <a:tc>
                  <a:txBody>
                    <a:bodyPr wrap="square">
                      <a:normAutofit/>
                    </a:bodyPr>
                    <a:lstStyle/>
                    <a:p>
                      <a:pPr algn="ctr">
                        <a:defRPr sz="819" b="0">
                          <a:solidFill>
                            <a:srgbClr val="242D39"/>
                          </a:solidFill>
                          <a:latin typeface="Aptos"/>
                        </a:defRPr>
                      </a:pPr>
                      <a:r>
                        <a:t>visual_grounding</a:t>
                      </a:r>
                    </a:p>
                  </a:txBody>
                  <a:tcPr marL="36576" marR="36576" marT="27432" marB="27432">
                    <a:solidFill>
                      <a:srgbClr val="FBFCFE"/>
                    </a:solidFill>
                  </a:tcPr>
                </a:tc>
                <a:tc>
                  <a:txBody>
                    <a:bodyPr wrap="square">
                      <a:normAutofit/>
                    </a:bodyPr>
                    <a:lstStyle/>
                    <a:p>
                      <a:pPr algn="ctr">
                        <a:defRPr sz="819" b="0">
                          <a:solidFill>
                            <a:srgbClr val="242D39"/>
                          </a:solidFill>
                          <a:latin typeface="Aptos"/>
                        </a:defRPr>
                      </a:pPr>
                      <a:r>
                        <a:t>claims not visible in concrete moments</a:t>
                      </a:r>
                    </a:p>
                  </a:txBody>
                  <a:tcPr marL="36576" marR="36576" marT="27432" marB="27432">
                    <a:solidFill>
                      <a:srgbClr val="FBFCFE"/>
                    </a:solidFill>
                  </a:tcPr>
                </a:tc>
              </a:tr>
              <a:tr h="224028">
                <a:tc>
                  <a:txBody>
                    <a:bodyPr wrap="square">
                      <a:normAutofit/>
                    </a:bodyPr>
                    <a:lstStyle/>
                    <a:p>
                      <a:pPr algn="ctr">
                        <a:defRPr sz="819" b="0">
                          <a:solidFill>
                            <a:srgbClr val="242D39"/>
                          </a:solidFill>
                          <a:latin typeface="Aptos"/>
                        </a:defRPr>
                      </a:pPr>
                      <a:r>
                        <a:t>mcq_option_quality</a:t>
                      </a:r>
                    </a:p>
                  </a:txBody>
                  <a:tcPr marL="36576" marR="36576" marT="27432" marB="27432">
                    <a:solidFill>
                      <a:srgbClr val="FFFFFF"/>
                    </a:solidFill>
                  </a:tcPr>
                </a:tc>
                <a:tc>
                  <a:txBody>
                    <a:bodyPr wrap="square">
                      <a:normAutofit/>
                    </a:bodyPr>
                    <a:lstStyle/>
                    <a:p>
                      <a:pPr algn="ctr">
                        <a:defRPr sz="819" b="0">
                          <a:solidFill>
                            <a:srgbClr val="242D39"/>
                          </a:solidFill>
                          <a:latin typeface="Aptos"/>
                        </a:defRPr>
                      </a:pPr>
                      <a:r>
                        <a:t>bad options or multiple correct answers</a:t>
                      </a:r>
                    </a:p>
                  </a:txBody>
                  <a:tcPr marL="36576" marR="36576" marT="27432" marB="27432">
                    <a:solidFill>
                      <a:srgbClr val="FFFFFF"/>
                    </a:solidFill>
                  </a:tcPr>
                </a:tc>
              </a:tr>
              <a:tr h="224028">
                <a:tc>
                  <a:txBody>
                    <a:bodyPr wrap="square">
                      <a:normAutofit/>
                    </a:bodyPr>
                    <a:lstStyle/>
                    <a:p>
                      <a:pPr algn="ctr">
                        <a:defRPr sz="819" b="0">
                          <a:solidFill>
                            <a:srgbClr val="242D39"/>
                          </a:solidFill>
                          <a:latin typeface="Aptos"/>
                        </a:defRPr>
                      </a:pPr>
                      <a:r>
                        <a:t>gaze_safety</a:t>
                      </a:r>
                    </a:p>
                  </a:txBody>
                  <a:tcPr marL="36576" marR="36576" marT="27432" marB="27432">
                    <a:solidFill>
                      <a:srgbClr val="FBFCFE"/>
                    </a:solidFill>
                  </a:tcPr>
                </a:tc>
                <a:tc>
                  <a:txBody>
                    <a:bodyPr wrap="square">
                      <a:normAutofit/>
                    </a:bodyPr>
                    <a:lstStyle/>
                    <a:p>
                      <a:pPr algn="ctr">
                        <a:defRPr sz="819" b="0">
                          <a:solidFill>
                            <a:srgbClr val="242D39"/>
                          </a:solidFill>
                          <a:latin typeface="Aptos"/>
                        </a:defRPr>
                      </a:pPr>
                      <a:r>
                        <a:t>invented gaze-to-object precision</a:t>
                      </a:r>
                    </a:p>
                  </a:txBody>
                  <a:tcPr marL="36576" marR="36576" marT="27432" marB="27432">
                    <a:solidFill>
                      <a:srgbClr val="FBFCFE"/>
                    </a:solidFill>
                  </a:tcPr>
                </a:tc>
              </a:tr>
              <a:tr h="224028">
                <a:tc>
                  <a:txBody>
                    <a:bodyPr wrap="square">
                      <a:normAutofit/>
                    </a:bodyPr>
                    <a:lstStyle/>
                    <a:p>
                      <a:pPr algn="ctr">
                        <a:defRPr sz="819" b="0">
                          <a:solidFill>
                            <a:srgbClr val="242D39"/>
                          </a:solidFill>
                          <a:latin typeface="Aptos"/>
                        </a:defRPr>
                      </a:pPr>
                      <a:r>
                        <a:t>human_auditability</a:t>
                      </a:r>
                    </a:p>
                  </a:txBody>
                  <a:tcPr marL="36576" marR="36576" marT="27432" marB="27432">
                    <a:solidFill>
                      <a:srgbClr val="FFFFFF"/>
                    </a:solidFill>
                  </a:tcPr>
                </a:tc>
                <a:tc>
                  <a:txBody>
                    <a:bodyPr wrap="square">
                      <a:normAutofit/>
                    </a:bodyPr>
                    <a:lstStyle/>
                    <a:p>
                      <a:pPr algn="ctr">
                        <a:defRPr sz="819" b="0">
                          <a:solidFill>
                            <a:srgbClr val="242D39"/>
                          </a:solidFill>
                          <a:latin typeface="Aptos"/>
                        </a:defRPr>
                      </a:pPr>
                      <a:r>
                        <a:t>not enough evidence for later inspection</a:t>
                      </a:r>
                    </a:p>
                  </a:txBody>
                  <a:tcPr marL="36576" marR="36576" marT="27432" marB="27432">
                    <a:solidFill>
                      <a:srgbClr val="FFFFFF"/>
                    </a:solidFill>
                  </a:tcPr>
                </a:tc>
              </a:tr>
            </a:tbl>
          </a:graphicData>
        </a:graphic>
      </p:graphicFrame>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7F9FC"/>
        </a:solidFill>
        <a:effectLst/>
      </p:bgPr>
    </p:bg>
    <p:spTree>
      <p:nvGrpSpPr>
        <p:cNvPr id="1" name=""/>
        <p:cNvGrpSpPr/>
        <p:nvPr/>
      </p:nvGrpSpPr>
      <p:grpSpPr/>
      <p:sp>
        <p:nvSpPr>
          <p:cNvPr id="2" name="Rectangle 1"/>
          <p:cNvSpPr/>
          <p:nvPr/>
        </p:nvSpPr>
        <p:spPr>
          <a:xfrm>
            <a:off x="475488" y="256032"/>
            <a:ext cx="91440" cy="228600"/>
          </a:xfrm>
          <a:prstGeom prst="rect">
            <a:avLst/>
          </a:prstGeom>
          <a:solidFill>
            <a:srgbClr val="0080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37744"/>
            <a:ext cx="4389120" cy="274320"/>
          </a:xfrm>
          <a:prstGeom prst="rect">
            <a:avLst/>
          </a:prstGeom>
          <a:noFill/>
        </p:spPr>
        <p:txBody>
          <a:bodyPr wrap="none">
            <a:spAutoFit/>
          </a:bodyPr>
          <a:lstStyle/>
          <a:p>
            <a:pPr>
              <a:defRPr sz="850" b="1">
                <a:solidFill>
                  <a:srgbClr val="008080"/>
                </a:solidFill>
                <a:latin typeface="Aptos"/>
              </a:defRPr>
            </a:pPr>
            <a:r>
              <a:t>DISCOVERY-FIRST PIPELINE</a:t>
            </a:r>
          </a:p>
        </p:txBody>
      </p:sp>
      <p:sp>
        <p:nvSpPr>
          <p:cNvPr id="4" name="TextBox 3"/>
          <p:cNvSpPr txBox="1"/>
          <p:nvPr/>
        </p:nvSpPr>
        <p:spPr>
          <a:xfrm>
            <a:off x="475488" y="603504"/>
            <a:ext cx="11155680" cy="621792"/>
          </a:xfrm>
          <a:prstGeom prst="rect">
            <a:avLst/>
          </a:prstGeom>
          <a:noFill/>
        </p:spPr>
        <p:txBody>
          <a:bodyPr wrap="square">
            <a:spAutoFit/>
          </a:bodyPr>
          <a:lstStyle/>
          <a:p>
            <a:pPr>
              <a:defRPr sz="2800" b="1">
                <a:solidFill>
                  <a:srgbClr val="182334"/>
                </a:solidFill>
                <a:latin typeface="Aptos Display"/>
              </a:defRPr>
            </a:pPr>
            <a:r>
              <a:t>Answerability is the hard leakage test</a:t>
            </a:r>
          </a:p>
        </p:txBody>
      </p:sp>
      <p:sp>
        <p:nvSpPr>
          <p:cNvPr id="5" name="TextBox 4"/>
          <p:cNvSpPr txBox="1"/>
          <p:nvPr/>
        </p:nvSpPr>
        <p:spPr>
          <a:xfrm>
            <a:off x="493776" y="1234440"/>
            <a:ext cx="10789920" cy="457200"/>
          </a:xfrm>
          <a:prstGeom prst="rect">
            <a:avLst/>
          </a:prstGeom>
          <a:noFill/>
        </p:spPr>
        <p:txBody>
          <a:bodyPr wrap="square">
            <a:spAutoFit/>
          </a:bodyPr>
          <a:lstStyle/>
          <a:p>
            <a:pPr>
              <a:defRPr sz="1300">
                <a:solidFill>
                  <a:srgbClr val="5E6976"/>
                </a:solidFill>
                <a:latin typeface="Aptos"/>
              </a:defRPr>
            </a:pPr>
            <a:r>
              <a:t>The gate treats single-user success as a rejection, even when the question sounds natural.</a:t>
            </a:r>
          </a:p>
        </p:txBody>
      </p:sp>
      <p:sp>
        <p:nvSpPr>
          <p:cNvPr id="6" name="TextBox 5"/>
          <p:cNvSpPr txBox="1"/>
          <p:nvPr/>
        </p:nvSpPr>
        <p:spPr>
          <a:xfrm>
            <a:off x="438912" y="6446520"/>
            <a:ext cx="9875520" cy="201168"/>
          </a:xfrm>
          <a:prstGeom prst="rect">
            <a:avLst/>
          </a:prstGeom>
          <a:noFill/>
        </p:spPr>
        <p:txBody>
          <a:bodyPr wrap="none">
            <a:spAutoFit/>
          </a:bodyPr>
          <a:lstStyle/>
          <a:p>
            <a:pPr>
              <a:defRPr sz="750">
                <a:solidFill>
                  <a:srgbClr val="5E6976"/>
                </a:solidFill>
                <a:latin typeface="Aptos"/>
              </a:defRPr>
            </a:pPr>
            <a:r>
              <a:t>Source: build_answerability_conditions and answerability_gate in video_qa_loop.py</a:t>
            </a:r>
          </a:p>
        </p:txBody>
      </p:sp>
      <p:sp>
        <p:nvSpPr>
          <p:cNvPr id="7" name="TextBox 6"/>
          <p:cNvSpPr txBox="1"/>
          <p:nvPr/>
        </p:nvSpPr>
        <p:spPr>
          <a:xfrm>
            <a:off x="11292840" y="6446520"/>
            <a:ext cx="457200" cy="201168"/>
          </a:xfrm>
          <a:prstGeom prst="rect">
            <a:avLst/>
          </a:prstGeom>
          <a:noFill/>
        </p:spPr>
        <p:txBody>
          <a:bodyPr wrap="none">
            <a:spAutoFit/>
          </a:bodyPr>
          <a:lstStyle/>
          <a:p>
            <a:pPr algn="r">
              <a:defRPr sz="750">
                <a:solidFill>
                  <a:srgbClr val="5E6976"/>
                </a:solidFill>
                <a:latin typeface="Aptos"/>
              </a:defRPr>
            </a:pPr>
            <a:r>
              <a:t>7</a:t>
            </a:r>
          </a:p>
        </p:txBody>
      </p:sp>
      <p:sp>
        <p:nvSpPr>
          <p:cNvPr id="8" name="Rounded Rectangle 7"/>
          <p:cNvSpPr/>
          <p:nvPr/>
        </p:nvSpPr>
        <p:spPr>
          <a:xfrm>
            <a:off x="822960" y="2148840"/>
            <a:ext cx="3017520" cy="1188720"/>
          </a:xfrm>
          <a:prstGeom prst="roundRect">
            <a:avLst/>
          </a:prstGeom>
          <a:solidFill>
            <a:srgbClr val="FFFFFF"/>
          </a:solidFill>
          <a:ln w="17780">
            <a:solidFill>
              <a:srgbClr val="BE463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2258568"/>
            <a:ext cx="2834639" cy="256032"/>
          </a:xfrm>
          <a:prstGeom prst="rect">
            <a:avLst/>
          </a:prstGeom>
          <a:noFill/>
        </p:spPr>
        <p:txBody>
          <a:bodyPr wrap="square">
            <a:normAutofit/>
          </a:bodyPr>
          <a:lstStyle/>
          <a:p>
            <a:pPr algn="ctr">
              <a:defRPr sz="1100" b="1">
                <a:solidFill>
                  <a:srgbClr val="BE463E"/>
                </a:solidFill>
                <a:latin typeface="Aptos"/>
              </a:defRPr>
            </a:pPr>
            <a:r>
              <a:t>single_user::&lt;user&gt;</a:t>
            </a:r>
          </a:p>
        </p:txBody>
      </p:sp>
      <p:sp>
        <p:nvSpPr>
          <p:cNvPr id="10" name="TextBox 9"/>
          <p:cNvSpPr txBox="1"/>
          <p:nvPr/>
        </p:nvSpPr>
        <p:spPr>
          <a:xfrm>
            <a:off x="932688" y="2587752"/>
            <a:ext cx="2798063" cy="685800"/>
          </a:xfrm>
          <a:prstGeom prst="rect">
            <a:avLst/>
          </a:prstGeom>
          <a:noFill/>
        </p:spPr>
        <p:txBody>
          <a:bodyPr wrap="square">
            <a:normAutofit/>
          </a:bodyPr>
          <a:lstStyle/>
          <a:p>
            <a:pPr algn="ctr">
              <a:defRPr sz="850" b="0">
                <a:solidFill>
                  <a:srgbClr val="242D39"/>
                </a:solidFill>
                <a:latin typeface="Aptos"/>
              </a:defRPr>
            </a:pPr>
            <a:r>
              <a:t>Each required user is tested alone. Correct answer here means leakage.</a:t>
            </a:r>
          </a:p>
        </p:txBody>
      </p:sp>
      <p:sp>
        <p:nvSpPr>
          <p:cNvPr id="11" name="Rounded Rectangle 10"/>
          <p:cNvSpPr/>
          <p:nvPr/>
        </p:nvSpPr>
        <p:spPr>
          <a:xfrm>
            <a:off x="4572000" y="2148840"/>
            <a:ext cx="3017520" cy="1188720"/>
          </a:xfrm>
          <a:prstGeom prst="roundRect">
            <a:avLst/>
          </a:prstGeom>
          <a:solidFill>
            <a:srgbClr val="FFFFFF"/>
          </a:solidFill>
          <a:ln w="17780">
            <a:solidFill>
              <a:srgbClr val="CD8B3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663440" y="2258568"/>
            <a:ext cx="2834639" cy="256032"/>
          </a:xfrm>
          <a:prstGeom prst="rect">
            <a:avLst/>
          </a:prstGeom>
          <a:noFill/>
        </p:spPr>
        <p:txBody>
          <a:bodyPr wrap="square">
            <a:normAutofit/>
          </a:bodyPr>
          <a:lstStyle/>
          <a:p>
            <a:pPr algn="ctr">
              <a:defRPr sz="1100" b="1">
                <a:solidFill>
                  <a:srgbClr val="CD8B30"/>
                </a:solidFill>
                <a:latin typeface="Aptos"/>
              </a:defRPr>
            </a:pPr>
            <a:r>
              <a:t>proper_subset::&lt;users&gt;</a:t>
            </a:r>
          </a:p>
        </p:txBody>
      </p:sp>
      <p:sp>
        <p:nvSpPr>
          <p:cNvPr id="13" name="TextBox 12"/>
          <p:cNvSpPr txBox="1"/>
          <p:nvPr/>
        </p:nvSpPr>
        <p:spPr>
          <a:xfrm>
            <a:off x="4681728" y="2587752"/>
            <a:ext cx="2798063" cy="685800"/>
          </a:xfrm>
          <a:prstGeom prst="rect">
            <a:avLst/>
          </a:prstGeom>
          <a:noFill/>
        </p:spPr>
        <p:txBody>
          <a:bodyPr wrap="square">
            <a:normAutofit/>
          </a:bodyPr>
          <a:lstStyle/>
          <a:p>
            <a:pPr algn="ctr">
              <a:defRPr sz="850" b="0">
                <a:solidFill>
                  <a:srgbClr val="242D39"/>
                </a:solidFill>
                <a:latin typeface="Aptos"/>
              </a:defRPr>
            </a:pPr>
            <a:r>
              <a:t>Used when more than two users are required. Any subset success blocks acceptance.</a:t>
            </a:r>
          </a:p>
        </p:txBody>
      </p:sp>
      <p:sp>
        <p:nvSpPr>
          <p:cNvPr id="14" name="Rounded Rectangle 13"/>
          <p:cNvSpPr/>
          <p:nvPr/>
        </p:nvSpPr>
        <p:spPr>
          <a:xfrm>
            <a:off x="8321040" y="2148840"/>
            <a:ext cx="3017520" cy="1188720"/>
          </a:xfrm>
          <a:prstGeom prst="roundRect">
            <a:avLst/>
          </a:prstGeom>
          <a:solidFill>
            <a:srgbClr val="FFFFFF"/>
          </a:solidFill>
          <a:ln w="17780">
            <a:solidFill>
              <a:srgbClr val="2A915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412480" y="2258568"/>
            <a:ext cx="2834639" cy="256032"/>
          </a:xfrm>
          <a:prstGeom prst="rect">
            <a:avLst/>
          </a:prstGeom>
          <a:noFill/>
        </p:spPr>
        <p:txBody>
          <a:bodyPr wrap="square">
            <a:normAutofit/>
          </a:bodyPr>
          <a:lstStyle/>
          <a:p>
            <a:pPr algn="ctr">
              <a:defRPr sz="1100" b="1">
                <a:solidFill>
                  <a:srgbClr val="2A915C"/>
                </a:solidFill>
                <a:latin typeface="Aptos"/>
              </a:defRPr>
            </a:pPr>
            <a:r>
              <a:t>combined_all_users</a:t>
            </a:r>
          </a:p>
        </p:txBody>
      </p:sp>
      <p:sp>
        <p:nvSpPr>
          <p:cNvPr id="16" name="TextBox 15"/>
          <p:cNvSpPr txBox="1"/>
          <p:nvPr/>
        </p:nvSpPr>
        <p:spPr>
          <a:xfrm>
            <a:off x="8430767" y="2587752"/>
            <a:ext cx="2798063" cy="685800"/>
          </a:xfrm>
          <a:prstGeom prst="rect">
            <a:avLst/>
          </a:prstGeom>
          <a:noFill/>
        </p:spPr>
        <p:txBody>
          <a:bodyPr wrap="square">
            <a:normAutofit/>
          </a:bodyPr>
          <a:lstStyle/>
          <a:p>
            <a:pPr algn="ctr">
              <a:defRPr sz="850" b="0">
                <a:solidFill>
                  <a:srgbClr val="242D39"/>
                </a:solidFill>
                <a:latin typeface="Aptos"/>
              </a:defRPr>
            </a:pPr>
            <a:r>
              <a:t>All required users together must select the correct option.</a:t>
            </a:r>
          </a:p>
        </p:txBody>
      </p:sp>
      <p:cxnSp>
        <p:nvCxnSpPr>
          <p:cNvPr id="17" name="Connector 16"/>
          <p:cNvCxnSpPr/>
          <p:nvPr/>
        </p:nvCxnSpPr>
        <p:spPr>
          <a:xfrm>
            <a:off x="3840480" y="2743200"/>
            <a:ext cx="731520" cy="0"/>
          </a:xfrm>
          <a:prstGeom prst="line">
            <a:avLst/>
          </a:prstGeom>
          <a:ln w="17780">
            <a:solidFill>
              <a:srgbClr val="5E6976"/>
            </a:solidFill>
            <a:prstDash val="dash"/>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7589520" y="2743200"/>
            <a:ext cx="731520" cy="0"/>
          </a:xfrm>
          <a:prstGeom prst="line">
            <a:avLst/>
          </a:prstGeom>
          <a:ln w="17780">
            <a:solidFill>
              <a:srgbClr val="5E6976"/>
            </a:solidFill>
            <a:prstDash val="dash"/>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868680" y="4206240"/>
            <a:ext cx="4983480" cy="1097280"/>
          </a:xfrm>
          <a:prstGeom prst="roundRect">
            <a:avLst/>
          </a:prstGeom>
          <a:solidFill>
            <a:srgbClr val="FFFFFF"/>
          </a:solidFill>
          <a:ln w="12700">
            <a:solidFill>
              <a:srgbClr val="D6DE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68680" y="4206240"/>
            <a:ext cx="73152" cy="1097280"/>
          </a:xfrm>
          <a:prstGeom prst="rect">
            <a:avLst/>
          </a:prstGeom>
          <a:solidFill>
            <a:srgbClr val="2A91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069848" y="4352544"/>
            <a:ext cx="4663440" cy="320040"/>
          </a:xfrm>
          <a:prstGeom prst="rect">
            <a:avLst/>
          </a:prstGeom>
          <a:noFill/>
        </p:spPr>
        <p:txBody>
          <a:bodyPr wrap="square">
            <a:normAutofit/>
          </a:bodyPr>
          <a:lstStyle/>
          <a:p>
            <a:pPr algn="l">
              <a:defRPr sz="1300" b="1">
                <a:solidFill>
                  <a:srgbClr val="182334"/>
                </a:solidFill>
                <a:latin typeface="Aptos"/>
              </a:defRPr>
            </a:pPr>
            <a:r>
              <a:t>Pass condition</a:t>
            </a:r>
          </a:p>
        </p:txBody>
      </p:sp>
      <p:sp>
        <p:nvSpPr>
          <p:cNvPr id="22" name="TextBox 21"/>
          <p:cNvSpPr txBox="1"/>
          <p:nvPr/>
        </p:nvSpPr>
        <p:spPr>
          <a:xfrm>
            <a:off x="1069848" y="4727448"/>
            <a:ext cx="4663440" cy="438912"/>
          </a:xfrm>
          <a:prstGeom prst="rect">
            <a:avLst/>
          </a:prstGeom>
          <a:noFill/>
        </p:spPr>
        <p:txBody>
          <a:bodyPr wrap="square">
            <a:normAutofit/>
          </a:bodyPr>
          <a:lstStyle/>
          <a:p>
            <a:pPr algn="l">
              <a:defRPr sz="1150" b="0">
                <a:solidFill>
                  <a:srgbClr val="242D39"/>
                </a:solidFill>
                <a:latin typeface="Aptos"/>
              </a:defRPr>
            </a:pPr>
            <a:r>
              <a:t>The combined condition selects the correct answer, and every single-user or proper-subset condition is insufficient or wrong.</a:t>
            </a:r>
          </a:p>
        </p:txBody>
      </p:sp>
      <p:sp>
        <p:nvSpPr>
          <p:cNvPr id="23" name="Rounded Rectangle 22"/>
          <p:cNvSpPr/>
          <p:nvPr/>
        </p:nvSpPr>
        <p:spPr>
          <a:xfrm>
            <a:off x="6309360" y="4206240"/>
            <a:ext cx="4983480" cy="1097280"/>
          </a:xfrm>
          <a:prstGeom prst="roundRect">
            <a:avLst/>
          </a:prstGeom>
          <a:solidFill>
            <a:srgbClr val="FFFFFF"/>
          </a:solidFill>
          <a:ln w="12700">
            <a:solidFill>
              <a:srgbClr val="D6DE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6309360" y="4206240"/>
            <a:ext cx="73152" cy="1097280"/>
          </a:xfrm>
          <a:prstGeom prst="rect">
            <a:avLst/>
          </a:prstGeom>
          <a:solidFill>
            <a:srgbClr val="BE46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510528" y="4352544"/>
            <a:ext cx="4663440" cy="320040"/>
          </a:xfrm>
          <a:prstGeom prst="rect">
            <a:avLst/>
          </a:prstGeom>
          <a:noFill/>
        </p:spPr>
        <p:txBody>
          <a:bodyPr wrap="square">
            <a:normAutofit/>
          </a:bodyPr>
          <a:lstStyle/>
          <a:p>
            <a:pPr algn="l">
              <a:defRPr sz="1300" b="1">
                <a:solidFill>
                  <a:srgbClr val="182334"/>
                </a:solidFill>
                <a:latin typeface="Aptos"/>
              </a:defRPr>
            </a:pPr>
            <a:r>
              <a:t>Fail condition</a:t>
            </a:r>
          </a:p>
        </p:txBody>
      </p:sp>
      <p:sp>
        <p:nvSpPr>
          <p:cNvPr id="26" name="TextBox 25"/>
          <p:cNvSpPr txBox="1"/>
          <p:nvPr/>
        </p:nvSpPr>
        <p:spPr>
          <a:xfrm>
            <a:off x="6510528" y="4727448"/>
            <a:ext cx="4663440" cy="438912"/>
          </a:xfrm>
          <a:prstGeom prst="rect">
            <a:avLst/>
          </a:prstGeom>
          <a:noFill/>
        </p:spPr>
        <p:txBody>
          <a:bodyPr wrap="square">
            <a:normAutofit/>
          </a:bodyPr>
          <a:lstStyle/>
          <a:p>
            <a:pPr algn="l">
              <a:defRPr sz="1150" b="0">
                <a:solidFill>
                  <a:srgbClr val="242D39"/>
                </a:solidFill>
                <a:latin typeface="Aptos"/>
              </a:defRPr>
            </a:pPr>
            <a:r>
              <a:t>Missing combined result, combined insufficient, combined wrong, or any restricted condition selecting the correct answer.</a:t>
            </a:r>
          </a:p>
        </p:txBody>
      </p:sp>
      <p:sp>
        <p:nvSpPr>
          <p:cNvPr id="27" name="TextBox 26"/>
          <p:cNvSpPr txBox="1"/>
          <p:nvPr/>
        </p:nvSpPr>
        <p:spPr>
          <a:xfrm>
            <a:off x="960120" y="5669280"/>
            <a:ext cx="10241280" cy="502920"/>
          </a:xfrm>
          <a:prstGeom prst="rect">
            <a:avLst/>
          </a:prstGeom>
          <a:noFill/>
        </p:spPr>
        <p:txBody>
          <a:bodyPr wrap="square">
            <a:normAutofit/>
          </a:bodyPr>
          <a:lstStyle/>
          <a:p>
            <a:pPr algn="ctr">
              <a:defRPr sz="1300" b="1">
                <a:solidFill>
                  <a:srgbClr val="182334"/>
                </a:solidFill>
                <a:latin typeface="Aptos"/>
              </a:defRPr>
            </a:pPr>
            <a:r>
              <a:t>In the current audit, single-video leakage is the largest blocker, which is useful: the gate is exposing exactly the shallow dependency we want to remove.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7F9FC"/>
        </a:solidFill>
        <a:effectLst/>
      </p:bgPr>
    </p:bg>
    <p:spTree>
      <p:nvGrpSpPr>
        <p:cNvPr id="1" name=""/>
        <p:cNvGrpSpPr/>
        <p:nvPr/>
      </p:nvGrpSpPr>
      <p:grpSpPr/>
      <p:sp>
        <p:nvSpPr>
          <p:cNvPr id="2" name="Rectangle 1"/>
          <p:cNvSpPr/>
          <p:nvPr/>
        </p:nvSpPr>
        <p:spPr>
          <a:xfrm>
            <a:off x="475488" y="256032"/>
            <a:ext cx="91440" cy="228600"/>
          </a:xfrm>
          <a:prstGeom prst="rect">
            <a:avLst/>
          </a:prstGeom>
          <a:solidFill>
            <a:srgbClr val="0080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37744"/>
            <a:ext cx="4389120" cy="274320"/>
          </a:xfrm>
          <a:prstGeom prst="rect">
            <a:avLst/>
          </a:prstGeom>
          <a:noFill/>
        </p:spPr>
        <p:txBody>
          <a:bodyPr wrap="none">
            <a:spAutoFit/>
          </a:bodyPr>
          <a:lstStyle/>
          <a:p>
            <a:pPr>
              <a:defRPr sz="850" b="1">
                <a:solidFill>
                  <a:srgbClr val="008080"/>
                </a:solidFill>
                <a:latin typeface="Aptos"/>
              </a:defRPr>
            </a:pPr>
            <a:r>
              <a:t>DISCOVERY-FIRST PIPELINE</a:t>
            </a:r>
          </a:p>
        </p:txBody>
      </p:sp>
      <p:sp>
        <p:nvSpPr>
          <p:cNvPr id="4" name="TextBox 3"/>
          <p:cNvSpPr txBox="1"/>
          <p:nvPr/>
        </p:nvSpPr>
        <p:spPr>
          <a:xfrm>
            <a:off x="475488" y="603504"/>
            <a:ext cx="11155680" cy="621792"/>
          </a:xfrm>
          <a:prstGeom prst="rect">
            <a:avLst/>
          </a:prstGeom>
          <a:noFill/>
        </p:spPr>
        <p:txBody>
          <a:bodyPr wrap="square">
            <a:spAutoFit/>
          </a:bodyPr>
          <a:lstStyle/>
          <a:p>
            <a:pPr>
              <a:defRPr sz="2800" b="1">
                <a:solidFill>
                  <a:srgbClr val="182334"/>
                </a:solidFill>
                <a:latin typeface="Aptos Display"/>
              </a:defRPr>
            </a:pPr>
            <a:r>
              <a:t>Traceability and retry behavior</a:t>
            </a:r>
          </a:p>
        </p:txBody>
      </p:sp>
      <p:sp>
        <p:nvSpPr>
          <p:cNvPr id="5" name="TextBox 4"/>
          <p:cNvSpPr txBox="1"/>
          <p:nvPr/>
        </p:nvSpPr>
        <p:spPr>
          <a:xfrm>
            <a:off x="493776" y="1234440"/>
            <a:ext cx="10789920" cy="457200"/>
          </a:xfrm>
          <a:prstGeom prst="rect">
            <a:avLst/>
          </a:prstGeom>
          <a:noFill/>
        </p:spPr>
        <p:txBody>
          <a:bodyPr wrap="square">
            <a:spAutoFit/>
          </a:bodyPr>
          <a:lstStyle/>
          <a:p>
            <a:pPr>
              <a:defRPr sz="1300">
                <a:solidFill>
                  <a:srgbClr val="5E6976"/>
                </a:solidFill>
                <a:latin typeface="Aptos"/>
              </a:defRPr>
            </a:pPr>
            <a:r>
              <a:t>Every attempt leaves enough state for debugging and human audit.</a:t>
            </a:r>
          </a:p>
        </p:txBody>
      </p:sp>
      <p:sp>
        <p:nvSpPr>
          <p:cNvPr id="6" name="TextBox 5"/>
          <p:cNvSpPr txBox="1"/>
          <p:nvPr/>
        </p:nvSpPr>
        <p:spPr>
          <a:xfrm>
            <a:off x="438912" y="6446520"/>
            <a:ext cx="9875520" cy="201168"/>
          </a:xfrm>
          <a:prstGeom prst="rect">
            <a:avLst/>
          </a:prstGeom>
          <a:noFill/>
        </p:spPr>
        <p:txBody>
          <a:bodyPr wrap="none">
            <a:spAutoFit/>
          </a:bodyPr>
          <a:lstStyle/>
          <a:p>
            <a:pPr>
              <a:defRPr sz="750">
                <a:solidFill>
                  <a:srgbClr val="5E6976"/>
                </a:solidFill>
                <a:latin typeface="Aptos"/>
              </a:defRPr>
            </a:pPr>
            <a:r>
              <a:t>Source: video_qa_loop.py, README.md</a:t>
            </a:r>
          </a:p>
        </p:txBody>
      </p:sp>
      <p:sp>
        <p:nvSpPr>
          <p:cNvPr id="7" name="TextBox 6"/>
          <p:cNvSpPr txBox="1"/>
          <p:nvPr/>
        </p:nvSpPr>
        <p:spPr>
          <a:xfrm>
            <a:off x="11292840" y="6446520"/>
            <a:ext cx="457200" cy="201168"/>
          </a:xfrm>
          <a:prstGeom prst="rect">
            <a:avLst/>
          </a:prstGeom>
          <a:noFill/>
        </p:spPr>
        <p:txBody>
          <a:bodyPr wrap="none">
            <a:spAutoFit/>
          </a:bodyPr>
          <a:lstStyle/>
          <a:p>
            <a:pPr algn="r">
              <a:defRPr sz="750">
                <a:solidFill>
                  <a:srgbClr val="5E6976"/>
                </a:solidFill>
                <a:latin typeface="Aptos"/>
              </a:defRPr>
            </a:pPr>
            <a:r>
              <a:t>8</a:t>
            </a:r>
          </a:p>
        </p:txBody>
      </p:sp>
      <p:sp>
        <p:nvSpPr>
          <p:cNvPr id="8" name="Rounded Rectangle 7"/>
          <p:cNvSpPr/>
          <p:nvPr/>
        </p:nvSpPr>
        <p:spPr>
          <a:xfrm>
            <a:off x="685800" y="1874519"/>
            <a:ext cx="3383280" cy="1325880"/>
          </a:xfrm>
          <a:prstGeom prst="roundRect">
            <a:avLst/>
          </a:prstGeom>
          <a:solidFill>
            <a:srgbClr val="FFFFFF"/>
          </a:solidFill>
          <a:ln w="12700">
            <a:solidFill>
              <a:srgbClr val="D6DE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85800" y="1874519"/>
            <a:ext cx="73152" cy="1325880"/>
          </a:xfrm>
          <a:prstGeom prst="rect">
            <a:avLst/>
          </a:prstGeom>
          <a:solidFill>
            <a:srgbClr val="BE46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86968" y="2020824"/>
            <a:ext cx="3063240" cy="320040"/>
          </a:xfrm>
          <a:prstGeom prst="rect">
            <a:avLst/>
          </a:prstGeom>
          <a:noFill/>
        </p:spPr>
        <p:txBody>
          <a:bodyPr wrap="square">
            <a:normAutofit/>
          </a:bodyPr>
          <a:lstStyle/>
          <a:p>
            <a:pPr algn="l">
              <a:defRPr sz="1300" b="1">
                <a:solidFill>
                  <a:srgbClr val="182334"/>
                </a:solidFill>
                <a:latin typeface="Aptos"/>
              </a:defRPr>
            </a:pPr>
            <a:r>
              <a:t>Feedback sources</a:t>
            </a:r>
          </a:p>
        </p:txBody>
      </p:sp>
      <p:sp>
        <p:nvSpPr>
          <p:cNvPr id="11" name="TextBox 10"/>
          <p:cNvSpPr txBox="1"/>
          <p:nvPr/>
        </p:nvSpPr>
        <p:spPr>
          <a:xfrm>
            <a:off x="886968" y="2395727"/>
            <a:ext cx="3063240" cy="667512"/>
          </a:xfrm>
          <a:prstGeom prst="rect">
            <a:avLst/>
          </a:prstGeom>
          <a:noFill/>
        </p:spPr>
        <p:txBody>
          <a:bodyPr wrap="square">
            <a:normAutofit/>
          </a:bodyPr>
          <a:lstStyle/>
          <a:p>
            <a:pPr algn="l">
              <a:defRPr sz="1150" b="0">
                <a:solidFill>
                  <a:srgbClr val="242D39"/>
                </a:solidFill>
                <a:latin typeface="Aptos"/>
              </a:defRPr>
            </a:pPr>
            <a:r>
              <a:t>Discovery JSON errors, generator JSON errors, schema errors, reviewer rejection, answerability failure, and strict validation errors.</a:t>
            </a:r>
          </a:p>
        </p:txBody>
      </p:sp>
      <p:sp>
        <p:nvSpPr>
          <p:cNvPr id="12" name="Rounded Rectangle 11"/>
          <p:cNvSpPr/>
          <p:nvPr/>
        </p:nvSpPr>
        <p:spPr>
          <a:xfrm>
            <a:off x="4389120" y="1874519"/>
            <a:ext cx="3383280" cy="1325880"/>
          </a:xfrm>
          <a:prstGeom prst="roundRect">
            <a:avLst/>
          </a:prstGeom>
          <a:solidFill>
            <a:srgbClr val="FFFFFF"/>
          </a:solidFill>
          <a:ln w="12700">
            <a:solidFill>
              <a:srgbClr val="D6DE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389120" y="1874519"/>
            <a:ext cx="73152" cy="1325880"/>
          </a:xfrm>
          <a:prstGeom prst="rect">
            <a:avLst/>
          </a:prstGeom>
          <a:solidFill>
            <a:srgbClr val="CD8B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90288" y="2020824"/>
            <a:ext cx="3063240" cy="320040"/>
          </a:xfrm>
          <a:prstGeom prst="rect">
            <a:avLst/>
          </a:prstGeom>
          <a:noFill/>
        </p:spPr>
        <p:txBody>
          <a:bodyPr wrap="square">
            <a:normAutofit/>
          </a:bodyPr>
          <a:lstStyle/>
          <a:p>
            <a:pPr algn="l">
              <a:defRPr sz="1300" b="1">
                <a:solidFill>
                  <a:srgbClr val="182334"/>
                </a:solidFill>
                <a:latin typeface="Aptos"/>
              </a:defRPr>
            </a:pPr>
            <a:r>
              <a:t>Feedback target</a:t>
            </a:r>
          </a:p>
        </p:txBody>
      </p:sp>
      <p:sp>
        <p:nvSpPr>
          <p:cNvPr id="15" name="TextBox 14"/>
          <p:cNvSpPr txBox="1"/>
          <p:nvPr/>
        </p:nvSpPr>
        <p:spPr>
          <a:xfrm>
            <a:off x="4590288" y="2395727"/>
            <a:ext cx="3063240" cy="667512"/>
          </a:xfrm>
          <a:prstGeom prst="rect">
            <a:avLst/>
          </a:prstGeom>
          <a:noFill/>
        </p:spPr>
        <p:txBody>
          <a:bodyPr wrap="square">
            <a:normAutofit/>
          </a:bodyPr>
          <a:lstStyle/>
          <a:p>
            <a:pPr algn="l">
              <a:defRPr sz="1150" b="0">
                <a:solidFill>
                  <a:srgbClr val="242D39"/>
                </a:solidFill>
                <a:latin typeface="Aptos"/>
              </a:defRPr>
            </a:pPr>
            <a:r>
              <a:t>The next attempt receives the feedback in both relation discovery and MCQ generation, with instructions to address the issue and avoid repeating it.</a:t>
            </a:r>
          </a:p>
        </p:txBody>
      </p:sp>
      <p:sp>
        <p:nvSpPr>
          <p:cNvPr id="16" name="Rounded Rectangle 15"/>
          <p:cNvSpPr/>
          <p:nvPr/>
        </p:nvSpPr>
        <p:spPr>
          <a:xfrm>
            <a:off x="8092440" y="1874519"/>
            <a:ext cx="3383280" cy="1325880"/>
          </a:xfrm>
          <a:prstGeom prst="roundRect">
            <a:avLst/>
          </a:prstGeom>
          <a:solidFill>
            <a:srgbClr val="FFFFFF"/>
          </a:solidFill>
          <a:ln w="12700">
            <a:solidFill>
              <a:srgbClr val="D6DE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092440" y="1874519"/>
            <a:ext cx="73152" cy="1325880"/>
          </a:xfrm>
          <a:prstGeom prst="rect">
            <a:avLst/>
          </a:prstGeom>
          <a:solidFill>
            <a:srgbClr val="0080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93608" y="2020824"/>
            <a:ext cx="3063240" cy="320040"/>
          </a:xfrm>
          <a:prstGeom prst="rect">
            <a:avLst/>
          </a:prstGeom>
          <a:noFill/>
        </p:spPr>
        <p:txBody>
          <a:bodyPr wrap="square">
            <a:normAutofit/>
          </a:bodyPr>
          <a:lstStyle/>
          <a:p>
            <a:pPr algn="l">
              <a:defRPr sz="1300" b="1">
                <a:solidFill>
                  <a:srgbClr val="182334"/>
                </a:solidFill>
                <a:latin typeface="Aptos"/>
              </a:defRPr>
            </a:pPr>
            <a:r>
              <a:t>Stored trace</a:t>
            </a:r>
          </a:p>
        </p:txBody>
      </p:sp>
      <p:sp>
        <p:nvSpPr>
          <p:cNvPr id="19" name="TextBox 18"/>
          <p:cNvSpPr txBox="1"/>
          <p:nvPr/>
        </p:nvSpPr>
        <p:spPr>
          <a:xfrm>
            <a:off x="8293608" y="2395727"/>
            <a:ext cx="3063240" cy="667512"/>
          </a:xfrm>
          <a:prstGeom prst="rect">
            <a:avLst/>
          </a:prstGeom>
          <a:noFill/>
        </p:spPr>
        <p:txBody>
          <a:bodyPr wrap="square">
            <a:normAutofit/>
          </a:bodyPr>
          <a:lstStyle/>
          <a:p>
            <a:pPr algn="l">
              <a:defRPr sz="1150" b="0">
                <a:solidFill>
                  <a:srgbClr val="242D39"/>
                </a:solidFill>
                <a:latin typeface="Aptos"/>
              </a:defRPr>
            </a:pPr>
            <a:r>
              <a:t>Prompt/raw output pairs, parsed relation, normalized QA fields, judge output, answerability conditions, media paths, and human audit packet.</a:t>
            </a:r>
          </a:p>
        </p:txBody>
      </p:sp>
      <p:sp>
        <p:nvSpPr>
          <p:cNvPr id="20" name="TextBox 19"/>
          <p:cNvSpPr txBox="1"/>
          <p:nvPr/>
        </p:nvSpPr>
        <p:spPr>
          <a:xfrm>
            <a:off x="868680" y="3794760"/>
            <a:ext cx="2926080" cy="274320"/>
          </a:xfrm>
          <a:prstGeom prst="rect">
            <a:avLst/>
          </a:prstGeom>
          <a:noFill/>
        </p:spPr>
        <p:txBody>
          <a:bodyPr wrap="square">
            <a:normAutofit/>
          </a:bodyPr>
          <a:lstStyle/>
          <a:p>
            <a:pPr algn="l">
              <a:defRPr sz="1500" b="1">
                <a:solidFill>
                  <a:srgbClr val="182334"/>
                </a:solidFill>
                <a:latin typeface="Aptos"/>
              </a:defRPr>
            </a:pPr>
            <a:r>
              <a:t>Accepted QA row contains</a:t>
            </a:r>
          </a:p>
        </p:txBody>
      </p:sp>
      <p:sp>
        <p:nvSpPr>
          <p:cNvPr id="21" name="TextBox 20"/>
          <p:cNvSpPr txBox="1"/>
          <p:nvPr/>
        </p:nvSpPr>
        <p:spPr>
          <a:xfrm>
            <a:off x="914400" y="4206240"/>
            <a:ext cx="4754880" cy="1463040"/>
          </a:xfrm>
          <a:prstGeom prst="rect">
            <a:avLst/>
          </a:prstGeom>
          <a:noFill/>
        </p:spPr>
        <p:txBody>
          <a:bodyPr wrap="square">
            <a:normAutofit/>
          </a:bodyPr>
          <a:lstStyle/>
          <a:p>
            <a:pPr>
              <a:lnSpc>
                <a:spcPct val="100000"/>
              </a:lnSpc>
              <a:spcAft>
                <a:spcPts val="700"/>
              </a:spcAft>
              <a:defRPr sz="1250">
                <a:solidFill>
                  <a:srgbClr val="242D39"/>
                </a:solidFill>
                <a:latin typeface="Aptos"/>
              </a:defRPr>
            </a:pPr>
            <a:r>
              <a:t>video_evidence and referred_timestamps for inspection</a:t>
            </a:r>
          </a:p>
          <a:p>
            <a:pPr>
              <a:lnSpc>
                <a:spcPct val="100000"/>
              </a:lnSpc>
              <a:spcAft>
                <a:spcPts val="700"/>
              </a:spcAft>
              <a:defRPr sz="1250">
                <a:solidFill>
                  <a:srgbClr val="242D39"/>
                </a:solidFill>
                <a:latin typeface="Aptos"/>
              </a:defRPr>
            </a:pPr>
            <a:r>
              <a:t>human_audit packet with review instructions</a:t>
            </a:r>
          </a:p>
          <a:p>
            <a:pPr>
              <a:lnSpc>
                <a:spcPct val="100000"/>
              </a:lnSpc>
              <a:spcAft>
                <a:spcPts val="700"/>
              </a:spcAft>
              <a:defRPr sz="1250">
                <a:solidFill>
                  <a:srgbClr val="242D39"/>
                </a:solidFill>
                <a:latin typeface="Aptos"/>
              </a:defRPr>
            </a:pPr>
            <a:r>
              <a:t>generation_trace with every attempt</a:t>
            </a:r>
          </a:p>
          <a:p>
            <a:pPr>
              <a:lnSpc>
                <a:spcPct val="100000"/>
              </a:lnSpc>
              <a:spcAft>
                <a:spcPts val="700"/>
              </a:spcAft>
              <a:defRPr sz="1250">
                <a:solidFill>
                  <a:srgbClr val="242D39"/>
                </a:solidFill>
                <a:latin typeface="Aptos"/>
              </a:defRPr>
            </a:pPr>
            <a:r>
              <a:t>final review derived from gates, not only model self-check text</a:t>
            </a:r>
          </a:p>
        </p:txBody>
      </p:sp>
      <p:sp>
        <p:nvSpPr>
          <p:cNvPr id="22" name="TextBox 21"/>
          <p:cNvSpPr txBox="1"/>
          <p:nvPr/>
        </p:nvSpPr>
        <p:spPr>
          <a:xfrm>
            <a:off x="6400800" y="3794760"/>
            <a:ext cx="3108960" cy="274320"/>
          </a:xfrm>
          <a:prstGeom prst="rect">
            <a:avLst/>
          </a:prstGeom>
          <a:noFill/>
        </p:spPr>
        <p:txBody>
          <a:bodyPr wrap="square">
            <a:normAutofit/>
          </a:bodyPr>
          <a:lstStyle/>
          <a:p>
            <a:pPr algn="l">
              <a:defRPr sz="1500" b="1">
                <a:solidFill>
                  <a:srgbClr val="182334"/>
                </a:solidFill>
                <a:latin typeface="Aptos"/>
              </a:defRPr>
            </a:pPr>
            <a:r>
              <a:t>Rejected packet row contains</a:t>
            </a:r>
          </a:p>
        </p:txBody>
      </p:sp>
      <p:sp>
        <p:nvSpPr>
          <p:cNvPr id="23" name="TextBox 22"/>
          <p:cNvSpPr txBox="1"/>
          <p:nvPr/>
        </p:nvSpPr>
        <p:spPr>
          <a:xfrm>
            <a:off x="6446520" y="4206240"/>
            <a:ext cx="4754880" cy="1463040"/>
          </a:xfrm>
          <a:prstGeom prst="rect">
            <a:avLst/>
          </a:prstGeom>
          <a:noFill/>
        </p:spPr>
        <p:txBody>
          <a:bodyPr wrap="square">
            <a:normAutofit/>
          </a:bodyPr>
          <a:lstStyle/>
          <a:p>
            <a:pPr>
              <a:lnSpc>
                <a:spcPct val="100000"/>
              </a:lnSpc>
              <a:spcAft>
                <a:spcPts val="700"/>
              </a:spcAft>
              <a:defRPr sz="1250">
                <a:solidFill>
                  <a:srgbClr val="242D39"/>
                </a:solidFill>
                <a:latin typeface="Aptos"/>
              </a:defRPr>
            </a:pPr>
            <a:r>
              <a:t>all failed attempts and reasons</a:t>
            </a:r>
          </a:p>
          <a:p>
            <a:pPr>
              <a:lnSpc>
                <a:spcPct val="100000"/>
              </a:lnSpc>
              <a:spcAft>
                <a:spcPts val="700"/>
              </a:spcAft>
              <a:defRPr sz="1250">
                <a:solidFill>
                  <a:srgbClr val="242D39"/>
                </a:solidFill>
                <a:latin typeface="Aptos"/>
              </a:defRPr>
            </a:pPr>
            <a:r>
              <a:t>last review object when available</a:t>
            </a:r>
          </a:p>
          <a:p>
            <a:pPr>
              <a:lnSpc>
                <a:spcPct val="100000"/>
              </a:lnSpc>
              <a:spcAft>
                <a:spcPts val="700"/>
              </a:spcAft>
              <a:defRPr sz="1250">
                <a:solidFill>
                  <a:srgbClr val="242D39"/>
                </a:solidFill>
                <a:latin typeface="Aptos"/>
              </a:defRPr>
            </a:pPr>
            <a:r>
              <a:t>same trace structure for failure analysis</a:t>
            </a:r>
          </a:p>
          <a:p>
            <a:pPr>
              <a:lnSpc>
                <a:spcPct val="100000"/>
              </a:lnSpc>
              <a:spcAft>
                <a:spcPts val="700"/>
              </a:spcAft>
              <a:defRPr sz="1250">
                <a:solidFill>
                  <a:srgbClr val="242D39"/>
                </a:solidFill>
                <a:latin typeface="Aptos"/>
              </a:defRPr>
            </a:pPr>
            <a:r>
              <a:t>enough media metadata to reproduce the decision</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7F9FC"/>
        </a:solidFill>
        <a:effectLst/>
      </p:bgPr>
    </p:bg>
    <p:spTree>
      <p:nvGrpSpPr>
        <p:cNvPr id="1" name=""/>
        <p:cNvGrpSpPr/>
        <p:nvPr/>
      </p:nvGrpSpPr>
      <p:grpSpPr/>
      <p:sp>
        <p:nvSpPr>
          <p:cNvPr id="2" name="Rectangle 1"/>
          <p:cNvSpPr/>
          <p:nvPr/>
        </p:nvSpPr>
        <p:spPr>
          <a:xfrm>
            <a:off x="475488" y="256032"/>
            <a:ext cx="91440" cy="228600"/>
          </a:xfrm>
          <a:prstGeom prst="rect">
            <a:avLst/>
          </a:prstGeom>
          <a:solidFill>
            <a:srgbClr val="0080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37744"/>
            <a:ext cx="4389120" cy="274320"/>
          </a:xfrm>
          <a:prstGeom prst="rect">
            <a:avLst/>
          </a:prstGeom>
          <a:noFill/>
        </p:spPr>
        <p:txBody>
          <a:bodyPr wrap="none">
            <a:spAutoFit/>
          </a:bodyPr>
          <a:lstStyle/>
          <a:p>
            <a:pPr>
              <a:defRPr sz="850" b="1">
                <a:solidFill>
                  <a:srgbClr val="008080"/>
                </a:solidFill>
                <a:latin typeface="Aptos"/>
              </a:defRPr>
            </a:pPr>
            <a:r>
              <a:t>EXPERIMENT RESULTS</a:t>
            </a:r>
          </a:p>
        </p:txBody>
      </p:sp>
      <p:sp>
        <p:nvSpPr>
          <p:cNvPr id="4" name="TextBox 3"/>
          <p:cNvSpPr txBox="1"/>
          <p:nvPr/>
        </p:nvSpPr>
        <p:spPr>
          <a:xfrm>
            <a:off x="475488" y="603504"/>
            <a:ext cx="11155680" cy="621792"/>
          </a:xfrm>
          <a:prstGeom prst="rect">
            <a:avLst/>
          </a:prstGeom>
          <a:noFill/>
        </p:spPr>
        <p:txBody>
          <a:bodyPr wrap="square">
            <a:spAutoFit/>
          </a:bodyPr>
          <a:lstStyle/>
          <a:p>
            <a:pPr>
              <a:defRPr sz="2800" b="1">
                <a:solidFill>
                  <a:srgbClr val="182334"/>
                </a:solidFill>
                <a:latin typeface="Aptos Display"/>
              </a:defRPr>
            </a:pPr>
            <a:r>
              <a:t>Small audit results</a:t>
            </a:r>
          </a:p>
        </p:txBody>
      </p:sp>
      <p:sp>
        <p:nvSpPr>
          <p:cNvPr id="5" name="TextBox 4"/>
          <p:cNvSpPr txBox="1"/>
          <p:nvPr/>
        </p:nvSpPr>
        <p:spPr>
          <a:xfrm>
            <a:off x="493776" y="1234440"/>
            <a:ext cx="10789920" cy="457200"/>
          </a:xfrm>
          <a:prstGeom prst="rect">
            <a:avLst/>
          </a:prstGeom>
          <a:noFill/>
        </p:spPr>
        <p:txBody>
          <a:bodyPr wrap="square">
            <a:spAutoFit/>
          </a:bodyPr>
          <a:lstStyle/>
          <a:p>
            <a:pPr>
              <a:defRPr sz="1300">
                <a:solidFill>
                  <a:srgbClr val="5E6976"/>
                </a:solidFill>
                <a:latin typeface="Aptos"/>
              </a:defRPr>
            </a:pPr>
            <a:r>
              <a:t>One table summarizes the 5-packet study in the spreadsheet; names in the first column are experimental configurations from that file.</a:t>
            </a:r>
          </a:p>
        </p:txBody>
      </p:sp>
      <p:sp>
        <p:nvSpPr>
          <p:cNvPr id="6" name="TextBox 5"/>
          <p:cNvSpPr txBox="1"/>
          <p:nvPr/>
        </p:nvSpPr>
        <p:spPr>
          <a:xfrm>
            <a:off x="438912" y="6446520"/>
            <a:ext cx="9875520" cy="201168"/>
          </a:xfrm>
          <a:prstGeom prst="rect">
            <a:avLst/>
          </a:prstGeom>
          <a:noFill/>
        </p:spPr>
        <p:txBody>
          <a:bodyPr wrap="none">
            <a:spAutoFit/>
          </a:bodyPr>
          <a:lstStyle/>
          <a:p>
            <a:pPr>
              <a:defRPr sz="750">
                <a:solidFill>
                  <a:srgbClr val="5E6976"/>
                </a:solidFill>
                <a:latin typeface="Aptos"/>
              </a:defRPr>
            </a:pPr>
            <a:r>
              <a:t>Source: template_vs_nontemplate_qa_study.xlsx, Summary sheet</a:t>
            </a:r>
          </a:p>
        </p:txBody>
      </p:sp>
      <p:sp>
        <p:nvSpPr>
          <p:cNvPr id="7" name="TextBox 6"/>
          <p:cNvSpPr txBox="1"/>
          <p:nvPr/>
        </p:nvSpPr>
        <p:spPr>
          <a:xfrm>
            <a:off x="11292840" y="6446520"/>
            <a:ext cx="457200" cy="201168"/>
          </a:xfrm>
          <a:prstGeom prst="rect">
            <a:avLst/>
          </a:prstGeom>
          <a:noFill/>
        </p:spPr>
        <p:txBody>
          <a:bodyPr wrap="none">
            <a:spAutoFit/>
          </a:bodyPr>
          <a:lstStyle/>
          <a:p>
            <a:pPr algn="r">
              <a:defRPr sz="750">
                <a:solidFill>
                  <a:srgbClr val="5E6976"/>
                </a:solidFill>
                <a:latin typeface="Aptos"/>
              </a:defRPr>
            </a:pPr>
            <a:r>
              <a:t>9</a:t>
            </a:r>
          </a:p>
        </p:txBody>
      </p:sp>
      <p:graphicFrame>
        <p:nvGraphicFramePr>
          <p:cNvPr id="8" name="Table 7"/>
          <p:cNvGraphicFramePr>
            <a:graphicFrameLocks noGrp="1"/>
          </p:cNvGraphicFramePr>
          <p:nvPr/>
        </p:nvGraphicFramePr>
        <p:xfrm>
          <a:off x="640080" y="1920240"/>
          <a:ext cx="10058400" cy="1508760"/>
        </p:xfrm>
        <a:graphic>
          <a:graphicData uri="http://schemas.openxmlformats.org/drawingml/2006/table">
            <a:tbl>
              <a:tblPr firstRow="1" bandRow="1">
                <a:tableStyleId>{5C22544A-7EE6-4342-B048-85BDC9FD1C3A}</a:tableStyleId>
              </a:tblPr>
              <a:tblGrid>
                <a:gridCol w="1828800"/>
                <a:gridCol w="1005840"/>
                <a:gridCol w="1005840"/>
                <a:gridCol w="1005840"/>
                <a:gridCol w="1143000"/>
                <a:gridCol w="1417320"/>
                <a:gridCol w="1508760"/>
                <a:gridCol w="1143000"/>
              </a:tblGrid>
              <a:tr h="377190">
                <a:tc>
                  <a:txBody>
                    <a:bodyPr wrap="square">
                      <a:normAutofit/>
                    </a:bodyPr>
                    <a:lstStyle/>
                    <a:p>
                      <a:pPr algn="ctr">
                        <a:defRPr sz="819" b="1">
                          <a:solidFill>
                            <a:srgbClr val="FFFFFF"/>
                          </a:solidFill>
                          <a:latin typeface="Aptos"/>
                        </a:defRPr>
                      </a:pPr>
                      <a:r>
                        <a:t>configuration</a:t>
                      </a:r>
                    </a:p>
                  </a:txBody>
                  <a:tcPr marL="36576" marR="36576" marT="27432" marB="27432">
                    <a:solidFill>
                      <a:srgbClr val="263B53"/>
                    </a:solidFill>
                  </a:tcPr>
                </a:tc>
                <a:tc>
                  <a:txBody>
                    <a:bodyPr wrap="square">
                      <a:normAutofit/>
                    </a:bodyPr>
                    <a:lstStyle/>
                    <a:p>
                      <a:pPr algn="ctr">
                        <a:defRPr sz="819" b="1">
                          <a:solidFill>
                            <a:srgbClr val="FFFFFF"/>
                          </a:solidFill>
                          <a:latin typeface="Aptos"/>
                        </a:defRPr>
                      </a:pPr>
                      <a:r>
                        <a:t>packets</a:t>
                      </a:r>
                    </a:p>
                  </a:txBody>
                  <a:tcPr marL="36576" marR="36576" marT="27432" marB="27432">
                    <a:solidFill>
                      <a:srgbClr val="263B53"/>
                    </a:solidFill>
                  </a:tcPr>
                </a:tc>
                <a:tc>
                  <a:txBody>
                    <a:bodyPr wrap="square">
                      <a:normAutofit/>
                    </a:bodyPr>
                    <a:lstStyle/>
                    <a:p>
                      <a:pPr algn="ctr">
                        <a:defRPr sz="819" b="1">
                          <a:solidFill>
                            <a:srgbClr val="FFFFFF"/>
                          </a:solidFill>
                          <a:latin typeface="Aptos"/>
                        </a:defRPr>
                      </a:pPr>
                      <a:r>
                        <a:t>accepted</a:t>
                      </a:r>
                    </a:p>
                  </a:txBody>
                  <a:tcPr marL="36576" marR="36576" marT="27432" marB="27432">
                    <a:solidFill>
                      <a:srgbClr val="263B53"/>
                    </a:solidFill>
                  </a:tcPr>
                </a:tc>
                <a:tc>
                  <a:txBody>
                    <a:bodyPr wrap="square">
                      <a:normAutofit/>
                    </a:bodyPr>
                    <a:lstStyle/>
                    <a:p>
                      <a:pPr algn="ctr">
                        <a:defRPr sz="819" b="1">
                          <a:solidFill>
                            <a:srgbClr val="FFFFFF"/>
                          </a:solidFill>
                          <a:latin typeface="Aptos"/>
                        </a:defRPr>
                      </a:pPr>
                      <a:r>
                        <a:t>attempts</a:t>
                      </a:r>
                    </a:p>
                  </a:txBody>
                  <a:tcPr marL="36576" marR="36576" marT="27432" marB="27432">
                    <a:solidFill>
                      <a:srgbClr val="263B53"/>
                    </a:solidFill>
                  </a:tcPr>
                </a:tc>
                <a:tc>
                  <a:txBody>
                    <a:bodyPr wrap="square">
                      <a:normAutofit/>
                    </a:bodyPr>
                    <a:lstStyle/>
                    <a:p>
                      <a:pPr algn="ctr">
                        <a:defRPr sz="819" b="1">
                          <a:solidFill>
                            <a:srgbClr val="FFFFFF"/>
                          </a:solidFill>
                          <a:latin typeface="Aptos"/>
                        </a:defRPr>
                      </a:pPr>
                      <a:r>
                        <a:t>judger rej.</a:t>
                      </a:r>
                    </a:p>
                  </a:txBody>
                  <a:tcPr marL="36576" marR="36576" marT="27432" marB="27432">
                    <a:solidFill>
                      <a:srgbClr val="263B53"/>
                    </a:solidFill>
                  </a:tcPr>
                </a:tc>
                <a:tc>
                  <a:txBody>
                    <a:bodyPr wrap="square">
                      <a:normAutofit/>
                    </a:bodyPr>
                    <a:lstStyle/>
                    <a:p>
                      <a:pPr algn="ctr">
                        <a:defRPr sz="819" b="1">
                          <a:solidFill>
                            <a:srgbClr val="FFFFFF"/>
                          </a:solidFill>
                          <a:latin typeface="Aptos"/>
                        </a:defRPr>
                      </a:pPr>
                      <a:r>
                        <a:t>answerability rej.</a:t>
                      </a:r>
                    </a:p>
                  </a:txBody>
                  <a:tcPr marL="36576" marR="36576" marT="27432" marB="27432">
                    <a:solidFill>
                      <a:srgbClr val="263B53"/>
                    </a:solidFill>
                  </a:tcPr>
                </a:tc>
                <a:tc>
                  <a:txBody>
                    <a:bodyPr wrap="square">
                      <a:normAutofit/>
                    </a:bodyPr>
                    <a:lstStyle/>
                    <a:p>
                      <a:pPr algn="ctr">
                        <a:defRPr sz="819" b="1">
                          <a:solidFill>
                            <a:srgbClr val="FFFFFF"/>
                          </a:solidFill>
                          <a:latin typeface="Aptos"/>
                        </a:defRPr>
                      </a:pPr>
                      <a:r>
                        <a:t>single-view leakage</a:t>
                      </a:r>
                    </a:p>
                  </a:txBody>
                  <a:tcPr marL="36576" marR="36576" marT="27432" marB="27432">
                    <a:solidFill>
                      <a:srgbClr val="263B53"/>
                    </a:solidFill>
                  </a:tcPr>
                </a:tc>
                <a:tc>
                  <a:txBody>
                    <a:bodyPr wrap="square">
                      <a:normAutofit/>
                    </a:bodyPr>
                    <a:lstStyle/>
                    <a:p>
                      <a:pPr algn="ctr">
                        <a:defRPr sz="819" b="1">
                          <a:solidFill>
                            <a:srgbClr val="FFFFFF"/>
                          </a:solidFill>
                          <a:latin typeface="Aptos"/>
                        </a:defRPr>
                      </a:pPr>
                      <a:r>
                        <a:t>acceptance</a:t>
                      </a:r>
                    </a:p>
                  </a:txBody>
                  <a:tcPr marL="36576" marR="36576" marT="27432" marB="27432">
                    <a:solidFill>
                      <a:srgbClr val="263B53"/>
                    </a:solidFill>
                  </a:tcPr>
                </a:tc>
              </a:tr>
              <a:tr h="377190">
                <a:tc>
                  <a:txBody>
                    <a:bodyPr wrap="square">
                      <a:normAutofit/>
                    </a:bodyPr>
                    <a:lstStyle/>
                    <a:p>
                      <a:pPr algn="ctr">
                        <a:defRPr sz="819" b="0">
                          <a:solidFill>
                            <a:srgbClr val="242D39"/>
                          </a:solidFill>
                          <a:latin typeface="Aptos"/>
                        </a:defRPr>
                      </a:pPr>
                      <a:r>
                        <a:t>baseline</a:t>
                      </a:r>
                    </a:p>
                  </a:txBody>
                  <a:tcPr marL="36576" marR="36576" marT="27432" marB="27432">
                    <a:solidFill>
                      <a:srgbClr val="FFFFFF"/>
                    </a:solidFill>
                  </a:tcPr>
                </a:tc>
                <a:tc>
                  <a:txBody>
                    <a:bodyPr wrap="square">
                      <a:normAutofit/>
                    </a:bodyPr>
                    <a:lstStyle/>
                    <a:p>
                      <a:pPr algn="ctr">
                        <a:defRPr sz="819" b="0">
                          <a:solidFill>
                            <a:srgbClr val="242D39"/>
                          </a:solidFill>
                          <a:latin typeface="Aptos"/>
                        </a:defRPr>
                      </a:pPr>
                      <a:r>
                        <a:t>5</a:t>
                      </a:r>
                    </a:p>
                  </a:txBody>
                  <a:tcPr marL="36576" marR="36576" marT="27432" marB="27432">
                    <a:solidFill>
                      <a:srgbClr val="FFFFFF"/>
                    </a:solidFill>
                  </a:tcPr>
                </a:tc>
                <a:tc>
                  <a:txBody>
                    <a:bodyPr wrap="square">
                      <a:normAutofit/>
                    </a:bodyPr>
                    <a:lstStyle/>
                    <a:p>
                      <a:pPr algn="ctr">
                        <a:defRPr sz="819" b="0">
                          <a:solidFill>
                            <a:srgbClr val="242D39"/>
                          </a:solidFill>
                          <a:latin typeface="Aptos"/>
                        </a:defRPr>
                      </a:pPr>
                      <a:r>
                        <a:t>0</a:t>
                      </a:r>
                    </a:p>
                  </a:txBody>
                  <a:tcPr marL="36576" marR="36576" marT="27432" marB="27432">
                    <a:solidFill>
                      <a:srgbClr val="FFFFFF"/>
                    </a:solidFill>
                  </a:tcPr>
                </a:tc>
                <a:tc>
                  <a:txBody>
                    <a:bodyPr wrap="square">
                      <a:normAutofit/>
                    </a:bodyPr>
                    <a:lstStyle/>
                    <a:p>
                      <a:pPr algn="ctr">
                        <a:defRPr sz="819" b="0">
                          <a:solidFill>
                            <a:srgbClr val="242D39"/>
                          </a:solidFill>
                          <a:latin typeface="Aptos"/>
                        </a:defRPr>
                      </a:pPr>
                      <a:r>
                        <a:t>15</a:t>
                      </a:r>
                    </a:p>
                  </a:txBody>
                  <a:tcPr marL="36576" marR="36576" marT="27432" marB="27432">
                    <a:solidFill>
                      <a:srgbClr val="FFFFFF"/>
                    </a:solidFill>
                  </a:tcPr>
                </a:tc>
                <a:tc>
                  <a:txBody>
                    <a:bodyPr wrap="square">
                      <a:normAutofit/>
                    </a:bodyPr>
                    <a:lstStyle/>
                    <a:p>
                      <a:pPr algn="ctr">
                        <a:defRPr sz="819" b="0">
                          <a:solidFill>
                            <a:srgbClr val="242D39"/>
                          </a:solidFill>
                          <a:latin typeface="Aptos"/>
                        </a:defRPr>
                      </a:pPr>
                      <a:r>
                        <a:t>2</a:t>
                      </a:r>
                    </a:p>
                  </a:txBody>
                  <a:tcPr marL="36576" marR="36576" marT="27432" marB="27432">
                    <a:solidFill>
                      <a:srgbClr val="FFFFFF"/>
                    </a:solidFill>
                  </a:tcPr>
                </a:tc>
                <a:tc>
                  <a:txBody>
                    <a:bodyPr wrap="square">
                      <a:normAutofit/>
                    </a:bodyPr>
                    <a:lstStyle/>
                    <a:p>
                      <a:pPr algn="ctr">
                        <a:defRPr sz="819" b="0">
                          <a:solidFill>
                            <a:srgbClr val="242D39"/>
                          </a:solidFill>
                          <a:latin typeface="Aptos"/>
                        </a:defRPr>
                      </a:pPr>
                      <a:r>
                        <a:t>13</a:t>
                      </a:r>
                    </a:p>
                  </a:txBody>
                  <a:tcPr marL="36576" marR="36576" marT="27432" marB="27432">
                    <a:solidFill>
                      <a:srgbClr val="FFFFFF"/>
                    </a:solidFill>
                  </a:tcPr>
                </a:tc>
                <a:tc>
                  <a:txBody>
                    <a:bodyPr wrap="square">
                      <a:normAutofit/>
                    </a:bodyPr>
                    <a:lstStyle/>
                    <a:p>
                      <a:pPr algn="ctr">
                        <a:defRPr sz="819" b="0">
                          <a:solidFill>
                            <a:srgbClr val="242D39"/>
                          </a:solidFill>
                          <a:latin typeface="Aptos"/>
                        </a:defRPr>
                      </a:pPr>
                      <a:r>
                        <a:t>12</a:t>
                      </a:r>
                    </a:p>
                  </a:txBody>
                  <a:tcPr marL="36576" marR="36576" marT="27432" marB="27432">
                    <a:solidFill>
                      <a:srgbClr val="FFFFFF"/>
                    </a:solidFill>
                  </a:tcPr>
                </a:tc>
                <a:tc>
                  <a:txBody>
                    <a:bodyPr wrap="square">
                      <a:normAutofit/>
                    </a:bodyPr>
                    <a:lstStyle/>
                    <a:p>
                      <a:pPr algn="ctr">
                        <a:defRPr sz="819" b="0">
                          <a:solidFill>
                            <a:srgbClr val="242D39"/>
                          </a:solidFill>
                          <a:latin typeface="Aptos"/>
                        </a:defRPr>
                      </a:pPr>
                      <a:r>
                        <a:t>0%</a:t>
                      </a:r>
                    </a:p>
                  </a:txBody>
                  <a:tcPr marL="36576" marR="36576" marT="27432" marB="27432">
                    <a:solidFill>
                      <a:srgbClr val="FFFFFF"/>
                    </a:solidFill>
                  </a:tcPr>
                </a:tc>
              </a:tr>
              <a:tr h="377190">
                <a:tc>
                  <a:txBody>
                    <a:bodyPr wrap="square">
                      <a:normAutofit/>
                    </a:bodyPr>
                    <a:lstStyle/>
                    <a:p>
                      <a:pPr algn="ctr">
                        <a:defRPr sz="819" b="0">
                          <a:solidFill>
                            <a:srgbClr val="242D39"/>
                          </a:solidFill>
                          <a:latin typeface="Aptos"/>
                        </a:defRPr>
                      </a:pPr>
                      <a:r>
                        <a:t>clip_guided</a:t>
                      </a:r>
                    </a:p>
                  </a:txBody>
                  <a:tcPr marL="36576" marR="36576" marT="27432" marB="27432">
                    <a:solidFill>
                      <a:srgbClr val="FBFCFE"/>
                    </a:solidFill>
                  </a:tcPr>
                </a:tc>
                <a:tc>
                  <a:txBody>
                    <a:bodyPr wrap="square">
                      <a:normAutofit/>
                    </a:bodyPr>
                    <a:lstStyle/>
                    <a:p>
                      <a:pPr algn="ctr">
                        <a:defRPr sz="819" b="0">
                          <a:solidFill>
                            <a:srgbClr val="242D39"/>
                          </a:solidFill>
                          <a:latin typeface="Aptos"/>
                        </a:defRPr>
                      </a:pPr>
                      <a:r>
                        <a:t>5</a:t>
                      </a:r>
                    </a:p>
                  </a:txBody>
                  <a:tcPr marL="36576" marR="36576" marT="27432" marB="27432">
                    <a:solidFill>
                      <a:srgbClr val="FBFCFE"/>
                    </a:solidFill>
                  </a:tcPr>
                </a:tc>
                <a:tc>
                  <a:txBody>
                    <a:bodyPr wrap="square">
                      <a:normAutofit/>
                    </a:bodyPr>
                    <a:lstStyle/>
                    <a:p>
                      <a:pPr algn="ctr">
                        <a:defRPr sz="819" b="0">
                          <a:solidFill>
                            <a:srgbClr val="242D39"/>
                          </a:solidFill>
                          <a:latin typeface="Aptos"/>
                        </a:defRPr>
                      </a:pPr>
                      <a:r>
                        <a:t>0</a:t>
                      </a:r>
                    </a:p>
                  </a:txBody>
                  <a:tcPr marL="36576" marR="36576" marT="27432" marB="27432">
                    <a:solidFill>
                      <a:srgbClr val="FBFCFE"/>
                    </a:solidFill>
                  </a:tcPr>
                </a:tc>
                <a:tc>
                  <a:txBody>
                    <a:bodyPr wrap="square">
                      <a:normAutofit/>
                    </a:bodyPr>
                    <a:lstStyle/>
                    <a:p>
                      <a:pPr algn="ctr">
                        <a:defRPr sz="819" b="0">
                          <a:solidFill>
                            <a:srgbClr val="242D39"/>
                          </a:solidFill>
                          <a:latin typeface="Aptos"/>
                        </a:defRPr>
                      </a:pPr>
                      <a:r>
                        <a:t>15</a:t>
                      </a:r>
                    </a:p>
                  </a:txBody>
                  <a:tcPr marL="36576" marR="36576" marT="27432" marB="27432">
                    <a:solidFill>
                      <a:srgbClr val="FBFCFE"/>
                    </a:solidFill>
                  </a:tcPr>
                </a:tc>
                <a:tc>
                  <a:txBody>
                    <a:bodyPr wrap="square">
                      <a:normAutofit/>
                    </a:bodyPr>
                    <a:lstStyle/>
                    <a:p>
                      <a:pPr algn="ctr">
                        <a:defRPr sz="819" b="0">
                          <a:solidFill>
                            <a:srgbClr val="242D39"/>
                          </a:solidFill>
                          <a:latin typeface="Aptos"/>
                        </a:defRPr>
                      </a:pPr>
                      <a:r>
                        <a:t>6</a:t>
                      </a:r>
                    </a:p>
                  </a:txBody>
                  <a:tcPr marL="36576" marR="36576" marT="27432" marB="27432">
                    <a:solidFill>
                      <a:srgbClr val="FBFCFE"/>
                    </a:solidFill>
                  </a:tcPr>
                </a:tc>
                <a:tc>
                  <a:txBody>
                    <a:bodyPr wrap="square">
                      <a:normAutofit/>
                    </a:bodyPr>
                    <a:lstStyle/>
                    <a:p>
                      <a:pPr algn="ctr">
                        <a:defRPr sz="819" b="0">
                          <a:solidFill>
                            <a:srgbClr val="242D39"/>
                          </a:solidFill>
                          <a:latin typeface="Aptos"/>
                        </a:defRPr>
                      </a:pPr>
                      <a:r>
                        <a:t>9</a:t>
                      </a:r>
                    </a:p>
                  </a:txBody>
                  <a:tcPr marL="36576" marR="36576" marT="27432" marB="27432">
                    <a:solidFill>
                      <a:srgbClr val="FBFCFE"/>
                    </a:solidFill>
                  </a:tcPr>
                </a:tc>
                <a:tc>
                  <a:txBody>
                    <a:bodyPr wrap="square">
                      <a:normAutofit/>
                    </a:bodyPr>
                    <a:lstStyle/>
                    <a:p>
                      <a:pPr algn="ctr">
                        <a:defRPr sz="819" b="0">
                          <a:solidFill>
                            <a:srgbClr val="242D39"/>
                          </a:solidFill>
                          <a:latin typeface="Aptos"/>
                        </a:defRPr>
                      </a:pPr>
                      <a:r>
                        <a:t>9</a:t>
                      </a:r>
                    </a:p>
                  </a:txBody>
                  <a:tcPr marL="36576" marR="36576" marT="27432" marB="27432">
                    <a:solidFill>
                      <a:srgbClr val="FBFCFE"/>
                    </a:solidFill>
                  </a:tcPr>
                </a:tc>
                <a:tc>
                  <a:txBody>
                    <a:bodyPr wrap="square">
                      <a:normAutofit/>
                    </a:bodyPr>
                    <a:lstStyle/>
                    <a:p>
                      <a:pPr algn="ctr">
                        <a:defRPr sz="819" b="0">
                          <a:solidFill>
                            <a:srgbClr val="242D39"/>
                          </a:solidFill>
                          <a:latin typeface="Aptos"/>
                        </a:defRPr>
                      </a:pPr>
                      <a:r>
                        <a:t>0%</a:t>
                      </a:r>
                    </a:p>
                  </a:txBody>
                  <a:tcPr marL="36576" marR="36576" marT="27432" marB="27432">
                    <a:solidFill>
                      <a:srgbClr val="FBFCFE"/>
                    </a:solidFill>
                  </a:tcPr>
                </a:tc>
              </a:tr>
              <a:tr h="377190">
                <a:tc>
                  <a:txBody>
                    <a:bodyPr wrap="square">
                      <a:normAutofit/>
                    </a:bodyPr>
                    <a:lstStyle/>
                    <a:p>
                      <a:pPr algn="ctr">
                        <a:defRPr sz="819" b="0">
                          <a:solidFill>
                            <a:srgbClr val="242D39"/>
                          </a:solidFill>
                          <a:latin typeface="Aptos"/>
                        </a:defRPr>
                      </a:pPr>
                      <a:r>
                        <a:t>discovery</a:t>
                      </a:r>
                    </a:p>
                  </a:txBody>
                  <a:tcPr marL="36576" marR="36576" marT="27432" marB="27432">
                    <a:solidFill>
                      <a:srgbClr val="FFFFFF"/>
                    </a:solidFill>
                  </a:tcPr>
                </a:tc>
                <a:tc>
                  <a:txBody>
                    <a:bodyPr wrap="square">
                      <a:normAutofit/>
                    </a:bodyPr>
                    <a:lstStyle/>
                    <a:p>
                      <a:pPr algn="ctr">
                        <a:defRPr sz="819" b="0">
                          <a:solidFill>
                            <a:srgbClr val="242D39"/>
                          </a:solidFill>
                          <a:latin typeface="Aptos"/>
                        </a:defRPr>
                      </a:pPr>
                      <a:r>
                        <a:t>5</a:t>
                      </a:r>
                    </a:p>
                  </a:txBody>
                  <a:tcPr marL="36576" marR="36576" marT="27432" marB="27432">
                    <a:solidFill>
                      <a:srgbClr val="FFFFFF"/>
                    </a:solidFill>
                  </a:tcPr>
                </a:tc>
                <a:tc>
                  <a:txBody>
                    <a:bodyPr wrap="square">
                      <a:normAutofit/>
                    </a:bodyPr>
                    <a:lstStyle/>
                    <a:p>
                      <a:pPr algn="ctr">
                        <a:defRPr sz="819" b="0">
                          <a:solidFill>
                            <a:srgbClr val="242D39"/>
                          </a:solidFill>
                          <a:latin typeface="Aptos"/>
                        </a:defRPr>
                      </a:pPr>
                      <a:r>
                        <a:t>1</a:t>
                      </a:r>
                    </a:p>
                  </a:txBody>
                  <a:tcPr marL="36576" marR="36576" marT="27432" marB="27432">
                    <a:solidFill>
                      <a:srgbClr val="FFFFFF"/>
                    </a:solidFill>
                  </a:tcPr>
                </a:tc>
                <a:tc>
                  <a:txBody>
                    <a:bodyPr wrap="square">
                      <a:normAutofit/>
                    </a:bodyPr>
                    <a:lstStyle/>
                    <a:p>
                      <a:pPr algn="ctr">
                        <a:defRPr sz="819" b="0">
                          <a:solidFill>
                            <a:srgbClr val="242D39"/>
                          </a:solidFill>
                          <a:latin typeface="Aptos"/>
                        </a:defRPr>
                      </a:pPr>
                      <a:r>
                        <a:t>13</a:t>
                      </a:r>
                    </a:p>
                  </a:txBody>
                  <a:tcPr marL="36576" marR="36576" marT="27432" marB="27432">
                    <a:solidFill>
                      <a:srgbClr val="FFFFFF"/>
                    </a:solidFill>
                  </a:tcPr>
                </a:tc>
                <a:tc>
                  <a:txBody>
                    <a:bodyPr wrap="square">
                      <a:normAutofit/>
                    </a:bodyPr>
                    <a:lstStyle/>
                    <a:p>
                      <a:pPr algn="ctr">
                        <a:defRPr sz="819" b="0">
                          <a:solidFill>
                            <a:srgbClr val="242D39"/>
                          </a:solidFill>
                          <a:latin typeface="Aptos"/>
                        </a:defRPr>
                      </a:pPr>
                      <a:r>
                        <a:t>8</a:t>
                      </a:r>
                    </a:p>
                  </a:txBody>
                  <a:tcPr marL="36576" marR="36576" marT="27432" marB="27432">
                    <a:solidFill>
                      <a:srgbClr val="FFFFFF"/>
                    </a:solidFill>
                  </a:tcPr>
                </a:tc>
                <a:tc>
                  <a:txBody>
                    <a:bodyPr wrap="square">
                      <a:normAutofit/>
                    </a:bodyPr>
                    <a:lstStyle/>
                    <a:p>
                      <a:pPr algn="ctr">
                        <a:defRPr sz="819" b="0">
                          <a:solidFill>
                            <a:srgbClr val="242D39"/>
                          </a:solidFill>
                          <a:latin typeface="Aptos"/>
                        </a:defRPr>
                      </a:pPr>
                      <a:r>
                        <a:t>4</a:t>
                      </a:r>
                    </a:p>
                  </a:txBody>
                  <a:tcPr marL="36576" marR="36576" marT="27432" marB="27432">
                    <a:solidFill>
                      <a:srgbClr val="FFFFFF"/>
                    </a:solidFill>
                  </a:tcPr>
                </a:tc>
                <a:tc>
                  <a:txBody>
                    <a:bodyPr wrap="square">
                      <a:normAutofit/>
                    </a:bodyPr>
                    <a:lstStyle/>
                    <a:p>
                      <a:pPr algn="ctr">
                        <a:defRPr sz="819" b="0">
                          <a:solidFill>
                            <a:srgbClr val="242D39"/>
                          </a:solidFill>
                          <a:latin typeface="Aptos"/>
                        </a:defRPr>
                      </a:pPr>
                      <a:r>
                        <a:t>4</a:t>
                      </a:r>
                    </a:p>
                  </a:txBody>
                  <a:tcPr marL="36576" marR="36576" marT="27432" marB="27432">
                    <a:solidFill>
                      <a:srgbClr val="FFFFFF"/>
                    </a:solidFill>
                  </a:tcPr>
                </a:tc>
                <a:tc>
                  <a:txBody>
                    <a:bodyPr wrap="square">
                      <a:normAutofit/>
                    </a:bodyPr>
                    <a:lstStyle/>
                    <a:p>
                      <a:pPr algn="ctr">
                        <a:defRPr sz="819" b="0">
                          <a:solidFill>
                            <a:srgbClr val="242D39"/>
                          </a:solidFill>
                          <a:latin typeface="Aptos"/>
                        </a:defRPr>
                      </a:pPr>
                      <a:r>
                        <a:t>20%</a:t>
                      </a:r>
                    </a:p>
                  </a:txBody>
                  <a:tcPr marL="36576" marR="36576" marT="27432" marB="27432">
                    <a:solidFill>
                      <a:srgbClr val="FFFFFF"/>
                    </a:solidFill>
                  </a:tcPr>
                </a:tc>
              </a:tr>
            </a:tbl>
          </a:graphicData>
        </a:graphic>
      </p:graphicFrame>
      <p:sp>
        <p:nvSpPr>
          <p:cNvPr id="9" name="Rounded Rectangle 8"/>
          <p:cNvSpPr/>
          <p:nvPr/>
        </p:nvSpPr>
        <p:spPr>
          <a:xfrm>
            <a:off x="914400" y="3977639"/>
            <a:ext cx="5166360" cy="1143000"/>
          </a:xfrm>
          <a:prstGeom prst="roundRect">
            <a:avLst/>
          </a:prstGeom>
          <a:solidFill>
            <a:srgbClr val="FFFFFF"/>
          </a:solidFill>
          <a:ln w="12700">
            <a:solidFill>
              <a:srgbClr val="D6DE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914400" y="3977639"/>
            <a:ext cx="73152" cy="1143000"/>
          </a:xfrm>
          <a:prstGeom prst="rect">
            <a:avLst/>
          </a:prstGeom>
          <a:solidFill>
            <a:srgbClr val="0080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115568" y="4123944"/>
            <a:ext cx="4846320" cy="320040"/>
          </a:xfrm>
          <a:prstGeom prst="rect">
            <a:avLst/>
          </a:prstGeom>
          <a:noFill/>
        </p:spPr>
        <p:txBody>
          <a:bodyPr wrap="square">
            <a:normAutofit/>
          </a:bodyPr>
          <a:lstStyle/>
          <a:p>
            <a:pPr algn="l">
              <a:defRPr sz="1300" b="1">
                <a:solidFill>
                  <a:srgbClr val="182334"/>
                </a:solidFill>
                <a:latin typeface="Aptos"/>
              </a:defRPr>
            </a:pPr>
            <a:r>
              <a:t>Readout</a:t>
            </a:r>
          </a:p>
        </p:txBody>
      </p:sp>
      <p:sp>
        <p:nvSpPr>
          <p:cNvPr id="12" name="TextBox 11"/>
          <p:cNvSpPr txBox="1"/>
          <p:nvPr/>
        </p:nvSpPr>
        <p:spPr>
          <a:xfrm>
            <a:off x="1115568" y="4498848"/>
            <a:ext cx="4846320" cy="484632"/>
          </a:xfrm>
          <a:prstGeom prst="rect">
            <a:avLst/>
          </a:prstGeom>
          <a:noFill/>
        </p:spPr>
        <p:txBody>
          <a:bodyPr wrap="square">
            <a:normAutofit/>
          </a:bodyPr>
          <a:lstStyle/>
          <a:p>
            <a:pPr algn="l">
              <a:defRPr sz="1150" b="0">
                <a:solidFill>
                  <a:srgbClr val="242D39"/>
                </a:solidFill>
                <a:latin typeface="Aptos"/>
              </a:defRPr>
            </a:pPr>
            <a:r>
              <a:t>In this small audit, the relation-first path produced the only accepted packet. The dominant rejection pattern across the full study was single-view leakage: a restricted view could still answer the question.</a:t>
            </a:r>
          </a:p>
        </p:txBody>
      </p:sp>
      <p:sp>
        <p:nvSpPr>
          <p:cNvPr id="13" name="Rounded Rectangle 12"/>
          <p:cNvSpPr/>
          <p:nvPr/>
        </p:nvSpPr>
        <p:spPr>
          <a:xfrm>
            <a:off x="6355080" y="3977639"/>
            <a:ext cx="4892040" cy="1143000"/>
          </a:xfrm>
          <a:prstGeom prst="roundRect">
            <a:avLst/>
          </a:prstGeom>
          <a:solidFill>
            <a:srgbClr val="FFFFFF"/>
          </a:solidFill>
          <a:ln w="12700">
            <a:solidFill>
              <a:srgbClr val="D6DE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355080" y="3977639"/>
            <a:ext cx="73152" cy="1143000"/>
          </a:xfrm>
          <a:prstGeom prst="rect">
            <a:avLst/>
          </a:prstGeom>
          <a:solidFill>
            <a:srgbClr val="CD8B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556248" y="4123944"/>
            <a:ext cx="4572000" cy="320040"/>
          </a:xfrm>
          <a:prstGeom prst="rect">
            <a:avLst/>
          </a:prstGeom>
          <a:noFill/>
        </p:spPr>
        <p:txBody>
          <a:bodyPr wrap="square">
            <a:normAutofit/>
          </a:bodyPr>
          <a:lstStyle/>
          <a:p>
            <a:pPr algn="l">
              <a:defRPr sz="1300" b="1">
                <a:solidFill>
                  <a:srgbClr val="182334"/>
                </a:solidFill>
                <a:latin typeface="Aptos"/>
              </a:defRPr>
            </a:pPr>
            <a:r>
              <a:t>Implication</a:t>
            </a:r>
          </a:p>
        </p:txBody>
      </p:sp>
      <p:sp>
        <p:nvSpPr>
          <p:cNvPr id="16" name="TextBox 15"/>
          <p:cNvSpPr txBox="1"/>
          <p:nvPr/>
        </p:nvSpPr>
        <p:spPr>
          <a:xfrm>
            <a:off x="6556248" y="4498848"/>
            <a:ext cx="4572000" cy="484632"/>
          </a:xfrm>
          <a:prstGeom prst="rect">
            <a:avLst/>
          </a:prstGeom>
          <a:noFill/>
        </p:spPr>
        <p:txBody>
          <a:bodyPr wrap="square">
            <a:normAutofit/>
          </a:bodyPr>
          <a:lstStyle/>
          <a:p>
            <a:pPr algn="l">
              <a:defRPr sz="1150" b="0">
                <a:solidFill>
                  <a:srgbClr val="242D39"/>
                </a:solidFill>
                <a:latin typeface="Aptos"/>
              </a:defRPr>
            </a:pPr>
            <a:r>
              <a:t>The generation direction is promising, but acceptance depends less on fluent MCQ writing and more on proving that neither individual view contains the full answer.</a:t>
            </a:r>
          </a:p>
        </p:txBody>
      </p:sp>
      <p:sp>
        <p:nvSpPr>
          <p:cNvPr id="17" name="TextBox 16"/>
          <p:cNvSpPr txBox="1"/>
          <p:nvPr/>
        </p:nvSpPr>
        <p:spPr>
          <a:xfrm>
            <a:off x="914400" y="5623560"/>
            <a:ext cx="10424160" cy="320040"/>
          </a:xfrm>
          <a:prstGeom prst="rect">
            <a:avLst/>
          </a:prstGeom>
          <a:noFill/>
        </p:spPr>
        <p:txBody>
          <a:bodyPr wrap="square">
            <a:normAutofit/>
          </a:bodyPr>
          <a:lstStyle/>
          <a:p>
            <a:pPr algn="ctr">
              <a:defRPr sz="1150" b="0">
                <a:solidFill>
                  <a:srgbClr val="5E6976"/>
                </a:solidFill>
                <a:latin typeface="Aptos"/>
              </a:defRPr>
            </a:pPr>
            <a:r>
              <a:t>Dataset note: 3 configurations x 5 evidence packets; rejected packets can try up to 3 attempts.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7F9FC"/>
        </a:solidFill>
        <a:effectLst/>
      </p:bgPr>
    </p:bg>
    <p:spTree>
      <p:nvGrpSpPr>
        <p:cNvPr id="1" name=""/>
        <p:cNvGrpSpPr/>
        <p:nvPr/>
      </p:nvGrpSpPr>
      <p:grpSpPr/>
      <p:sp>
        <p:nvSpPr>
          <p:cNvPr id="2" name="Rectangle 1"/>
          <p:cNvSpPr/>
          <p:nvPr/>
        </p:nvSpPr>
        <p:spPr>
          <a:xfrm>
            <a:off x="475488" y="256032"/>
            <a:ext cx="91440" cy="228600"/>
          </a:xfrm>
          <a:prstGeom prst="rect">
            <a:avLst/>
          </a:prstGeom>
          <a:solidFill>
            <a:srgbClr val="0080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37744"/>
            <a:ext cx="4389120" cy="274320"/>
          </a:xfrm>
          <a:prstGeom prst="rect">
            <a:avLst/>
          </a:prstGeom>
          <a:noFill/>
        </p:spPr>
        <p:txBody>
          <a:bodyPr wrap="none">
            <a:spAutoFit/>
          </a:bodyPr>
          <a:lstStyle/>
          <a:p>
            <a:pPr>
              <a:defRPr sz="850" b="1">
                <a:solidFill>
                  <a:srgbClr val="008080"/>
                </a:solidFill>
                <a:latin typeface="Aptos"/>
              </a:defRPr>
            </a:pPr>
            <a:r>
              <a:t>DISCOVERY RESULTS</a:t>
            </a:r>
          </a:p>
        </p:txBody>
      </p:sp>
      <p:sp>
        <p:nvSpPr>
          <p:cNvPr id="4" name="TextBox 3"/>
          <p:cNvSpPr txBox="1"/>
          <p:nvPr/>
        </p:nvSpPr>
        <p:spPr>
          <a:xfrm>
            <a:off x="475488" y="603504"/>
            <a:ext cx="11155680" cy="621792"/>
          </a:xfrm>
          <a:prstGeom prst="rect">
            <a:avLst/>
          </a:prstGeom>
          <a:noFill/>
        </p:spPr>
        <p:txBody>
          <a:bodyPr wrap="square">
            <a:spAutoFit/>
          </a:bodyPr>
          <a:lstStyle/>
          <a:p>
            <a:pPr>
              <a:defRPr sz="2800" b="1">
                <a:solidFill>
                  <a:srgbClr val="182334"/>
                </a:solidFill>
                <a:latin typeface="Aptos Display"/>
              </a:defRPr>
            </a:pPr>
            <a:r>
              <a:t>Discovery packet-level audit</a:t>
            </a:r>
          </a:p>
        </p:txBody>
      </p:sp>
      <p:sp>
        <p:nvSpPr>
          <p:cNvPr id="5" name="TextBox 4"/>
          <p:cNvSpPr txBox="1"/>
          <p:nvPr/>
        </p:nvSpPr>
        <p:spPr>
          <a:xfrm>
            <a:off x="493776" y="1234440"/>
            <a:ext cx="10789920" cy="457200"/>
          </a:xfrm>
          <a:prstGeom prst="rect">
            <a:avLst/>
          </a:prstGeom>
          <a:noFill/>
        </p:spPr>
        <p:txBody>
          <a:bodyPr wrap="square">
            <a:spAutoFit/>
          </a:bodyPr>
          <a:lstStyle/>
          <a:p>
            <a:pPr>
              <a:defRPr sz="1300">
                <a:solidFill>
                  <a:srgbClr val="5E6976"/>
                </a:solidFill>
                <a:latin typeface="Aptos"/>
              </a:defRPr>
            </a:pPr>
            <a:r>
              <a:t>The per-packet view shows where relation discovery succeeded and where gates blocked shallow dependencies.</a:t>
            </a:r>
          </a:p>
        </p:txBody>
      </p:sp>
      <p:sp>
        <p:nvSpPr>
          <p:cNvPr id="6" name="TextBox 5"/>
          <p:cNvSpPr txBox="1"/>
          <p:nvPr/>
        </p:nvSpPr>
        <p:spPr>
          <a:xfrm>
            <a:off x="438912" y="6446520"/>
            <a:ext cx="9875520" cy="201168"/>
          </a:xfrm>
          <a:prstGeom prst="rect">
            <a:avLst/>
          </a:prstGeom>
          <a:noFill/>
        </p:spPr>
        <p:txBody>
          <a:bodyPr wrap="none">
            <a:spAutoFit/>
          </a:bodyPr>
          <a:lstStyle/>
          <a:p>
            <a:pPr>
              <a:defRPr sz="750">
                <a:solidFill>
                  <a:srgbClr val="5E6976"/>
                </a:solidFill>
                <a:latin typeface="Aptos"/>
              </a:defRPr>
            </a:pPr>
            <a:r>
              <a:t>Source: template_vs_nontemplate_qa_study.xlsx, By Evidence Packet sheet</a:t>
            </a:r>
          </a:p>
        </p:txBody>
      </p:sp>
      <p:sp>
        <p:nvSpPr>
          <p:cNvPr id="7" name="TextBox 6"/>
          <p:cNvSpPr txBox="1"/>
          <p:nvPr/>
        </p:nvSpPr>
        <p:spPr>
          <a:xfrm>
            <a:off x="11292840" y="6446520"/>
            <a:ext cx="457200" cy="201168"/>
          </a:xfrm>
          <a:prstGeom prst="rect">
            <a:avLst/>
          </a:prstGeom>
          <a:noFill/>
        </p:spPr>
        <p:txBody>
          <a:bodyPr wrap="none">
            <a:spAutoFit/>
          </a:bodyPr>
          <a:lstStyle/>
          <a:p>
            <a:pPr algn="r">
              <a:defRPr sz="750">
                <a:solidFill>
                  <a:srgbClr val="5E6976"/>
                </a:solidFill>
                <a:latin typeface="Aptos"/>
              </a:defRPr>
            </a:pPr>
            <a:r>
              <a:t>10</a:t>
            </a:r>
          </a:p>
        </p:txBody>
      </p:sp>
      <p:graphicFrame>
        <p:nvGraphicFramePr>
          <p:cNvPr id="8" name="Table 7"/>
          <p:cNvGraphicFramePr>
            <a:graphicFrameLocks noGrp="1"/>
          </p:cNvGraphicFramePr>
          <p:nvPr/>
        </p:nvGraphicFramePr>
        <p:xfrm>
          <a:off x="566928" y="1783080"/>
          <a:ext cx="11064239" cy="2880360"/>
        </p:xfrm>
        <a:graphic>
          <a:graphicData uri="http://schemas.openxmlformats.org/drawingml/2006/table">
            <a:tbl>
              <a:tblPr firstRow="1" bandRow="1">
                <a:tableStyleId>{5C22544A-7EE6-4342-B048-85BDC9FD1C3A}</a:tableStyleId>
              </a:tblPr>
              <a:tblGrid>
                <a:gridCol w="1874519"/>
                <a:gridCol w="1143000"/>
                <a:gridCol w="1234440"/>
                <a:gridCol w="914400"/>
                <a:gridCol w="5897880"/>
              </a:tblGrid>
              <a:tr h="480060">
                <a:tc>
                  <a:txBody>
                    <a:bodyPr wrap="square">
                      <a:normAutofit/>
                    </a:bodyPr>
                    <a:lstStyle/>
                    <a:p>
                      <a:pPr algn="ctr">
                        <a:defRPr sz="819" b="1">
                          <a:solidFill>
                            <a:srgbClr val="FFFFFF"/>
                          </a:solidFill>
                          <a:latin typeface="Aptos"/>
                        </a:defRPr>
                      </a:pPr>
                      <a:r>
                        <a:t>packet</a:t>
                      </a:r>
                    </a:p>
                  </a:txBody>
                  <a:tcPr marL="36576" marR="36576" marT="27432" marB="27432">
                    <a:solidFill>
                      <a:srgbClr val="263B53"/>
                    </a:solidFill>
                  </a:tcPr>
                </a:tc>
                <a:tc>
                  <a:txBody>
                    <a:bodyPr wrap="square">
                      <a:normAutofit/>
                    </a:bodyPr>
                    <a:lstStyle/>
                    <a:p>
                      <a:pPr algn="ctr">
                        <a:defRPr sz="819" b="1">
                          <a:solidFill>
                            <a:srgbClr val="FFFFFF"/>
                          </a:solidFill>
                          <a:latin typeface="Aptos"/>
                        </a:defRPr>
                      </a:pPr>
                      <a:r>
                        <a:t>type</a:t>
                      </a:r>
                    </a:p>
                  </a:txBody>
                  <a:tcPr marL="36576" marR="36576" marT="27432" marB="27432">
                    <a:solidFill>
                      <a:srgbClr val="263B53"/>
                    </a:solidFill>
                  </a:tcPr>
                </a:tc>
                <a:tc>
                  <a:txBody>
                    <a:bodyPr wrap="square">
                      <a:normAutofit/>
                    </a:bodyPr>
                    <a:lstStyle/>
                    <a:p>
                      <a:pPr algn="ctr">
                        <a:defRPr sz="819" b="1">
                          <a:solidFill>
                            <a:srgbClr val="FFFFFF"/>
                          </a:solidFill>
                          <a:latin typeface="Aptos"/>
                        </a:defRPr>
                      </a:pPr>
                      <a:r>
                        <a:t>status</a:t>
                      </a:r>
                    </a:p>
                  </a:txBody>
                  <a:tcPr marL="36576" marR="36576" marT="27432" marB="27432">
                    <a:solidFill>
                      <a:srgbClr val="263B53"/>
                    </a:solidFill>
                  </a:tcPr>
                </a:tc>
                <a:tc>
                  <a:txBody>
                    <a:bodyPr wrap="square">
                      <a:normAutofit/>
                    </a:bodyPr>
                    <a:lstStyle/>
                    <a:p>
                      <a:pPr algn="ctr">
                        <a:defRPr sz="819" b="1">
                          <a:solidFill>
                            <a:srgbClr val="FFFFFF"/>
                          </a:solidFill>
                          <a:latin typeface="Aptos"/>
                        </a:defRPr>
                      </a:pPr>
                      <a:r>
                        <a:t>attempts</a:t>
                      </a:r>
                    </a:p>
                  </a:txBody>
                  <a:tcPr marL="36576" marR="36576" marT="27432" marB="27432">
                    <a:solidFill>
                      <a:srgbClr val="263B53"/>
                    </a:solidFill>
                  </a:tcPr>
                </a:tc>
                <a:tc>
                  <a:txBody>
                    <a:bodyPr wrap="square">
                      <a:normAutofit/>
                    </a:bodyPr>
                    <a:lstStyle/>
                    <a:p>
                      <a:pPr algn="ctr">
                        <a:defRPr sz="819" b="1">
                          <a:solidFill>
                            <a:srgbClr val="FFFFFF"/>
                          </a:solidFill>
                          <a:latin typeface="Aptos"/>
                        </a:defRPr>
                      </a:pPr>
                      <a:r>
                        <a:t>dominant failure or note</a:t>
                      </a:r>
                    </a:p>
                  </a:txBody>
                  <a:tcPr marL="36576" marR="36576" marT="27432" marB="27432">
                    <a:solidFill>
                      <a:srgbClr val="263B53"/>
                    </a:solidFill>
                  </a:tcPr>
                </a:tc>
              </a:tr>
              <a:tr h="480060">
                <a:tc>
                  <a:txBody>
                    <a:bodyPr wrap="square">
                      <a:normAutofit/>
                    </a:bodyPr>
                    <a:lstStyle/>
                    <a:p>
                      <a:pPr algn="ctr">
                        <a:defRPr sz="819" b="0">
                          <a:solidFill>
                            <a:srgbClr val="242D39"/>
                          </a:solidFill>
                          <a:latin typeface="Aptos"/>
                        </a:defRPr>
                      </a:pPr>
                      <a:r>
                        <a:t>Day 1 19483000 A1/A2</a:t>
                      </a:r>
                    </a:p>
                  </a:txBody>
                  <a:tcPr marL="36576" marR="36576" marT="27432" marB="27432">
                    <a:solidFill>
                      <a:srgbClr val="FFFFFF"/>
                    </a:solidFill>
                  </a:tcPr>
                </a:tc>
                <a:tc>
                  <a:txBody>
                    <a:bodyPr wrap="square">
                      <a:normAutofit/>
                    </a:bodyPr>
                    <a:lstStyle/>
                    <a:p>
                      <a:pPr algn="ctr">
                        <a:defRPr sz="819" b="0">
                          <a:solidFill>
                            <a:srgbClr val="242D39"/>
                          </a:solidFill>
                          <a:latin typeface="Aptos"/>
                        </a:defRPr>
                      </a:pPr>
                      <a:r>
                        <a:t>difference</a:t>
                      </a:r>
                    </a:p>
                  </a:txBody>
                  <a:tcPr marL="36576" marR="36576" marT="27432" marB="27432">
                    <a:solidFill>
                      <a:srgbClr val="FFFFFF"/>
                    </a:solidFill>
                  </a:tcPr>
                </a:tc>
                <a:tc>
                  <a:txBody>
                    <a:bodyPr wrap="square">
                      <a:normAutofit/>
                    </a:bodyPr>
                    <a:lstStyle/>
                    <a:p>
                      <a:pPr algn="ctr">
                        <a:defRPr sz="819" b="0">
                          <a:solidFill>
                            <a:srgbClr val="242D39"/>
                          </a:solidFill>
                          <a:latin typeface="Aptos"/>
                        </a:defRPr>
                      </a:pPr>
                      <a:r>
                        <a:t>accepted</a:t>
                      </a:r>
                    </a:p>
                  </a:txBody>
                  <a:tcPr marL="36576" marR="36576" marT="27432" marB="27432">
                    <a:solidFill>
                      <a:srgbClr val="FFFFFF"/>
                    </a:solidFill>
                  </a:tcPr>
                </a:tc>
                <a:tc>
                  <a:txBody>
                    <a:bodyPr wrap="square">
                      <a:normAutofit/>
                    </a:bodyPr>
                    <a:lstStyle/>
                    <a:p>
                      <a:pPr algn="ctr">
                        <a:defRPr sz="819" b="0">
                          <a:solidFill>
                            <a:srgbClr val="242D39"/>
                          </a:solidFill>
                          <a:latin typeface="Aptos"/>
                        </a:defRPr>
                      </a:pPr>
                      <a:r>
                        <a:t>1</a:t>
                      </a:r>
                    </a:p>
                  </a:txBody>
                  <a:tcPr marL="36576" marR="36576" marT="27432" marB="27432">
                    <a:solidFill>
                      <a:srgbClr val="FFFFFF"/>
                    </a:solidFill>
                  </a:tcPr>
                </a:tc>
                <a:tc>
                  <a:txBody>
                    <a:bodyPr wrap="square">
                      <a:normAutofit/>
                    </a:bodyPr>
                    <a:lstStyle/>
                    <a:p>
                      <a:pPr algn="ctr">
                        <a:defRPr sz="819" b="0">
                          <a:solidFill>
                            <a:srgbClr val="242D39"/>
                          </a:solidFill>
                          <a:latin typeface="Aptos"/>
                        </a:defRPr>
                      </a:pPr>
                      <a:r>
                        <a:t>accepted×1</a:t>
                      </a:r>
                    </a:p>
                  </a:txBody>
                  <a:tcPr marL="36576" marR="36576" marT="27432" marB="27432">
                    <a:solidFill>
                      <a:srgbClr val="FFFFFF"/>
                    </a:solidFill>
                  </a:tcPr>
                </a:tc>
              </a:tr>
              <a:tr h="480060">
                <a:tc>
                  <a:txBody>
                    <a:bodyPr wrap="square">
                      <a:normAutofit/>
                    </a:bodyPr>
                    <a:lstStyle/>
                    <a:p>
                      <a:pPr algn="ctr">
                        <a:defRPr sz="819" b="0">
                          <a:solidFill>
                            <a:srgbClr val="242D39"/>
                          </a:solidFill>
                          <a:latin typeface="Aptos"/>
                        </a:defRPr>
                      </a:pPr>
                      <a:r>
                        <a:t>Day 2 11350000 A1/A5</a:t>
                      </a:r>
                    </a:p>
                  </a:txBody>
                  <a:tcPr marL="36576" marR="36576" marT="27432" marB="27432">
                    <a:solidFill>
                      <a:srgbClr val="FBFCFE"/>
                    </a:solidFill>
                  </a:tcPr>
                </a:tc>
                <a:tc>
                  <a:txBody>
                    <a:bodyPr wrap="square">
                      <a:normAutofit/>
                    </a:bodyPr>
                    <a:lstStyle/>
                    <a:p>
                      <a:pPr algn="ctr">
                        <a:defRPr sz="819" b="0">
                          <a:solidFill>
                            <a:srgbClr val="242D39"/>
                          </a:solidFill>
                          <a:latin typeface="Aptos"/>
                        </a:defRPr>
                      </a:pPr>
                      <a:r>
                        <a:t>commonality</a:t>
                      </a:r>
                    </a:p>
                  </a:txBody>
                  <a:tcPr marL="36576" marR="36576" marT="27432" marB="27432">
                    <a:solidFill>
                      <a:srgbClr val="FBFCFE"/>
                    </a:solidFill>
                  </a:tcPr>
                </a:tc>
                <a:tc>
                  <a:txBody>
                    <a:bodyPr wrap="square">
                      <a:normAutofit/>
                    </a:bodyPr>
                    <a:lstStyle/>
                    <a:p>
                      <a:pPr algn="ctr">
                        <a:defRPr sz="819" b="0">
                          <a:solidFill>
                            <a:srgbClr val="242D39"/>
                          </a:solidFill>
                          <a:latin typeface="Aptos"/>
                        </a:defRPr>
                      </a:pPr>
                      <a:r>
                        <a:t>rejected</a:t>
                      </a:r>
                    </a:p>
                  </a:txBody>
                  <a:tcPr marL="36576" marR="36576" marT="27432" marB="27432">
                    <a:solidFill>
                      <a:srgbClr val="FBFCFE"/>
                    </a:solidFill>
                  </a:tcPr>
                </a:tc>
                <a:tc>
                  <a:txBody>
                    <a:bodyPr wrap="square">
                      <a:normAutofit/>
                    </a:bodyPr>
                    <a:lstStyle/>
                    <a:p>
                      <a:pPr algn="ctr">
                        <a:defRPr sz="819" b="0">
                          <a:solidFill>
                            <a:srgbClr val="242D39"/>
                          </a:solidFill>
                          <a:latin typeface="Aptos"/>
                        </a:defRPr>
                      </a:pPr>
                      <a:r>
                        <a:t>3</a:t>
                      </a:r>
                    </a:p>
                  </a:txBody>
                  <a:tcPr marL="36576" marR="36576" marT="27432" marB="27432">
                    <a:solidFill>
                      <a:srgbClr val="FBFCFE"/>
                    </a:solidFill>
                  </a:tcPr>
                </a:tc>
                <a:tc>
                  <a:txBody>
                    <a:bodyPr wrap="square">
                      <a:normAutofit/>
                    </a:bodyPr>
                    <a:lstStyle/>
                    <a:p>
                      <a:pPr algn="ctr">
                        <a:defRPr sz="819" b="0">
                          <a:solidFill>
                            <a:srgbClr val="242D39"/>
                          </a:solidFill>
                          <a:latin typeface="Aptos"/>
                        </a:defRPr>
                      </a:pPr>
                      <a:r>
                        <a:t>judger:false no block×1, answerability: combined wrong×1, judger: multi_video_necessity×1</a:t>
                      </a:r>
                    </a:p>
                  </a:txBody>
                  <a:tcPr marL="36576" marR="36576" marT="27432" marB="27432">
                    <a:solidFill>
                      <a:srgbClr val="FBFCFE"/>
                    </a:solidFill>
                  </a:tcPr>
                </a:tc>
              </a:tr>
              <a:tr h="480060">
                <a:tc>
                  <a:txBody>
                    <a:bodyPr wrap="square">
                      <a:normAutofit/>
                    </a:bodyPr>
                    <a:lstStyle/>
                    <a:p>
                      <a:pPr algn="ctr">
                        <a:defRPr sz="819" b="0">
                          <a:solidFill>
                            <a:srgbClr val="242D39"/>
                          </a:solidFill>
                          <a:latin typeface="Aptos"/>
                        </a:defRPr>
                      </a:pPr>
                      <a:r>
                        <a:t>Day 3 20430000 A3/A6</a:t>
                      </a:r>
                    </a:p>
                  </a:txBody>
                  <a:tcPr marL="36576" marR="36576" marT="27432" marB="27432">
                    <a:solidFill>
                      <a:srgbClr val="FFFFFF"/>
                    </a:solidFill>
                  </a:tcPr>
                </a:tc>
                <a:tc>
                  <a:txBody>
                    <a:bodyPr wrap="square">
                      <a:normAutofit/>
                    </a:bodyPr>
                    <a:lstStyle/>
                    <a:p>
                      <a:pPr algn="ctr">
                        <a:defRPr sz="819" b="0">
                          <a:solidFill>
                            <a:srgbClr val="242D39"/>
                          </a:solidFill>
                          <a:latin typeface="Aptos"/>
                        </a:defRPr>
                      </a:pPr>
                      <a:r>
                        <a:t>difference</a:t>
                      </a:r>
                    </a:p>
                  </a:txBody>
                  <a:tcPr marL="36576" marR="36576" marT="27432" marB="27432">
                    <a:solidFill>
                      <a:srgbClr val="FFFFFF"/>
                    </a:solidFill>
                  </a:tcPr>
                </a:tc>
                <a:tc>
                  <a:txBody>
                    <a:bodyPr wrap="square">
                      <a:normAutofit/>
                    </a:bodyPr>
                    <a:lstStyle/>
                    <a:p>
                      <a:pPr algn="ctr">
                        <a:defRPr sz="819" b="0">
                          <a:solidFill>
                            <a:srgbClr val="242D39"/>
                          </a:solidFill>
                          <a:latin typeface="Aptos"/>
                        </a:defRPr>
                      </a:pPr>
                      <a:r>
                        <a:t>rejected</a:t>
                      </a:r>
                    </a:p>
                  </a:txBody>
                  <a:tcPr marL="36576" marR="36576" marT="27432" marB="27432">
                    <a:solidFill>
                      <a:srgbClr val="FFFFFF"/>
                    </a:solidFill>
                  </a:tcPr>
                </a:tc>
                <a:tc>
                  <a:txBody>
                    <a:bodyPr wrap="square">
                      <a:normAutofit/>
                    </a:bodyPr>
                    <a:lstStyle/>
                    <a:p>
                      <a:pPr algn="ctr">
                        <a:defRPr sz="819" b="0">
                          <a:solidFill>
                            <a:srgbClr val="242D39"/>
                          </a:solidFill>
                          <a:latin typeface="Aptos"/>
                        </a:defRPr>
                      </a:pPr>
                      <a:r>
                        <a:t>3</a:t>
                      </a:r>
                    </a:p>
                  </a:txBody>
                  <a:tcPr marL="36576" marR="36576" marT="27432" marB="27432">
                    <a:solidFill>
                      <a:srgbClr val="FFFFFF"/>
                    </a:solidFill>
                  </a:tcPr>
                </a:tc>
                <a:tc>
                  <a:txBody>
                    <a:bodyPr wrap="square">
                      <a:normAutofit/>
                    </a:bodyPr>
                    <a:lstStyle/>
                    <a:p>
                      <a:pPr algn="ctr">
                        <a:defRPr sz="819" b="0">
                          <a:solidFill>
                            <a:srgbClr val="242D39"/>
                          </a:solidFill>
                          <a:latin typeface="Aptos"/>
                        </a:defRPr>
                      </a:pPr>
                      <a:r>
                        <a:t>judger: multi_video_necessity×1, answerability: single-video leakage×1, judger:false no block×1</a:t>
                      </a:r>
                    </a:p>
                  </a:txBody>
                  <a:tcPr marL="36576" marR="36576" marT="27432" marB="27432">
                    <a:solidFill>
                      <a:srgbClr val="FFFFFF"/>
                    </a:solidFill>
                  </a:tcPr>
                </a:tc>
              </a:tr>
              <a:tr h="480060">
                <a:tc>
                  <a:txBody>
                    <a:bodyPr wrap="square">
                      <a:normAutofit/>
                    </a:bodyPr>
                    <a:lstStyle/>
                    <a:p>
                      <a:pPr algn="ctr">
                        <a:defRPr sz="819" b="0">
                          <a:solidFill>
                            <a:srgbClr val="242D39"/>
                          </a:solidFill>
                          <a:latin typeface="Aptos"/>
                        </a:defRPr>
                      </a:pPr>
                      <a:r>
                        <a:t>Day 4 18513000 A2/A6</a:t>
                      </a:r>
                    </a:p>
                  </a:txBody>
                  <a:tcPr marL="36576" marR="36576" marT="27432" marB="27432">
                    <a:solidFill>
                      <a:srgbClr val="FBFCFE"/>
                    </a:solidFill>
                  </a:tcPr>
                </a:tc>
                <a:tc>
                  <a:txBody>
                    <a:bodyPr wrap="square">
                      <a:normAutofit/>
                    </a:bodyPr>
                    <a:lstStyle/>
                    <a:p>
                      <a:pPr algn="ctr">
                        <a:defRPr sz="819" b="0">
                          <a:solidFill>
                            <a:srgbClr val="242D39"/>
                          </a:solidFill>
                          <a:latin typeface="Aptos"/>
                        </a:defRPr>
                      </a:pPr>
                      <a:r>
                        <a:t>commonality</a:t>
                      </a:r>
                    </a:p>
                  </a:txBody>
                  <a:tcPr marL="36576" marR="36576" marT="27432" marB="27432">
                    <a:solidFill>
                      <a:srgbClr val="FBFCFE"/>
                    </a:solidFill>
                  </a:tcPr>
                </a:tc>
                <a:tc>
                  <a:txBody>
                    <a:bodyPr wrap="square">
                      <a:normAutofit/>
                    </a:bodyPr>
                    <a:lstStyle/>
                    <a:p>
                      <a:pPr algn="ctr">
                        <a:defRPr sz="819" b="0">
                          <a:solidFill>
                            <a:srgbClr val="242D39"/>
                          </a:solidFill>
                          <a:latin typeface="Aptos"/>
                        </a:defRPr>
                      </a:pPr>
                      <a:r>
                        <a:t>rejected</a:t>
                      </a:r>
                    </a:p>
                  </a:txBody>
                  <a:tcPr marL="36576" marR="36576" marT="27432" marB="27432">
                    <a:solidFill>
                      <a:srgbClr val="FBFCFE"/>
                    </a:solidFill>
                  </a:tcPr>
                </a:tc>
                <a:tc>
                  <a:txBody>
                    <a:bodyPr wrap="square">
                      <a:normAutofit/>
                    </a:bodyPr>
                    <a:lstStyle/>
                    <a:p>
                      <a:pPr algn="ctr">
                        <a:defRPr sz="819" b="0">
                          <a:solidFill>
                            <a:srgbClr val="242D39"/>
                          </a:solidFill>
                          <a:latin typeface="Aptos"/>
                        </a:defRPr>
                      </a:pPr>
                      <a:r>
                        <a:t>3</a:t>
                      </a:r>
                    </a:p>
                  </a:txBody>
                  <a:tcPr marL="36576" marR="36576" marT="27432" marB="27432">
                    <a:solidFill>
                      <a:srgbClr val="FBFCFE"/>
                    </a:solidFill>
                  </a:tcPr>
                </a:tc>
                <a:tc>
                  <a:txBody>
                    <a:bodyPr wrap="square">
                      <a:normAutofit/>
                    </a:bodyPr>
                    <a:lstStyle/>
                    <a:p>
                      <a:pPr algn="ctr">
                        <a:defRPr sz="819" b="0">
                          <a:solidFill>
                            <a:srgbClr val="242D39"/>
                          </a:solidFill>
                          <a:latin typeface="Aptos"/>
                        </a:defRPr>
                      </a:pPr>
                      <a:r>
                        <a:t>answerability: single-video leakage×2, judger: multi_video_necessity×1</a:t>
                      </a:r>
                    </a:p>
                  </a:txBody>
                  <a:tcPr marL="36576" marR="36576" marT="27432" marB="27432">
                    <a:solidFill>
                      <a:srgbClr val="FBFCFE"/>
                    </a:solidFill>
                  </a:tcPr>
                </a:tc>
              </a:tr>
              <a:tr h="480060">
                <a:tc>
                  <a:txBody>
                    <a:bodyPr wrap="square">
                      <a:normAutofit/>
                    </a:bodyPr>
                    <a:lstStyle/>
                    <a:p>
                      <a:pPr algn="ctr">
                        <a:defRPr sz="819" b="0">
                          <a:solidFill>
                            <a:srgbClr val="242D39"/>
                          </a:solidFill>
                          <a:latin typeface="Aptos"/>
                        </a:defRPr>
                      </a:pPr>
                      <a:r>
                        <a:t>Day 5 16230000 A2/A6</a:t>
                      </a:r>
                    </a:p>
                  </a:txBody>
                  <a:tcPr marL="36576" marR="36576" marT="27432" marB="27432">
                    <a:solidFill>
                      <a:srgbClr val="FFFFFF"/>
                    </a:solidFill>
                  </a:tcPr>
                </a:tc>
                <a:tc>
                  <a:txBody>
                    <a:bodyPr wrap="square">
                      <a:normAutofit/>
                    </a:bodyPr>
                    <a:lstStyle/>
                    <a:p>
                      <a:pPr algn="ctr">
                        <a:defRPr sz="819" b="0">
                          <a:solidFill>
                            <a:srgbClr val="242D39"/>
                          </a:solidFill>
                          <a:latin typeface="Aptos"/>
                        </a:defRPr>
                      </a:pPr>
                      <a:r>
                        <a:t>commonality</a:t>
                      </a:r>
                    </a:p>
                  </a:txBody>
                  <a:tcPr marL="36576" marR="36576" marT="27432" marB="27432">
                    <a:solidFill>
                      <a:srgbClr val="FFFFFF"/>
                    </a:solidFill>
                  </a:tcPr>
                </a:tc>
                <a:tc>
                  <a:txBody>
                    <a:bodyPr wrap="square">
                      <a:normAutofit/>
                    </a:bodyPr>
                    <a:lstStyle/>
                    <a:p>
                      <a:pPr algn="ctr">
                        <a:defRPr sz="819" b="0">
                          <a:solidFill>
                            <a:srgbClr val="242D39"/>
                          </a:solidFill>
                          <a:latin typeface="Aptos"/>
                        </a:defRPr>
                      </a:pPr>
                      <a:r>
                        <a:t>rejected</a:t>
                      </a:r>
                    </a:p>
                  </a:txBody>
                  <a:tcPr marL="36576" marR="36576" marT="27432" marB="27432">
                    <a:solidFill>
                      <a:srgbClr val="FFFFFF"/>
                    </a:solidFill>
                  </a:tcPr>
                </a:tc>
                <a:tc>
                  <a:txBody>
                    <a:bodyPr wrap="square">
                      <a:normAutofit/>
                    </a:bodyPr>
                    <a:lstStyle/>
                    <a:p>
                      <a:pPr algn="ctr">
                        <a:defRPr sz="819" b="0">
                          <a:solidFill>
                            <a:srgbClr val="242D39"/>
                          </a:solidFill>
                          <a:latin typeface="Aptos"/>
                        </a:defRPr>
                      </a:pPr>
                      <a:r>
                        <a:t>3</a:t>
                      </a:r>
                    </a:p>
                  </a:txBody>
                  <a:tcPr marL="36576" marR="36576" marT="27432" marB="27432">
                    <a:solidFill>
                      <a:srgbClr val="FFFFFF"/>
                    </a:solidFill>
                  </a:tcPr>
                </a:tc>
                <a:tc>
                  <a:txBody>
                    <a:bodyPr wrap="square">
                      <a:normAutofit/>
                    </a:bodyPr>
                    <a:lstStyle/>
                    <a:p>
                      <a:pPr algn="ctr">
                        <a:defRPr sz="819" b="0">
                          <a:solidFill>
                            <a:srgbClr val="242D39"/>
                          </a:solidFill>
                          <a:latin typeface="Aptos"/>
                        </a:defRPr>
                      </a:pPr>
                      <a:r>
                        <a:t>judger:false no block×2, judger: multi_video_necessity,visual_grounding×1</a:t>
                      </a:r>
                    </a:p>
                  </a:txBody>
                  <a:tcPr marL="36576" marR="36576" marT="27432" marB="27432">
                    <a:solidFill>
                      <a:srgbClr val="FFFFFF"/>
                    </a:solidFill>
                  </a:tcPr>
                </a:tc>
              </a:tr>
            </a:tbl>
          </a:graphicData>
        </a:graphic>
      </p:graphicFrame>
      <p:sp>
        <p:nvSpPr>
          <p:cNvPr id="9" name="Rounded Rectangle 8"/>
          <p:cNvSpPr/>
          <p:nvPr/>
        </p:nvSpPr>
        <p:spPr>
          <a:xfrm>
            <a:off x="777240" y="5074920"/>
            <a:ext cx="5120640" cy="1005840"/>
          </a:xfrm>
          <a:prstGeom prst="roundRect">
            <a:avLst/>
          </a:prstGeom>
          <a:solidFill>
            <a:srgbClr val="FFFFFF"/>
          </a:solidFill>
          <a:ln w="12700">
            <a:solidFill>
              <a:srgbClr val="D6DE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5074920"/>
            <a:ext cx="73152" cy="1005840"/>
          </a:xfrm>
          <a:prstGeom prst="rect">
            <a:avLst/>
          </a:prstGeom>
          <a:solidFill>
            <a:srgbClr val="2A91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78408" y="5221224"/>
            <a:ext cx="4800600" cy="320040"/>
          </a:xfrm>
          <a:prstGeom prst="rect">
            <a:avLst/>
          </a:prstGeom>
          <a:noFill/>
        </p:spPr>
        <p:txBody>
          <a:bodyPr wrap="square">
            <a:normAutofit/>
          </a:bodyPr>
          <a:lstStyle/>
          <a:p>
            <a:pPr algn="l">
              <a:defRPr sz="1300" b="1">
                <a:solidFill>
                  <a:srgbClr val="182334"/>
                </a:solidFill>
                <a:latin typeface="Aptos"/>
              </a:defRPr>
            </a:pPr>
            <a:r>
              <a:t>Pattern</a:t>
            </a:r>
          </a:p>
        </p:txBody>
      </p:sp>
      <p:sp>
        <p:nvSpPr>
          <p:cNvPr id="12" name="TextBox 11"/>
          <p:cNvSpPr txBox="1"/>
          <p:nvPr/>
        </p:nvSpPr>
        <p:spPr>
          <a:xfrm>
            <a:off x="978408" y="5596128"/>
            <a:ext cx="4800600" cy="347472"/>
          </a:xfrm>
          <a:prstGeom prst="rect">
            <a:avLst/>
          </a:prstGeom>
          <a:noFill/>
        </p:spPr>
        <p:txBody>
          <a:bodyPr wrap="square">
            <a:normAutofit/>
          </a:bodyPr>
          <a:lstStyle/>
          <a:p>
            <a:pPr algn="l">
              <a:defRPr sz="1150" b="0">
                <a:solidFill>
                  <a:srgbClr val="242D39"/>
                </a:solidFill>
                <a:latin typeface="Aptos"/>
              </a:defRPr>
            </a:pPr>
            <a:r>
              <a:t>The accepted Day 1 case used a real complementary relation: one person on a laptop in the living area and another person preparing food in the kitchen.</a:t>
            </a:r>
          </a:p>
        </p:txBody>
      </p:sp>
      <p:sp>
        <p:nvSpPr>
          <p:cNvPr id="13" name="Rounded Rectangle 12"/>
          <p:cNvSpPr/>
          <p:nvPr/>
        </p:nvSpPr>
        <p:spPr>
          <a:xfrm>
            <a:off x="6263640" y="5074920"/>
            <a:ext cx="5120640" cy="1005840"/>
          </a:xfrm>
          <a:prstGeom prst="roundRect">
            <a:avLst/>
          </a:prstGeom>
          <a:solidFill>
            <a:srgbClr val="FFFFFF"/>
          </a:solidFill>
          <a:ln w="12700">
            <a:solidFill>
              <a:srgbClr val="D6DE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263640" y="5074920"/>
            <a:ext cx="73152" cy="1005840"/>
          </a:xfrm>
          <a:prstGeom prst="rect">
            <a:avLst/>
          </a:prstGeom>
          <a:solidFill>
            <a:srgbClr val="BE46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64807" y="5221224"/>
            <a:ext cx="4800600" cy="320040"/>
          </a:xfrm>
          <a:prstGeom prst="rect">
            <a:avLst/>
          </a:prstGeom>
          <a:noFill/>
        </p:spPr>
        <p:txBody>
          <a:bodyPr wrap="square">
            <a:normAutofit/>
          </a:bodyPr>
          <a:lstStyle/>
          <a:p>
            <a:pPr algn="l">
              <a:defRPr sz="1300" b="1">
                <a:solidFill>
                  <a:srgbClr val="182334"/>
                </a:solidFill>
                <a:latin typeface="Aptos"/>
              </a:defRPr>
            </a:pPr>
            <a:r>
              <a:t>Main blockers</a:t>
            </a:r>
          </a:p>
        </p:txBody>
      </p:sp>
      <p:sp>
        <p:nvSpPr>
          <p:cNvPr id="16" name="TextBox 15"/>
          <p:cNvSpPr txBox="1"/>
          <p:nvPr/>
        </p:nvSpPr>
        <p:spPr>
          <a:xfrm>
            <a:off x="6464807" y="5596128"/>
            <a:ext cx="4800600" cy="347472"/>
          </a:xfrm>
          <a:prstGeom prst="rect">
            <a:avLst/>
          </a:prstGeom>
          <a:noFill/>
        </p:spPr>
        <p:txBody>
          <a:bodyPr wrap="square">
            <a:normAutofit/>
          </a:bodyPr>
          <a:lstStyle/>
          <a:p>
            <a:pPr algn="l">
              <a:defRPr sz="1150" b="0">
                <a:solidFill>
                  <a:srgbClr val="242D39"/>
                </a:solidFill>
                <a:latin typeface="Aptos"/>
              </a:defRPr>
            </a:pPr>
            <a:r>
              <a:t>Rejected attempts often failed because a single view already answered the question, the combined view selected the wrong option, or the reviewer could not verify multi-user necessity.</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7F9FC"/>
        </a:solidFill>
        <a:effectLst/>
      </p:bgPr>
    </p:bg>
    <p:spTree>
      <p:nvGrpSpPr>
        <p:cNvPr id="1" name=""/>
        <p:cNvGrpSpPr/>
        <p:nvPr/>
      </p:nvGrpSpPr>
      <p:grpSpPr/>
      <p:sp>
        <p:nvSpPr>
          <p:cNvPr id="2" name="Rectangle 1"/>
          <p:cNvSpPr/>
          <p:nvPr/>
        </p:nvSpPr>
        <p:spPr>
          <a:xfrm>
            <a:off x="475488" y="256032"/>
            <a:ext cx="91440" cy="228600"/>
          </a:xfrm>
          <a:prstGeom prst="rect">
            <a:avLst/>
          </a:prstGeom>
          <a:solidFill>
            <a:srgbClr val="0080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37744"/>
            <a:ext cx="4389120" cy="274320"/>
          </a:xfrm>
          <a:prstGeom prst="rect">
            <a:avLst/>
          </a:prstGeom>
          <a:noFill/>
        </p:spPr>
        <p:txBody>
          <a:bodyPr wrap="none">
            <a:spAutoFit/>
          </a:bodyPr>
          <a:lstStyle/>
          <a:p>
            <a:pPr>
              <a:defRPr sz="850" b="1">
                <a:solidFill>
                  <a:srgbClr val="008080"/>
                </a:solidFill>
                <a:latin typeface="Aptos"/>
              </a:defRPr>
            </a:pPr>
            <a:r>
              <a:t>ACCEPTED CASE</a:t>
            </a:r>
          </a:p>
        </p:txBody>
      </p:sp>
      <p:sp>
        <p:nvSpPr>
          <p:cNvPr id="4" name="TextBox 3"/>
          <p:cNvSpPr txBox="1"/>
          <p:nvPr/>
        </p:nvSpPr>
        <p:spPr>
          <a:xfrm>
            <a:off x="475488" y="603504"/>
            <a:ext cx="11155680" cy="621792"/>
          </a:xfrm>
          <a:prstGeom prst="rect">
            <a:avLst/>
          </a:prstGeom>
          <a:noFill/>
        </p:spPr>
        <p:txBody>
          <a:bodyPr wrap="square">
            <a:spAutoFit/>
          </a:bodyPr>
          <a:lstStyle/>
          <a:p>
            <a:pPr>
              <a:defRPr sz="2800" b="1">
                <a:solidFill>
                  <a:srgbClr val="182334"/>
                </a:solidFill>
                <a:latin typeface="Aptos Display"/>
              </a:defRPr>
            </a:pPr>
            <a:r>
              <a:t>Accepted discovery example</a:t>
            </a:r>
          </a:p>
        </p:txBody>
      </p:sp>
      <p:sp>
        <p:nvSpPr>
          <p:cNvPr id="5" name="TextBox 4"/>
          <p:cNvSpPr txBox="1"/>
          <p:nvPr/>
        </p:nvSpPr>
        <p:spPr>
          <a:xfrm>
            <a:off x="493776" y="1234440"/>
            <a:ext cx="10789920" cy="457200"/>
          </a:xfrm>
          <a:prstGeom prst="rect">
            <a:avLst/>
          </a:prstGeom>
          <a:noFill/>
        </p:spPr>
        <p:txBody>
          <a:bodyPr wrap="square">
            <a:spAutoFit/>
          </a:bodyPr>
          <a:lstStyle/>
          <a:p>
            <a:pPr>
              <a:defRPr sz="1300">
                <a:solidFill>
                  <a:srgbClr val="5E6976"/>
                </a:solidFill>
                <a:latin typeface="Aptos"/>
              </a:defRPr>
            </a:pPr>
            <a:r>
              <a:t>The accepted QA is useful because the two users contribute different, necessary visual facts.</a:t>
            </a:r>
          </a:p>
        </p:txBody>
      </p:sp>
      <p:sp>
        <p:nvSpPr>
          <p:cNvPr id="6" name="TextBox 5"/>
          <p:cNvSpPr txBox="1"/>
          <p:nvPr/>
        </p:nvSpPr>
        <p:spPr>
          <a:xfrm>
            <a:off x="438912" y="6446520"/>
            <a:ext cx="9875520" cy="201168"/>
          </a:xfrm>
          <a:prstGeom prst="rect">
            <a:avLst/>
          </a:prstGeom>
          <a:noFill/>
        </p:spPr>
        <p:txBody>
          <a:bodyPr wrap="none">
            <a:spAutoFit/>
          </a:bodyPr>
          <a:lstStyle/>
          <a:p>
            <a:pPr>
              <a:defRPr sz="750">
                <a:solidFill>
                  <a:srgbClr val="5E6976"/>
                </a:solidFill>
                <a:latin typeface="Aptos"/>
              </a:defRPr>
            </a:pPr>
            <a:r>
              <a:t>Source: template_vs_nontemplate_qa_study.xlsx, Attempt Audit sheet</a:t>
            </a:r>
          </a:p>
        </p:txBody>
      </p:sp>
      <p:sp>
        <p:nvSpPr>
          <p:cNvPr id="7" name="TextBox 6"/>
          <p:cNvSpPr txBox="1"/>
          <p:nvPr/>
        </p:nvSpPr>
        <p:spPr>
          <a:xfrm>
            <a:off x="11292840" y="6446520"/>
            <a:ext cx="457200" cy="201168"/>
          </a:xfrm>
          <a:prstGeom prst="rect">
            <a:avLst/>
          </a:prstGeom>
          <a:noFill/>
        </p:spPr>
        <p:txBody>
          <a:bodyPr wrap="none">
            <a:spAutoFit/>
          </a:bodyPr>
          <a:lstStyle/>
          <a:p>
            <a:pPr algn="r">
              <a:defRPr sz="750">
                <a:solidFill>
                  <a:srgbClr val="5E6976"/>
                </a:solidFill>
                <a:latin typeface="Aptos"/>
              </a:defRPr>
            </a:pPr>
            <a:r>
              <a:t>11</a:t>
            </a:r>
          </a:p>
        </p:txBody>
      </p:sp>
      <p:sp>
        <p:nvSpPr>
          <p:cNvPr id="8" name="Rounded Rectangle 7"/>
          <p:cNvSpPr/>
          <p:nvPr/>
        </p:nvSpPr>
        <p:spPr>
          <a:xfrm>
            <a:off x="731520" y="1783080"/>
            <a:ext cx="10744200" cy="868680"/>
          </a:xfrm>
          <a:prstGeom prst="roundRect">
            <a:avLst/>
          </a:prstGeom>
          <a:solidFill>
            <a:srgbClr val="FFFFFF"/>
          </a:solidFill>
          <a:ln w="12700">
            <a:solidFill>
              <a:srgbClr val="D6DE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31520" y="1783080"/>
            <a:ext cx="73152" cy="868680"/>
          </a:xfrm>
          <a:prstGeom prst="rect">
            <a:avLst/>
          </a:prstGeom>
          <a:solidFill>
            <a:srgbClr val="3060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32688" y="1929384"/>
            <a:ext cx="10424160" cy="320040"/>
          </a:xfrm>
          <a:prstGeom prst="rect">
            <a:avLst/>
          </a:prstGeom>
          <a:noFill/>
        </p:spPr>
        <p:txBody>
          <a:bodyPr wrap="square">
            <a:normAutofit/>
          </a:bodyPr>
          <a:lstStyle/>
          <a:p>
            <a:pPr algn="l">
              <a:defRPr sz="1250" b="1">
                <a:solidFill>
                  <a:srgbClr val="182334"/>
                </a:solidFill>
                <a:latin typeface="Aptos"/>
              </a:defRPr>
            </a:pPr>
            <a:r>
              <a:t>Question</a:t>
            </a:r>
          </a:p>
        </p:txBody>
      </p:sp>
      <p:sp>
        <p:nvSpPr>
          <p:cNvPr id="11" name="TextBox 10"/>
          <p:cNvSpPr txBox="1"/>
          <p:nvPr/>
        </p:nvSpPr>
        <p:spPr>
          <a:xfrm>
            <a:off x="932688" y="2304288"/>
            <a:ext cx="10424160" cy="210311"/>
          </a:xfrm>
          <a:prstGeom prst="rect">
            <a:avLst/>
          </a:prstGeom>
          <a:noFill/>
        </p:spPr>
        <p:txBody>
          <a:bodyPr wrap="square">
            <a:normAutofit/>
          </a:bodyPr>
          <a:lstStyle/>
          <a:p>
            <a:pPr algn="l">
              <a:defRPr sz="1500" b="0">
                <a:solidFill>
                  <a:srgbClr val="242D39"/>
                </a:solidFill>
                <a:latin typeface="Aptos"/>
              </a:defRPr>
            </a:pPr>
            <a:r>
              <a:t>Is the person using the laptop also the one preparing food in the kitchen?</a:t>
            </a:r>
          </a:p>
        </p:txBody>
      </p:sp>
      <p:sp>
        <p:nvSpPr>
          <p:cNvPr id="12" name="Rounded Rectangle 11"/>
          <p:cNvSpPr/>
          <p:nvPr/>
        </p:nvSpPr>
        <p:spPr>
          <a:xfrm>
            <a:off x="731520" y="2880360"/>
            <a:ext cx="10744200" cy="868680"/>
          </a:xfrm>
          <a:prstGeom prst="roundRect">
            <a:avLst/>
          </a:prstGeom>
          <a:solidFill>
            <a:srgbClr val="FFFFFF"/>
          </a:solidFill>
          <a:ln w="12700">
            <a:solidFill>
              <a:srgbClr val="D6DE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31520" y="2880360"/>
            <a:ext cx="73152" cy="868680"/>
          </a:xfrm>
          <a:prstGeom prst="rect">
            <a:avLst/>
          </a:prstGeom>
          <a:solidFill>
            <a:srgbClr val="2A91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32688" y="3026664"/>
            <a:ext cx="10424160" cy="320040"/>
          </a:xfrm>
          <a:prstGeom prst="rect">
            <a:avLst/>
          </a:prstGeom>
          <a:noFill/>
        </p:spPr>
        <p:txBody>
          <a:bodyPr wrap="square">
            <a:normAutofit/>
          </a:bodyPr>
          <a:lstStyle/>
          <a:p>
            <a:pPr algn="l">
              <a:defRPr sz="1250" b="1">
                <a:solidFill>
                  <a:srgbClr val="182334"/>
                </a:solidFill>
                <a:latin typeface="Aptos"/>
              </a:defRPr>
            </a:pPr>
            <a:r>
              <a:t>Correct answer</a:t>
            </a:r>
          </a:p>
        </p:txBody>
      </p:sp>
      <p:sp>
        <p:nvSpPr>
          <p:cNvPr id="15" name="TextBox 14"/>
          <p:cNvSpPr txBox="1"/>
          <p:nvPr/>
        </p:nvSpPr>
        <p:spPr>
          <a:xfrm>
            <a:off x="932688" y="3401568"/>
            <a:ext cx="10424160" cy="210311"/>
          </a:xfrm>
          <a:prstGeom prst="rect">
            <a:avLst/>
          </a:prstGeom>
          <a:noFill/>
        </p:spPr>
        <p:txBody>
          <a:bodyPr wrap="square">
            <a:normAutofit/>
          </a:bodyPr>
          <a:lstStyle/>
          <a:p>
            <a:pPr algn="l">
              <a:defRPr sz="1350" b="0">
                <a:solidFill>
                  <a:srgbClr val="242D39"/>
                </a:solidFill>
                <a:latin typeface="Aptos"/>
              </a:defRPr>
            </a:pPr>
            <a:r>
              <a:t>Jake is on the couch using a laptop while Alice is in the kitchen preparing food</a:t>
            </a:r>
          </a:p>
        </p:txBody>
      </p:sp>
      <p:sp>
        <p:nvSpPr>
          <p:cNvPr id="16" name="Rounded Rectangle 15"/>
          <p:cNvSpPr/>
          <p:nvPr/>
        </p:nvSpPr>
        <p:spPr>
          <a:xfrm>
            <a:off x="731520" y="3977639"/>
            <a:ext cx="6492240" cy="1325880"/>
          </a:xfrm>
          <a:prstGeom prst="roundRect">
            <a:avLst/>
          </a:prstGeom>
          <a:solidFill>
            <a:srgbClr val="FFFFFF"/>
          </a:solidFill>
          <a:ln w="12700">
            <a:solidFill>
              <a:srgbClr val="D6DE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31520" y="3977639"/>
            <a:ext cx="73152" cy="1325880"/>
          </a:xfrm>
          <a:prstGeom prst="rect">
            <a:avLst/>
          </a:prstGeom>
          <a:solidFill>
            <a:srgbClr val="0080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32688" y="4123944"/>
            <a:ext cx="6172200" cy="320040"/>
          </a:xfrm>
          <a:prstGeom prst="rect">
            <a:avLst/>
          </a:prstGeom>
          <a:noFill/>
        </p:spPr>
        <p:txBody>
          <a:bodyPr wrap="square">
            <a:normAutofit/>
          </a:bodyPr>
          <a:lstStyle/>
          <a:p>
            <a:pPr algn="l">
              <a:defRPr sz="1250" b="1">
                <a:solidFill>
                  <a:srgbClr val="182334"/>
                </a:solidFill>
                <a:latin typeface="Aptos"/>
              </a:defRPr>
            </a:pPr>
            <a:r>
              <a:t>Why it needed two users</a:t>
            </a:r>
          </a:p>
        </p:txBody>
      </p:sp>
      <p:sp>
        <p:nvSpPr>
          <p:cNvPr id="19" name="TextBox 18"/>
          <p:cNvSpPr txBox="1"/>
          <p:nvPr/>
        </p:nvSpPr>
        <p:spPr>
          <a:xfrm>
            <a:off x="932688" y="4498848"/>
            <a:ext cx="6172200" cy="667512"/>
          </a:xfrm>
          <a:prstGeom prst="rect">
            <a:avLst/>
          </a:prstGeom>
          <a:noFill/>
        </p:spPr>
        <p:txBody>
          <a:bodyPr wrap="square">
            <a:normAutofit/>
          </a:bodyPr>
          <a:lstStyle/>
          <a:p>
            <a:pPr algn="l">
              <a:defRPr sz="1120" b="0">
                <a:solidFill>
                  <a:srgbClr val="242D39"/>
                </a:solidFill>
                <a:latin typeface="Aptos"/>
              </a:defRPr>
            </a:pPr>
            <a:r>
              <a:t>Jake's video shows his location (couch) and activity (laptop), while Alice's video shows her location (kitchen) and activity (food prep). Neither alone can confirm if they are the same person or if their tasks are related.</a:t>
            </a:r>
          </a:p>
        </p:txBody>
      </p:sp>
      <p:graphicFrame>
        <p:nvGraphicFramePr>
          <p:cNvPr id="20" name="Table 19"/>
          <p:cNvGraphicFramePr>
            <a:graphicFrameLocks noGrp="1"/>
          </p:cNvGraphicFramePr>
          <p:nvPr/>
        </p:nvGraphicFramePr>
        <p:xfrm>
          <a:off x="7635240" y="3977639"/>
          <a:ext cx="3657600" cy="1325880"/>
        </p:xfrm>
        <a:graphic>
          <a:graphicData uri="http://schemas.openxmlformats.org/drawingml/2006/table">
            <a:tbl>
              <a:tblPr firstRow="1" bandRow="1">
                <a:tableStyleId>{5C22544A-7EE6-4342-B048-85BDC9FD1C3A}</a:tableStyleId>
              </a:tblPr>
              <a:tblGrid>
                <a:gridCol w="1463040"/>
                <a:gridCol w="2194560"/>
              </a:tblGrid>
              <a:tr h="331470">
                <a:tc>
                  <a:txBody>
                    <a:bodyPr wrap="square">
                      <a:normAutofit/>
                    </a:bodyPr>
                    <a:lstStyle/>
                    <a:p>
                      <a:pPr algn="ctr">
                        <a:defRPr sz="819" b="1">
                          <a:solidFill>
                            <a:srgbClr val="FFFFFF"/>
                          </a:solidFill>
                          <a:latin typeface="Aptos"/>
                        </a:defRPr>
                      </a:pPr>
                      <a:r>
                        <a:t>condition</a:t>
                      </a:r>
                    </a:p>
                  </a:txBody>
                  <a:tcPr marL="36576" marR="36576" marT="27432" marB="27432">
                    <a:solidFill>
                      <a:srgbClr val="2A915C"/>
                    </a:solidFill>
                  </a:tcPr>
                </a:tc>
                <a:tc>
                  <a:txBody>
                    <a:bodyPr wrap="square">
                      <a:normAutofit/>
                    </a:bodyPr>
                    <a:lstStyle/>
                    <a:p>
                      <a:pPr algn="ctr">
                        <a:defRPr sz="819" b="1">
                          <a:solidFill>
                            <a:srgbClr val="FFFFFF"/>
                          </a:solidFill>
                          <a:latin typeface="Aptos"/>
                        </a:defRPr>
                      </a:pPr>
                      <a:r>
                        <a:t>result</a:t>
                      </a:r>
                    </a:p>
                  </a:txBody>
                  <a:tcPr marL="36576" marR="36576" marT="27432" marB="27432">
                    <a:solidFill>
                      <a:srgbClr val="2A915C"/>
                    </a:solidFill>
                  </a:tcPr>
                </a:tc>
              </a:tr>
              <a:tr h="331470">
                <a:tc>
                  <a:txBody>
                    <a:bodyPr wrap="square">
                      <a:normAutofit/>
                    </a:bodyPr>
                    <a:lstStyle/>
                    <a:p>
                      <a:pPr algn="ctr">
                        <a:defRPr sz="819" b="0">
                          <a:solidFill>
                            <a:srgbClr val="242D39"/>
                          </a:solidFill>
                          <a:latin typeface="Aptos"/>
                        </a:defRPr>
                      </a:pPr>
                      <a:r>
                        <a:t>Jake alone</a:t>
                      </a:r>
                    </a:p>
                  </a:txBody>
                  <a:tcPr marL="36576" marR="36576" marT="27432" marB="27432">
                    <a:solidFill>
                      <a:srgbClr val="FFFFFF"/>
                    </a:solidFill>
                  </a:tcPr>
                </a:tc>
                <a:tc>
                  <a:txBody>
                    <a:bodyPr wrap="square">
                      <a:normAutofit/>
                    </a:bodyPr>
                    <a:lstStyle/>
                    <a:p>
                      <a:pPr algn="ctr">
                        <a:defRPr sz="819" b="0">
                          <a:solidFill>
                            <a:srgbClr val="242D39"/>
                          </a:solidFill>
                          <a:latin typeface="Aptos"/>
                        </a:defRPr>
                      </a:pPr>
                      <a:r>
                        <a:t>insufficient</a:t>
                      </a:r>
                    </a:p>
                  </a:txBody>
                  <a:tcPr marL="36576" marR="36576" marT="27432" marB="27432">
                    <a:solidFill>
                      <a:srgbClr val="FFFFFF"/>
                    </a:solidFill>
                  </a:tcPr>
                </a:tc>
              </a:tr>
              <a:tr h="331470">
                <a:tc>
                  <a:txBody>
                    <a:bodyPr wrap="square">
                      <a:normAutofit/>
                    </a:bodyPr>
                    <a:lstStyle/>
                    <a:p>
                      <a:pPr algn="ctr">
                        <a:defRPr sz="819" b="0">
                          <a:solidFill>
                            <a:srgbClr val="242D39"/>
                          </a:solidFill>
                          <a:latin typeface="Aptos"/>
                        </a:defRPr>
                      </a:pPr>
                      <a:r>
                        <a:t>Alice alone</a:t>
                      </a:r>
                    </a:p>
                  </a:txBody>
                  <a:tcPr marL="36576" marR="36576" marT="27432" marB="27432">
                    <a:solidFill>
                      <a:srgbClr val="FBFCFE"/>
                    </a:solidFill>
                  </a:tcPr>
                </a:tc>
                <a:tc>
                  <a:txBody>
                    <a:bodyPr wrap="square">
                      <a:normAutofit/>
                    </a:bodyPr>
                    <a:lstStyle/>
                    <a:p>
                      <a:pPr algn="ctr">
                        <a:defRPr sz="819" b="0">
                          <a:solidFill>
                            <a:srgbClr val="242D39"/>
                          </a:solidFill>
                          <a:latin typeface="Aptos"/>
                        </a:defRPr>
                      </a:pPr>
                      <a:r>
                        <a:t>insufficient</a:t>
                      </a:r>
                    </a:p>
                  </a:txBody>
                  <a:tcPr marL="36576" marR="36576" marT="27432" marB="27432">
                    <a:solidFill>
                      <a:srgbClr val="FBFCFE"/>
                    </a:solidFill>
                  </a:tcPr>
                </a:tc>
              </a:tr>
              <a:tr h="331470">
                <a:tc>
                  <a:txBody>
                    <a:bodyPr wrap="square">
                      <a:normAutofit/>
                    </a:bodyPr>
                    <a:lstStyle/>
                    <a:p>
                      <a:pPr algn="ctr">
                        <a:defRPr sz="819" b="0">
                          <a:solidFill>
                            <a:srgbClr val="242D39"/>
                          </a:solidFill>
                          <a:latin typeface="Aptos"/>
                        </a:defRPr>
                      </a:pPr>
                      <a:r>
                        <a:t>Jake + Alice</a:t>
                      </a:r>
                    </a:p>
                  </a:txBody>
                  <a:tcPr marL="36576" marR="36576" marT="27432" marB="27432">
                    <a:solidFill>
                      <a:srgbClr val="FFFFFF"/>
                    </a:solidFill>
                  </a:tcPr>
                </a:tc>
                <a:tc>
                  <a:txBody>
                    <a:bodyPr wrap="square">
                      <a:normAutofit/>
                    </a:bodyPr>
                    <a:lstStyle/>
                    <a:p>
                      <a:pPr algn="ctr">
                        <a:defRPr sz="819" b="0">
                          <a:solidFill>
                            <a:srgbClr val="242D39"/>
                          </a:solidFill>
                          <a:latin typeface="Aptos"/>
                        </a:defRPr>
                      </a:pPr>
                      <a:r>
                        <a:t>A, confidence 0.99</a:t>
                      </a:r>
                    </a:p>
                  </a:txBody>
                  <a:tcPr marL="36576" marR="36576" marT="27432" marB="27432">
                    <a:solidFill>
                      <a:srgbClr val="FFFFFF"/>
                    </a:solidFill>
                  </a:tcPr>
                </a:tc>
              </a:tr>
            </a:tbl>
          </a:graphicData>
        </a:graphic>
      </p:graphicFrame>
      <p:sp>
        <p:nvSpPr>
          <p:cNvPr id="21" name="TextBox 20"/>
          <p:cNvSpPr txBox="1"/>
          <p:nvPr/>
        </p:nvSpPr>
        <p:spPr>
          <a:xfrm>
            <a:off x="914400" y="5715000"/>
            <a:ext cx="10332720" cy="411480"/>
          </a:xfrm>
          <a:prstGeom prst="rect">
            <a:avLst/>
          </a:prstGeom>
          <a:noFill/>
        </p:spPr>
        <p:txBody>
          <a:bodyPr wrap="square">
            <a:normAutofit/>
          </a:bodyPr>
          <a:lstStyle/>
          <a:p>
            <a:pPr algn="ctr">
              <a:defRPr sz="1400" b="1">
                <a:solidFill>
                  <a:srgbClr val="182334"/>
                </a:solidFill>
                <a:latin typeface="Aptos"/>
              </a:defRPr>
            </a:pPr>
            <a:r>
              <a:t>This is the desired shape: a situated question, asymmetric visual evidence, and a combined-only answer.</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7F9FC"/>
        </a:solidFill>
        <a:effectLst/>
      </p:bgPr>
    </p:bg>
    <p:spTree>
      <p:nvGrpSpPr>
        <p:cNvPr id="1" name=""/>
        <p:cNvGrpSpPr/>
        <p:nvPr/>
      </p:nvGrpSpPr>
      <p:grpSpPr/>
      <p:sp>
        <p:nvSpPr>
          <p:cNvPr id="2" name="Rectangle 1"/>
          <p:cNvSpPr/>
          <p:nvPr/>
        </p:nvSpPr>
        <p:spPr>
          <a:xfrm>
            <a:off x="475488" y="256032"/>
            <a:ext cx="91440" cy="228600"/>
          </a:xfrm>
          <a:prstGeom prst="rect">
            <a:avLst/>
          </a:prstGeom>
          <a:solidFill>
            <a:srgbClr val="0080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37744"/>
            <a:ext cx="4389120" cy="274320"/>
          </a:xfrm>
          <a:prstGeom prst="rect">
            <a:avLst/>
          </a:prstGeom>
          <a:noFill/>
        </p:spPr>
        <p:txBody>
          <a:bodyPr wrap="none">
            <a:spAutoFit/>
          </a:bodyPr>
          <a:lstStyle/>
          <a:p>
            <a:pPr>
              <a:defRPr sz="850" b="1">
                <a:solidFill>
                  <a:srgbClr val="008080"/>
                </a:solidFill>
                <a:latin typeface="Aptos"/>
              </a:defRPr>
            </a:pPr>
            <a:r>
              <a:t>NEXT STEPS</a:t>
            </a:r>
          </a:p>
        </p:txBody>
      </p:sp>
      <p:sp>
        <p:nvSpPr>
          <p:cNvPr id="4" name="TextBox 3"/>
          <p:cNvSpPr txBox="1"/>
          <p:nvPr/>
        </p:nvSpPr>
        <p:spPr>
          <a:xfrm>
            <a:off x="475488" y="603504"/>
            <a:ext cx="11155680" cy="621792"/>
          </a:xfrm>
          <a:prstGeom prst="rect">
            <a:avLst/>
          </a:prstGeom>
          <a:noFill/>
        </p:spPr>
        <p:txBody>
          <a:bodyPr wrap="square">
            <a:spAutoFit/>
          </a:bodyPr>
          <a:lstStyle/>
          <a:p>
            <a:pPr>
              <a:defRPr sz="2800" b="1">
                <a:solidFill>
                  <a:srgbClr val="182334"/>
                </a:solidFill>
                <a:latin typeface="Aptos Display"/>
              </a:defRPr>
            </a:pPr>
            <a:r>
              <a:t>Near-term work</a:t>
            </a:r>
          </a:p>
        </p:txBody>
      </p:sp>
      <p:sp>
        <p:nvSpPr>
          <p:cNvPr id="5" name="TextBox 4"/>
          <p:cNvSpPr txBox="1"/>
          <p:nvPr/>
        </p:nvSpPr>
        <p:spPr>
          <a:xfrm>
            <a:off x="493776" y="1234440"/>
            <a:ext cx="10789920" cy="457200"/>
          </a:xfrm>
          <a:prstGeom prst="rect">
            <a:avLst/>
          </a:prstGeom>
          <a:noFill/>
        </p:spPr>
        <p:txBody>
          <a:bodyPr wrap="square">
            <a:spAutoFit/>
          </a:bodyPr>
          <a:lstStyle/>
          <a:p>
            <a:pPr>
              <a:defRPr sz="1300">
                <a:solidFill>
                  <a:srgbClr val="5E6976"/>
                </a:solidFill>
                <a:latin typeface="Aptos"/>
              </a:defRPr>
            </a:pPr>
            <a:r>
              <a:t>The next iteration should move leakage detection earlier and make relation validity more explicit.</a:t>
            </a:r>
          </a:p>
        </p:txBody>
      </p:sp>
      <p:sp>
        <p:nvSpPr>
          <p:cNvPr id="6" name="TextBox 5"/>
          <p:cNvSpPr txBox="1"/>
          <p:nvPr/>
        </p:nvSpPr>
        <p:spPr>
          <a:xfrm>
            <a:off x="438912" y="6446520"/>
            <a:ext cx="9875520" cy="201168"/>
          </a:xfrm>
          <a:prstGeom prst="rect">
            <a:avLst/>
          </a:prstGeom>
          <a:noFill/>
        </p:spPr>
        <p:txBody>
          <a:bodyPr wrap="none">
            <a:spAutoFit/>
          </a:bodyPr>
          <a:lstStyle/>
          <a:p>
            <a:pPr>
              <a:defRPr sz="750">
                <a:solidFill>
                  <a:srgbClr val="5E6976"/>
                </a:solidFill>
                <a:latin typeface="Aptos"/>
              </a:defRPr>
            </a:pPr>
            <a:r>
              <a:t>Source: template_vs_nontemplate_qa_study.xlsx, Findings sheet</a:t>
            </a:r>
          </a:p>
        </p:txBody>
      </p:sp>
      <p:sp>
        <p:nvSpPr>
          <p:cNvPr id="7" name="TextBox 6"/>
          <p:cNvSpPr txBox="1"/>
          <p:nvPr/>
        </p:nvSpPr>
        <p:spPr>
          <a:xfrm>
            <a:off x="11292840" y="6446520"/>
            <a:ext cx="457200" cy="201168"/>
          </a:xfrm>
          <a:prstGeom prst="rect">
            <a:avLst/>
          </a:prstGeom>
          <a:noFill/>
        </p:spPr>
        <p:txBody>
          <a:bodyPr wrap="none">
            <a:spAutoFit/>
          </a:bodyPr>
          <a:lstStyle/>
          <a:p>
            <a:pPr algn="r">
              <a:defRPr sz="750">
                <a:solidFill>
                  <a:srgbClr val="5E6976"/>
                </a:solidFill>
                <a:latin typeface="Aptos"/>
              </a:defRPr>
            </a:pPr>
            <a:r>
              <a:t>12</a:t>
            </a:r>
          </a:p>
        </p:txBody>
      </p:sp>
      <p:sp>
        <p:nvSpPr>
          <p:cNvPr id="8" name="Rounded Rectangle 7"/>
          <p:cNvSpPr/>
          <p:nvPr/>
        </p:nvSpPr>
        <p:spPr>
          <a:xfrm>
            <a:off x="777240" y="1691640"/>
            <a:ext cx="10652760" cy="594360"/>
          </a:xfrm>
          <a:prstGeom prst="roundRect">
            <a:avLst/>
          </a:prstGeom>
          <a:solidFill>
            <a:srgbClr val="FFFFFF"/>
          </a:solidFill>
          <a:ln w="12700">
            <a:solidFill>
              <a:srgbClr val="D6DE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1691640"/>
            <a:ext cx="73152" cy="594360"/>
          </a:xfrm>
          <a:prstGeom prst="rect">
            <a:avLst/>
          </a:prstGeom>
          <a:solidFill>
            <a:srgbClr val="0080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78408" y="1837944"/>
            <a:ext cx="10332720" cy="320040"/>
          </a:xfrm>
          <a:prstGeom prst="rect">
            <a:avLst/>
          </a:prstGeom>
          <a:noFill/>
        </p:spPr>
        <p:txBody>
          <a:bodyPr wrap="square">
            <a:normAutofit/>
          </a:bodyPr>
          <a:lstStyle/>
          <a:p>
            <a:pPr algn="l">
              <a:defRPr sz="1150" b="1">
                <a:solidFill>
                  <a:srgbClr val="182334"/>
                </a:solidFill>
                <a:latin typeface="Aptos"/>
              </a:defRPr>
            </a:pPr>
            <a:r>
              <a:t>Earlier leakage veto</a:t>
            </a:r>
          </a:p>
        </p:txBody>
      </p:sp>
      <p:sp>
        <p:nvSpPr>
          <p:cNvPr id="11" name="TextBox 10"/>
          <p:cNvSpPr txBox="1"/>
          <p:nvPr/>
        </p:nvSpPr>
        <p:spPr>
          <a:xfrm>
            <a:off x="978408" y="2212848"/>
            <a:ext cx="10332720" cy="-64007"/>
          </a:xfrm>
          <a:prstGeom prst="rect">
            <a:avLst/>
          </a:prstGeom>
          <a:noFill/>
        </p:spPr>
        <p:txBody>
          <a:bodyPr wrap="square">
            <a:normAutofit/>
          </a:bodyPr>
          <a:lstStyle/>
          <a:p>
            <a:pPr algn="l">
              <a:defRPr sz="940" b="0">
                <a:solidFill>
                  <a:srgbClr val="242D39"/>
                </a:solidFill>
                <a:latin typeface="Aptos"/>
              </a:defRPr>
            </a:pPr>
            <a:r>
              <a:t>Run a cheap restricted-view probe or relation-level check before spending full attempts on MCQ wording.</a:t>
            </a:r>
          </a:p>
        </p:txBody>
      </p:sp>
      <p:sp>
        <p:nvSpPr>
          <p:cNvPr id="12" name="Rounded Rectangle 11"/>
          <p:cNvSpPr/>
          <p:nvPr/>
        </p:nvSpPr>
        <p:spPr>
          <a:xfrm>
            <a:off x="777240" y="2487168"/>
            <a:ext cx="10652760" cy="594360"/>
          </a:xfrm>
          <a:prstGeom prst="roundRect">
            <a:avLst/>
          </a:prstGeom>
          <a:solidFill>
            <a:srgbClr val="FFFFFF"/>
          </a:solidFill>
          <a:ln w="12700">
            <a:solidFill>
              <a:srgbClr val="D6DE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2487168"/>
            <a:ext cx="73152" cy="594360"/>
          </a:xfrm>
          <a:prstGeom prst="rect">
            <a:avLst/>
          </a:prstGeom>
          <a:solidFill>
            <a:srgbClr val="3060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78408" y="2633472"/>
            <a:ext cx="10332720" cy="320040"/>
          </a:xfrm>
          <a:prstGeom prst="rect">
            <a:avLst/>
          </a:prstGeom>
          <a:noFill/>
        </p:spPr>
        <p:txBody>
          <a:bodyPr wrap="square">
            <a:normAutofit/>
          </a:bodyPr>
          <a:lstStyle/>
          <a:p>
            <a:pPr algn="l">
              <a:defRPr sz="1150" b="1">
                <a:solidFill>
                  <a:srgbClr val="182334"/>
                </a:solidFill>
                <a:latin typeface="Aptos"/>
              </a:defRPr>
            </a:pPr>
            <a:r>
              <a:t>Relation validator</a:t>
            </a:r>
          </a:p>
        </p:txBody>
      </p:sp>
      <p:sp>
        <p:nvSpPr>
          <p:cNvPr id="15" name="TextBox 14"/>
          <p:cNvSpPr txBox="1"/>
          <p:nvPr/>
        </p:nvSpPr>
        <p:spPr>
          <a:xfrm>
            <a:off x="978408" y="3008376"/>
            <a:ext cx="10332720" cy="-64007"/>
          </a:xfrm>
          <a:prstGeom prst="rect">
            <a:avLst/>
          </a:prstGeom>
          <a:noFill/>
        </p:spPr>
        <p:txBody>
          <a:bodyPr wrap="square">
            <a:normAutofit/>
          </a:bodyPr>
          <a:lstStyle/>
          <a:p>
            <a:pPr algn="l">
              <a:defRPr sz="940" b="0">
                <a:solidFill>
                  <a:srgbClr val="242D39"/>
                </a:solidFill>
                <a:latin typeface="Aptos"/>
              </a:defRPr>
            </a:pPr>
            <a:r>
              <a:t>Require the planner to prove speaker anchor, missing detail, temporal/logical relation, and why removing either user leaves ambiguity.</a:t>
            </a:r>
          </a:p>
        </p:txBody>
      </p:sp>
      <p:sp>
        <p:nvSpPr>
          <p:cNvPr id="16" name="Rounded Rectangle 15"/>
          <p:cNvSpPr/>
          <p:nvPr/>
        </p:nvSpPr>
        <p:spPr>
          <a:xfrm>
            <a:off x="777240" y="3282696"/>
            <a:ext cx="10652760" cy="594360"/>
          </a:xfrm>
          <a:prstGeom prst="roundRect">
            <a:avLst/>
          </a:prstGeom>
          <a:solidFill>
            <a:srgbClr val="FFFFFF"/>
          </a:solidFill>
          <a:ln w="12700">
            <a:solidFill>
              <a:srgbClr val="D6DE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77240" y="3282696"/>
            <a:ext cx="73152" cy="594360"/>
          </a:xfrm>
          <a:prstGeom prst="rect">
            <a:avLst/>
          </a:prstGeom>
          <a:solidFill>
            <a:srgbClr val="CD8B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78408" y="3429000"/>
            <a:ext cx="10332720" cy="320040"/>
          </a:xfrm>
          <a:prstGeom prst="rect">
            <a:avLst/>
          </a:prstGeom>
          <a:noFill/>
        </p:spPr>
        <p:txBody>
          <a:bodyPr wrap="square">
            <a:normAutofit/>
          </a:bodyPr>
          <a:lstStyle/>
          <a:p>
            <a:pPr algn="l">
              <a:defRPr sz="1150" b="1">
                <a:solidFill>
                  <a:srgbClr val="182334"/>
                </a:solidFill>
                <a:latin typeface="Aptos"/>
              </a:defRPr>
            </a:pPr>
            <a:r>
              <a:t>Specialized judges</a:t>
            </a:r>
          </a:p>
        </p:txBody>
      </p:sp>
      <p:sp>
        <p:nvSpPr>
          <p:cNvPr id="19" name="TextBox 18"/>
          <p:cNvSpPr txBox="1"/>
          <p:nvPr/>
        </p:nvSpPr>
        <p:spPr>
          <a:xfrm>
            <a:off x="978408" y="3803904"/>
            <a:ext cx="10332720" cy="-64007"/>
          </a:xfrm>
          <a:prstGeom prst="rect">
            <a:avLst/>
          </a:prstGeom>
          <a:noFill/>
        </p:spPr>
        <p:txBody>
          <a:bodyPr wrap="square">
            <a:normAutofit/>
          </a:bodyPr>
          <a:lstStyle/>
          <a:p>
            <a:pPr algn="l">
              <a:defRPr sz="940" b="0">
                <a:solidFill>
                  <a:srgbClr val="242D39"/>
                </a:solidFill>
                <a:latin typeface="Aptos"/>
              </a:defRPr>
            </a:pPr>
            <a:r>
              <a:t>Keep broad review, but add targeted hard vetoes for multi-video necessity and visual grounding.</a:t>
            </a:r>
          </a:p>
        </p:txBody>
      </p:sp>
      <p:sp>
        <p:nvSpPr>
          <p:cNvPr id="20" name="Rounded Rectangle 19"/>
          <p:cNvSpPr/>
          <p:nvPr/>
        </p:nvSpPr>
        <p:spPr>
          <a:xfrm>
            <a:off x="777240" y="4078224"/>
            <a:ext cx="10652760" cy="594360"/>
          </a:xfrm>
          <a:prstGeom prst="roundRect">
            <a:avLst/>
          </a:prstGeom>
          <a:solidFill>
            <a:srgbClr val="FFFFFF"/>
          </a:solidFill>
          <a:ln w="12700">
            <a:solidFill>
              <a:srgbClr val="D6DE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77240" y="4078224"/>
            <a:ext cx="73152" cy="594360"/>
          </a:xfrm>
          <a:prstGeom prst="rect">
            <a:avLst/>
          </a:prstGeom>
          <a:solidFill>
            <a:srgbClr val="2A91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78408" y="4224528"/>
            <a:ext cx="10332720" cy="320040"/>
          </a:xfrm>
          <a:prstGeom prst="rect">
            <a:avLst/>
          </a:prstGeom>
          <a:noFill/>
        </p:spPr>
        <p:txBody>
          <a:bodyPr wrap="square">
            <a:normAutofit/>
          </a:bodyPr>
          <a:lstStyle/>
          <a:p>
            <a:pPr algn="l">
              <a:defRPr sz="1150" b="1">
                <a:solidFill>
                  <a:srgbClr val="182334"/>
                </a:solidFill>
                <a:latin typeface="Aptos"/>
              </a:defRPr>
            </a:pPr>
            <a:r>
              <a:t>Larger audit</a:t>
            </a:r>
          </a:p>
        </p:txBody>
      </p:sp>
      <p:sp>
        <p:nvSpPr>
          <p:cNvPr id="23" name="TextBox 22"/>
          <p:cNvSpPr txBox="1"/>
          <p:nvPr/>
        </p:nvSpPr>
        <p:spPr>
          <a:xfrm>
            <a:off x="978408" y="4599432"/>
            <a:ext cx="10332720" cy="-64007"/>
          </a:xfrm>
          <a:prstGeom prst="rect">
            <a:avLst/>
          </a:prstGeom>
          <a:noFill/>
        </p:spPr>
        <p:txBody>
          <a:bodyPr wrap="square">
            <a:normAutofit/>
          </a:bodyPr>
          <a:lstStyle/>
          <a:p>
            <a:pPr algn="l">
              <a:defRPr sz="940" b="0">
                <a:solidFill>
                  <a:srgbClr val="242D39"/>
                </a:solidFill>
                <a:latin typeface="Aptos"/>
              </a:defRPr>
            </a:pPr>
            <a:r>
              <a:t>Scale beyond the 5-packet slice and report acceptance, leakage, combined-wrong, and reviewer-failure rates per packet type.</a:t>
            </a:r>
          </a:p>
        </p:txBody>
      </p:sp>
      <p:sp>
        <p:nvSpPr>
          <p:cNvPr id="24" name="Rounded Rectangle 23"/>
          <p:cNvSpPr/>
          <p:nvPr/>
        </p:nvSpPr>
        <p:spPr>
          <a:xfrm>
            <a:off x="777240" y="4873752"/>
            <a:ext cx="10652760" cy="594360"/>
          </a:xfrm>
          <a:prstGeom prst="roundRect">
            <a:avLst/>
          </a:prstGeom>
          <a:solidFill>
            <a:srgbClr val="FFFFFF"/>
          </a:solidFill>
          <a:ln w="12700">
            <a:solidFill>
              <a:srgbClr val="D6DE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777240" y="4873752"/>
            <a:ext cx="73152" cy="594360"/>
          </a:xfrm>
          <a:prstGeom prst="rect">
            <a:avLst/>
          </a:prstGeom>
          <a:solidFill>
            <a:srgbClr val="BE46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78408" y="5020056"/>
            <a:ext cx="10332720" cy="320040"/>
          </a:xfrm>
          <a:prstGeom prst="rect">
            <a:avLst/>
          </a:prstGeom>
          <a:noFill/>
        </p:spPr>
        <p:txBody>
          <a:bodyPr wrap="square">
            <a:normAutofit/>
          </a:bodyPr>
          <a:lstStyle/>
          <a:p>
            <a:pPr algn="l">
              <a:defRPr sz="1150" b="1">
                <a:solidFill>
                  <a:srgbClr val="182334"/>
                </a:solidFill>
                <a:latin typeface="Aptos"/>
              </a:defRPr>
            </a:pPr>
            <a:r>
              <a:t>Better repair loop</a:t>
            </a:r>
          </a:p>
        </p:txBody>
      </p:sp>
      <p:sp>
        <p:nvSpPr>
          <p:cNvPr id="27" name="TextBox 26"/>
          <p:cNvSpPr txBox="1"/>
          <p:nvPr/>
        </p:nvSpPr>
        <p:spPr>
          <a:xfrm>
            <a:off x="978408" y="5394960"/>
            <a:ext cx="10332720" cy="-64007"/>
          </a:xfrm>
          <a:prstGeom prst="rect">
            <a:avLst/>
          </a:prstGeom>
          <a:noFill/>
        </p:spPr>
        <p:txBody>
          <a:bodyPr wrap="square">
            <a:normAutofit/>
          </a:bodyPr>
          <a:lstStyle/>
          <a:p>
            <a:pPr algn="l">
              <a:defRPr sz="940" b="0">
                <a:solidFill>
                  <a:srgbClr val="242D39"/>
                </a:solidFill>
                <a:latin typeface="Aptos"/>
              </a:defRPr>
            </a:pPr>
            <a:r>
              <a:t>Use failure-specific feedback templates so retries change the underlying relation instead of paraphrasing the same question.</a:t>
            </a:r>
          </a:p>
        </p:txBody>
      </p:sp>
      <p:sp>
        <p:nvSpPr>
          <p:cNvPr id="28" name="TextBox 27"/>
          <p:cNvSpPr txBox="1"/>
          <p:nvPr/>
        </p:nvSpPr>
        <p:spPr>
          <a:xfrm>
            <a:off x="868680" y="5897880"/>
            <a:ext cx="10515600" cy="320040"/>
          </a:xfrm>
          <a:prstGeom prst="rect">
            <a:avLst/>
          </a:prstGeom>
          <a:noFill/>
        </p:spPr>
        <p:txBody>
          <a:bodyPr wrap="square">
            <a:normAutofit/>
          </a:bodyPr>
          <a:lstStyle/>
          <a:p>
            <a:pPr algn="ctr">
              <a:defRPr sz="1250" b="1">
                <a:solidFill>
                  <a:srgbClr val="182334"/>
                </a:solidFill>
                <a:latin typeface="Aptos"/>
              </a:defRPr>
            </a:pPr>
            <a:r>
              <a:t>Recommended working pipeline: relation proposal -&gt; necessity proof -&gt; MCQ -&gt; multi-check review -&gt; single-view answerability test.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