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76337ed55ae44b4" /><Relationship Type="http://schemas.openxmlformats.org/officeDocument/2006/relationships/extended-properties" Target="/docProps/app.xml" Id="R51de1b156302424d" /><Relationship Type="http://schemas.openxmlformats.org/officeDocument/2006/relationships/officeDocument" Target="/ppt/presentation.xml" Id="R516872e4597c452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4f6c865676442b1"/>
  </p:sldMasterIdLst>
  <p:notesMasterIdLst>
    <p:notesMasterId xmlns:r="http://schemas.openxmlformats.org/officeDocument/2006/relationships" r:id="R6961f8e546d543bf"/>
  </p:notesMasterIdLst>
  <p:sldIdLst>
    <p:sldId xmlns:r="http://schemas.openxmlformats.org/officeDocument/2006/relationships" id="256" r:id="R9349a7bfa8834b2a"/>
    <p:sldId xmlns:r="http://schemas.openxmlformats.org/officeDocument/2006/relationships" id="257" r:id="Rf219bc5fb8454f29"/>
    <p:sldId xmlns:r="http://schemas.openxmlformats.org/officeDocument/2006/relationships" id="258" r:id="R60cc225be47c46e8"/>
    <p:sldId xmlns:r="http://schemas.openxmlformats.org/officeDocument/2006/relationships" id="259" r:id="Rec0a76a97c4745d4"/>
    <p:sldId xmlns:r="http://schemas.openxmlformats.org/officeDocument/2006/relationships" id="260" r:id="R9e2869373c284387"/>
    <p:sldId xmlns:r="http://schemas.openxmlformats.org/officeDocument/2006/relationships" id="261" r:id="Rca947f1172974890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71ce28a6778458e" /><Relationship Type="http://schemas.openxmlformats.org/officeDocument/2006/relationships/slideMaster" Target="/ppt/slideMasters/slideMaster1.xml" Id="R74f6c865676442b1" /><Relationship Type="http://schemas.openxmlformats.org/officeDocument/2006/relationships/notesMaster" Target="/ppt/notesMasters/notesMaster1.xml" Id="R6961f8e546d543bf" /><Relationship Type="http://schemas.openxmlformats.org/officeDocument/2006/relationships/presProps" Target="/ppt/presProps.xml" Id="Rc695dfee2ac342f7" /><Relationship Type="http://schemas.openxmlformats.org/officeDocument/2006/relationships/tableStyles" Target="/ppt/tableStyles.xml" Id="R66aa28c233824a75" /><Relationship Type="http://schemas.openxmlformats.org/officeDocument/2006/relationships/slide" Target="/ppt/slides/slide1.xml" Id="R9349a7bfa8834b2a" /><Relationship Type="http://schemas.openxmlformats.org/officeDocument/2006/relationships/slide" Target="/ppt/slides/slide2.xml" Id="Rf219bc5fb8454f29" /><Relationship Type="http://schemas.openxmlformats.org/officeDocument/2006/relationships/slide" Target="/ppt/slides/slide3.xml" Id="R60cc225be47c46e8" /><Relationship Type="http://schemas.openxmlformats.org/officeDocument/2006/relationships/slide" Target="/ppt/slides/slide4.xml" Id="Rec0a76a97c4745d4" /><Relationship Type="http://schemas.openxmlformats.org/officeDocument/2006/relationships/slide" Target="/ppt/slides/slide5.xml" Id="R9e2869373c284387" /><Relationship Type="http://schemas.openxmlformats.org/officeDocument/2006/relationships/slide" Target="/ppt/slides/slide6.xml" Id="Rca947f117297489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310cf8a839f435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e5896d3120c48cd" /><Relationship Type="http://schemas.openxmlformats.org/officeDocument/2006/relationships/notesMaster" Target="/ppt/notesMasters/notesMaster1.xml" Id="R4dfeeccc220b470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73dc747bfbc42cc" /><Relationship Type="http://schemas.openxmlformats.org/officeDocument/2006/relationships/notesMaster" Target="/ppt/notesMasters/notesMaster1.xml" Id="R89b6cd19a18d4ca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e97cc178be94237" /><Relationship Type="http://schemas.openxmlformats.org/officeDocument/2006/relationships/notesMaster" Target="/ppt/notesMasters/notesMaster1.xml" Id="R843f22ca6c73433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bbc733add7b4206" /><Relationship Type="http://schemas.openxmlformats.org/officeDocument/2006/relationships/notesMaster" Target="/ppt/notesMasters/notesMaster1.xml" Id="Rbafa7d0574084a5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592ebac877a4644" /><Relationship Type="http://schemas.openxmlformats.org/officeDocument/2006/relationships/notesMaster" Target="/ppt/notesMasters/notesMaster1.xml" Id="R80698adedab9491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b69b8d2ee8846d2" /><Relationship Type="http://schemas.openxmlformats.org/officeDocument/2006/relationships/notesMaster" Target="/ppt/notesMasters/notesMaster1.xml" Id="R6977c30184bc428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83bfb103276458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7a4a939a67a4d6e" /><Relationship Type="http://schemas.openxmlformats.org/officeDocument/2006/relationships/slideLayout" Target="/ppt/slideLayouts/slideLayout1.xml" Id="R74479f1fc0f5468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4479f1fc0f5468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471c7531be4719" /><Relationship Type="http://schemas.openxmlformats.org/officeDocument/2006/relationships/notesSlide" Target="/ppt/notesSlides/notesSlide1.xml" Id="Rf5c346aa2c394cb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f378ffcc594764" /><Relationship Type="http://schemas.openxmlformats.org/officeDocument/2006/relationships/notesSlide" Target="/ppt/notesSlides/notesSlide2.xml" Id="Ra4073bcddbd8441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588fcc6a5741a6" /><Relationship Type="http://schemas.openxmlformats.org/officeDocument/2006/relationships/notesSlide" Target="/ppt/notesSlides/notesSlide3.xml" Id="Red52ec9371d4499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0dbf8edfe84cdc" /><Relationship Type="http://schemas.openxmlformats.org/officeDocument/2006/relationships/notesSlide" Target="/ppt/notesSlides/notesSlide4.xml" Id="R3cb823ccdbd44d2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4517936369482f" /><Relationship Type="http://schemas.openxmlformats.org/officeDocument/2006/relationships/notesSlide" Target="/ppt/notesSlides/notesSlide5.xml" Id="Raedd69e665084cc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0f953700474f23" /><Relationship Type="http://schemas.openxmlformats.org/officeDocument/2006/relationships/notesSlide" Target="/ppt/notesSlides/notesSlide6.xml" Id="Rc163aa0daddd4e1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cover-eyebrow">
            <a:extLst xmlns:a="http://schemas.openxmlformats.org/drawingml/2006/main">
              <a:ext uri="{FF2B5EF4-FFF2-40B4-BE49-F238E27FC236}">
                <a16:creationId xmlns:a16="http://schemas.microsoft.com/office/drawing/2014/main" id="{02FF7C86-3FB7-42E7-8905-B617719DA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5720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D8DFF"/>
                </a:solidFill>
              </a:defRPr>
            </a:pPr>
            <a:r>
              <a:rPr sz="1500" b="1">
                <a:solidFill>
                  <a:srgbClr val="3D8DFF"/>
                </a:solidFill>
              </a:rPr>
              <a:t>EGOLIFE • BASELINE NEUTRAL</a:t>
            </a:r>
          </a:p>
        </p:txBody>
      </p:sp>
      <p:sp>
        <p:nvSpPr>
          <p:cNvPr id="2" name="cover-title">
            <a:extLst xmlns:a="http://schemas.openxmlformats.org/drawingml/2006/main">
              <a:ext uri="{FF2B5EF4-FFF2-40B4-BE49-F238E27FC236}">
                <a16:creationId xmlns:a16="http://schemas.microsoft.com/office/drawing/2014/main" id="{4A9757D3-CA95-4AB8-AC3C-D8DF074E8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752600"/>
            <a:ext cx="68580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5550" b="0">
                <a:solidFill>
                  <a:srgbClr val="000000"/>
                </a:solidFill>
              </a:defRPr>
            </a:pPr>
            <a:r>
              <a:rPr sz="5550" b="0">
                <a:solidFill>
                  <a:srgbClr val="000000"/>
                </a:solidFill>
              </a:rPr>
              <a:t>Question generation</a:t>
            </a:r>
          </a:p>
          <a:p xmlns:a="http://schemas.openxmlformats.org/drawingml/2006/main">
            <a:pPr algn="l">
              <a:defRPr sz="5550" b="0">
                <a:solidFill>
                  <a:srgbClr val="000000"/>
                </a:solidFill>
              </a:defRPr>
            </a:pPr>
            <a:r>
              <a:rPr sz="5550" b="0">
                <a:solidFill>
                  <a:srgbClr val="000000"/>
                </a:solidFill>
              </a:rPr>
              <a:t>pipeline</a:t>
            </a:r>
          </a:p>
        </p:txBody>
      </p:sp>
      <p:sp>
        <p:nvSpPr>
          <p:cNvPr id="3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828BBB77-802F-4AB0-9802-1B007BC1B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171950"/>
            <a:ext cx="685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5A6069"/>
                </a:solidFill>
              </a:defRPr>
            </a:pPr>
            <a:r>
              <a:rPr sz="2100" b="0">
                <a:solidFill>
                  <a:srgbClr val="5A6069"/>
                </a:solidFill>
              </a:rPr>
              <a:t>Prune for the generator. Verify on full originals.</a:t>
            </a:r>
          </a:p>
        </p:txBody>
      </p:sp>
      <p:sp>
        <p:nvSpPr>
          <p:cNvPr id="4" name="cover-scope">
            <a:extLst xmlns:a="http://schemas.openxmlformats.org/drawingml/2006/main">
              <a:ext uri="{FF2B5EF4-FFF2-40B4-BE49-F238E27FC236}">
                <a16:creationId xmlns:a16="http://schemas.microsoft.com/office/drawing/2014/main" id="{F6441E2B-F433-49E7-93AF-2BDC78340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876800"/>
            <a:ext cx="7620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A6069"/>
                </a:solidFill>
              </a:defRPr>
            </a:pPr>
            <a:r>
              <a:rPr sz="1275" b="0">
                <a:solidFill>
                  <a:srgbClr val="5A6069"/>
                </a:solidFill>
              </a:rPr>
              <a:t>Two synchronized egocentric views → one five-option MCQ → three parallel review branches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49A35D3-BB45-4943-8651-296F1963C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196215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A6069"/>
                </a:solidFill>
              </a:defRPr>
            </a:pPr>
            <a:r>
              <a:rPr sz="1125" b="1">
                <a:solidFill>
                  <a:srgbClr val="5A6069"/>
                </a:solidFill>
              </a:rPr>
              <a:t>FULL ORIGINALS</a:t>
            </a:r>
          </a:p>
        </p:txBody>
      </p:sp>
      <p:sp>
        <p:nvSpPr>
          <p:cNvPr id="6" name="cover-original-timeline">
            <a:extLst xmlns:a="http://schemas.openxmlformats.org/drawingml/2006/main">
              <a:ext uri="{FF2B5EF4-FFF2-40B4-BE49-F238E27FC236}">
                <a16:creationId xmlns:a16="http://schemas.microsoft.com/office/drawing/2014/main" id="{1B4F7BCE-8D80-4B61-ACCB-D7360604C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305050"/>
            <a:ext cx="3143250" cy="28575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9DCE1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cover-original-timeline-segment-1">
            <a:extLst xmlns:a="http://schemas.openxmlformats.org/drawingml/2006/main">
              <a:ext uri="{FF2B5EF4-FFF2-40B4-BE49-F238E27FC236}">
                <a16:creationId xmlns:a16="http://schemas.microsoft.com/office/drawing/2014/main" id="{33A43825-33DB-4C99-ADB3-DB6CA3DF4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343150"/>
            <a:ext cx="908685" cy="20955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8" name="cover-original-timeline-segment-2">
            <a:extLst xmlns:a="http://schemas.openxmlformats.org/drawingml/2006/main">
              <a:ext uri="{FF2B5EF4-FFF2-40B4-BE49-F238E27FC236}">
                <a16:creationId xmlns:a16="http://schemas.microsoft.com/office/drawing/2014/main" id="{735300B5-4D34-490E-A5F1-97D64EC7D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5435" y="2343150"/>
            <a:ext cx="605790" cy="20955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9" name="cover-original-timeline-segment-3">
            <a:extLst xmlns:a="http://schemas.openxmlformats.org/drawingml/2006/main">
              <a:ext uri="{FF2B5EF4-FFF2-40B4-BE49-F238E27FC236}">
                <a16:creationId xmlns:a16="http://schemas.microsoft.com/office/drawing/2014/main" id="{6CB0A0D8-8BE5-4C9C-88C5-78B27723A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0275" y="2343150"/>
            <a:ext cx="605790" cy="20955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0" name="cover-original-timeline-segment-4">
            <a:extLst xmlns:a="http://schemas.openxmlformats.org/drawingml/2006/main">
              <a:ext uri="{FF2B5EF4-FFF2-40B4-BE49-F238E27FC236}">
                <a16:creationId xmlns:a16="http://schemas.microsoft.com/office/drawing/2014/main" id="{3A44D1E8-5114-4D96-AAF1-DA631EFAC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45115" y="2343150"/>
            <a:ext cx="908685" cy="20955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915311E-E1FD-4AE8-87EB-7372D4B27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08610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D8DFF"/>
                </a:solidFill>
              </a:defRPr>
            </a:pPr>
            <a:r>
              <a:rPr sz="1125" b="1">
                <a:solidFill>
                  <a:srgbClr val="3D8DFF"/>
                </a:solidFill>
              </a:rPr>
              <a:t>PRUNED GENERATOR VIEW</a:t>
            </a:r>
          </a:p>
        </p:txBody>
      </p:sp>
      <p:sp>
        <p:nvSpPr>
          <p:cNvPr id="12" name="cover-pruned-timeline">
            <a:extLst xmlns:a="http://schemas.openxmlformats.org/drawingml/2006/main">
              <a:ext uri="{FF2B5EF4-FFF2-40B4-BE49-F238E27FC236}">
                <a16:creationId xmlns:a16="http://schemas.microsoft.com/office/drawing/2014/main" id="{79ACBFAA-B4C5-418F-A081-FC9C8D539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429000"/>
            <a:ext cx="3143250" cy="28575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9DCE1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3" name="cover-pruned-timeline-segment-1">
            <a:extLst xmlns:a="http://schemas.openxmlformats.org/drawingml/2006/main">
              <a:ext uri="{FF2B5EF4-FFF2-40B4-BE49-F238E27FC236}">
                <a16:creationId xmlns:a16="http://schemas.microsoft.com/office/drawing/2014/main" id="{BC179213-1C44-4CA5-9008-1829EA225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467100"/>
            <a:ext cx="902970" cy="20955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14" name="cover-pruned-timeline-segment-2">
            <a:extLst xmlns:a="http://schemas.openxmlformats.org/drawingml/2006/main">
              <a:ext uri="{FF2B5EF4-FFF2-40B4-BE49-F238E27FC236}">
                <a16:creationId xmlns:a16="http://schemas.microsoft.com/office/drawing/2014/main" id="{EACEA3C2-29FE-4F35-9373-4C571AAF4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9720" y="3467100"/>
            <a:ext cx="601980" cy="20955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5" name="cover-pruned-timeline-segment-3">
            <a:extLst xmlns:a="http://schemas.openxmlformats.org/drawingml/2006/main">
              <a:ext uri="{FF2B5EF4-FFF2-40B4-BE49-F238E27FC236}">
                <a16:creationId xmlns:a16="http://schemas.microsoft.com/office/drawing/2014/main" id="{53BF2514-7E47-439E-878A-41D300A02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3467100"/>
            <a:ext cx="300990" cy="20955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16" name="cover-pruned-timeline-segment-4">
            <a:extLst xmlns:a="http://schemas.openxmlformats.org/drawingml/2006/main">
              <a:ext uri="{FF2B5EF4-FFF2-40B4-BE49-F238E27FC236}">
                <a16:creationId xmlns:a16="http://schemas.microsoft.com/office/drawing/2014/main" id="{EA8BF2D8-EB8F-45A2-8262-02B6E2356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0790" y="3467100"/>
            <a:ext cx="601980" cy="20955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7" name="cover-pruned-timeline-segment-5">
            <a:extLst xmlns:a="http://schemas.openxmlformats.org/drawingml/2006/main">
              <a:ext uri="{FF2B5EF4-FFF2-40B4-BE49-F238E27FC236}">
                <a16:creationId xmlns:a16="http://schemas.microsoft.com/office/drawing/2014/main" id="{819E5599-39D0-4AB0-B3E1-72281B307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51820" y="3467100"/>
            <a:ext cx="601980" cy="20955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18" name="cover-arrow">
            <a:extLst xmlns:a="http://schemas.openxmlformats.org/drawingml/2006/main">
              <a:ext uri="{FF2B5EF4-FFF2-40B4-BE49-F238E27FC236}">
                <a16:creationId xmlns:a16="http://schemas.microsoft.com/office/drawing/2014/main" id="{D95BEB92-4BD8-419C-9E53-B6DE4EDF9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3905250"/>
            <a:ext cx="476250" cy="6858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19" name="cover-generator">
            <a:extLst xmlns:a="http://schemas.openxmlformats.org/drawingml/2006/main">
              <a:ext uri="{FF2B5EF4-FFF2-40B4-BE49-F238E27FC236}">
                <a16:creationId xmlns:a16="http://schemas.microsoft.com/office/drawing/2014/main" id="{4F3A1632-4F51-4801-8C4A-0713885B8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762500"/>
            <a:ext cx="228600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DF3FC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BF1256A-BF02-4D6A-B68D-EA93548BD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4914900"/>
            <a:ext cx="200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00000"/>
                </a:solidFill>
              </a:defRPr>
            </a:pPr>
            <a:r>
              <a:rPr sz="1425" b="1">
                <a:solidFill>
                  <a:srgbClr val="000000"/>
                </a:solidFill>
              </a:rPr>
              <a:t>BASELINE GENERATOR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6F8EBCF-6DBF-4AD9-910C-8EA7F78F0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28650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9"/>
                </a:solidFill>
              </a:defRPr>
            </a:pPr>
            <a:r>
              <a:rPr sz="975" b="0">
                <a:solidFill>
                  <a:srgbClr val="5A6069"/>
                </a:solidFill>
              </a:rPr>
              <a:t>Implementation map • July 2026</a:t>
            </a:r>
          </a:p>
        </p:txBody>
      </p:sp>
    </p:spTree>
    <p:extLst>
      <p:ext uri="{BB962C8B-B14F-4D97-AF65-F5344CB8AC3E}">
        <p14:creationId xmlns:p14="http://schemas.microsoft.com/office/powerpoint/2010/main" val="92808703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AC3C04A-0BB8-46C0-A285-973A7650D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11391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925" b="0">
                <a:solidFill>
                  <a:srgbClr val="000000"/>
                </a:solidFill>
              </a:defRPr>
            </a:pPr>
            <a:r>
              <a:rPr sz="2925" b="0">
                <a:solidFill>
                  <a:srgbClr val="000000"/>
                </a:solidFill>
              </a:rPr>
              <a:t>The baseline-neutral path is a single generate–verify loop</a:t>
            </a:r>
          </a:p>
        </p:txBody>
      </p:sp>
      <p:sp>
        <p:nvSpPr>
          <p:cNvPr id="2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CDA92623-5652-44E8-AED2-DFDDE41EE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895350"/>
            <a:ext cx="1104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A6069"/>
                </a:solidFill>
              </a:defRPr>
            </a:pPr>
            <a:r>
              <a:rPr sz="1350" b="0">
                <a:solidFill>
                  <a:srgbClr val="5A6069"/>
                </a:solidFill>
              </a:rPr>
              <a:t>Pruning happens before the loop; verification always returns to the complete evidence.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B87372D-F097-42D5-A2E9-48D5FA070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9065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A6069"/>
                </a:solidFill>
              </a:defRPr>
            </a:pPr>
            <a:r>
              <a:rPr sz="1050" b="1">
                <a:solidFill>
                  <a:srgbClr val="5A6069"/>
                </a:solidFill>
              </a:rPr>
              <a:t>PREPARE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069D5E6-8D99-43B6-ABB5-1D1E636BE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39065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</a:defRPr>
            </a:pPr>
            <a:r>
              <a:rPr sz="1050" b="1">
                <a:solidFill>
                  <a:srgbClr val="3D8DFF"/>
                </a:solidFill>
              </a:rPr>
              <a:t>GENERATE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26D7995-4796-417E-BF7E-158271BAE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13906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A6069"/>
                </a:solidFill>
              </a:defRPr>
            </a:pPr>
            <a:r>
              <a:rPr sz="1050" b="1">
                <a:solidFill>
                  <a:srgbClr val="5A6069"/>
                </a:solidFill>
              </a:rPr>
              <a:t>VERIFY + DECIDE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E91E2D-88C7-4778-90CF-8DFC6AEDB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95450"/>
            <a:ext cx="342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B6EEB2A-382A-4B94-B398-22FADB825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695450"/>
            <a:ext cx="342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D8D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EF2371C-2DB6-4703-9EF1-0BD3517AE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1695450"/>
            <a:ext cx="40290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8BCC4"/>
            </a:solidFill>
            <a:prstDash val="solid"/>
          </a:ln>
        </p:spPr>
      </p:sp>
      <p:sp>
        <p:nvSpPr>
          <p:cNvPr id="9" name="overview-sync">
            <a:extLst xmlns:a="http://schemas.openxmlformats.org/drawingml/2006/main">
              <a:ext uri="{FF2B5EF4-FFF2-40B4-BE49-F238E27FC236}">
                <a16:creationId xmlns:a16="http://schemas.microsoft.com/office/drawing/2014/main" id="{E18B47A7-C161-4431-AB81-2D63DADA2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95500"/>
            <a:ext cx="1619250" cy="179070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F6F6F6"/>
          </a:solidFill>
          <a:ln xmlns:a="http://schemas.openxmlformats.org/drawingml/2006/main" w="14288">
            <a:solidFill>
              <a:srgbClr val="B8BCC4"/>
            </a:solidFill>
            <a:prstDash val="solid"/>
          </a:ln>
        </p:spPr>
      </p:sp>
      <p:sp>
        <p:nvSpPr>
          <p:cNvPr id="10" name="overview-sync-title">
            <a:extLst xmlns:a="http://schemas.openxmlformats.org/drawingml/2006/main">
              <a:ext uri="{FF2B5EF4-FFF2-40B4-BE49-F238E27FC236}">
                <a16:creationId xmlns:a16="http://schemas.microsoft.com/office/drawing/2014/main" id="{672DCA2C-64DF-42E4-A4C2-6C9BA8FB3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76475"/>
            <a:ext cx="13144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</a:rPr>
              <a:t>Synchronize</a:t>
            </a:r>
          </a:p>
        </p:txBody>
      </p:sp>
      <p:sp>
        <p:nvSpPr>
          <p:cNvPr id="11" name="overview-sync-body">
            <a:extLst xmlns:a="http://schemas.openxmlformats.org/drawingml/2006/main">
              <a:ext uri="{FF2B5EF4-FFF2-40B4-BE49-F238E27FC236}">
                <a16:creationId xmlns:a16="http://schemas.microsoft.com/office/drawing/2014/main" id="{09E6EFD9-DC1C-49FB-B6CD-976845523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19400"/>
            <a:ext cx="13144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A6069"/>
                </a:solidFill>
              </a:defRPr>
            </a:pPr>
            <a:r>
              <a:rPr sz="1200" b="0">
                <a:solidFill>
                  <a:srgbClr val="5A6069"/>
                </a:solidFill>
              </a:rPr>
              <a:t>Choose two users in one 30-second window; keep full provenance.</a:t>
            </a:r>
          </a:p>
        </p:txBody>
      </p:sp>
      <p:sp>
        <p:nvSpPr>
          <p:cNvPr id="12" name="overview-prune">
            <a:extLst xmlns:a="http://schemas.openxmlformats.org/drawingml/2006/main">
              <a:ext uri="{FF2B5EF4-FFF2-40B4-BE49-F238E27FC236}">
                <a16:creationId xmlns:a16="http://schemas.microsoft.com/office/drawing/2014/main" id="{43166D2B-1058-4EB8-A193-D7E28D091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2095500"/>
            <a:ext cx="1619250" cy="179070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F6F6F6"/>
          </a:solidFill>
          <a:ln xmlns:a="http://schemas.openxmlformats.org/drawingml/2006/main" w="14288">
            <a:solidFill>
              <a:srgbClr val="B8BCC4"/>
            </a:solidFill>
            <a:prstDash val="solid"/>
          </a:ln>
        </p:spPr>
      </p:sp>
      <p:sp>
        <p:nvSpPr>
          <p:cNvPr id="13" name="overview-prune-accent">
            <a:extLst xmlns:a="http://schemas.openxmlformats.org/drawingml/2006/main">
              <a:ext uri="{FF2B5EF4-FFF2-40B4-BE49-F238E27FC236}">
                <a16:creationId xmlns:a16="http://schemas.microsoft.com/office/drawing/2014/main" id="{AE9E0D54-80D5-46E6-B467-46D3E01D4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2095500"/>
            <a:ext cx="1619250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14" name="overview-prune-title">
            <a:extLst xmlns:a="http://schemas.openxmlformats.org/drawingml/2006/main">
              <a:ext uri="{FF2B5EF4-FFF2-40B4-BE49-F238E27FC236}">
                <a16:creationId xmlns:a16="http://schemas.microsoft.com/office/drawing/2014/main" id="{522A4CA0-2082-42F6-AB91-2AE15F0B1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0775" y="2276475"/>
            <a:ext cx="13144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</a:rPr>
              <a:t>CLIP prune</a:t>
            </a:r>
          </a:p>
        </p:txBody>
      </p:sp>
      <p:sp>
        <p:nvSpPr>
          <p:cNvPr id="15" name="overview-prune-body">
            <a:extLst xmlns:a="http://schemas.openxmlformats.org/drawingml/2006/main">
              <a:ext uri="{FF2B5EF4-FFF2-40B4-BE49-F238E27FC236}">
                <a16:creationId xmlns:a16="http://schemas.microsoft.com/office/drawing/2014/main" id="{461824FB-4CBC-46C8-88A7-5B92D6E5A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0775" y="2819400"/>
            <a:ext cx="13144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A6069"/>
                </a:solidFill>
              </a:defRPr>
            </a:pPr>
            <a:r>
              <a:rPr sz="1200" b="0">
                <a:solidFill>
                  <a:srgbClr val="5A6069"/>
                </a:solidFill>
              </a:rPr>
              <a:t>Sample, cluster, compare medoids, remove redundant intervals.</a:t>
            </a:r>
          </a:p>
        </p:txBody>
      </p:sp>
      <p:sp>
        <p:nvSpPr>
          <p:cNvPr id="16" name="overview-route">
            <a:extLst xmlns:a="http://schemas.openxmlformats.org/drawingml/2006/main">
              <a:ext uri="{FF2B5EF4-FFF2-40B4-BE49-F238E27FC236}">
                <a16:creationId xmlns:a16="http://schemas.microsoft.com/office/drawing/2014/main" id="{2A823FAD-D79F-4D34-8E17-D35F2961D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2095500"/>
            <a:ext cx="1619250" cy="179070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F6F6F6"/>
          </a:solidFill>
          <a:ln xmlns:a="http://schemas.openxmlformats.org/drawingml/2006/main" w="14288">
            <a:solidFill>
              <a:srgbClr val="B8BCC4"/>
            </a:solidFill>
            <a:prstDash val="solid"/>
          </a:ln>
        </p:spPr>
      </p:sp>
      <p:sp>
        <p:nvSpPr>
          <p:cNvPr id="17" name="overview-route-accent">
            <a:extLst xmlns:a="http://schemas.openxmlformats.org/drawingml/2006/main">
              <a:ext uri="{FF2B5EF4-FFF2-40B4-BE49-F238E27FC236}">
                <a16:creationId xmlns:a16="http://schemas.microsoft.com/office/drawing/2014/main" id="{DF23C256-909E-4544-836E-511EFB840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2095500"/>
            <a:ext cx="1619250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18" name="overview-route-title">
            <a:extLst xmlns:a="http://schemas.openxmlformats.org/drawingml/2006/main">
              <a:ext uri="{FF2B5EF4-FFF2-40B4-BE49-F238E27FC236}">
                <a16:creationId xmlns:a16="http://schemas.microsoft.com/office/drawing/2014/main" id="{5BEEFD4E-372B-4C75-90E3-27A4A6EBF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276475"/>
            <a:ext cx="13144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</a:rPr>
              <a:t>Route packet</a:t>
            </a:r>
          </a:p>
        </p:txBody>
      </p:sp>
      <p:sp>
        <p:nvSpPr>
          <p:cNvPr id="19" name="overview-route-body">
            <a:extLst xmlns:a="http://schemas.openxmlformats.org/drawingml/2006/main">
              <a:ext uri="{FF2B5EF4-FFF2-40B4-BE49-F238E27FC236}">
                <a16:creationId xmlns:a16="http://schemas.microsoft.com/office/drawing/2014/main" id="{22CE7AB4-A71F-41C2-8F5A-7ECF25A87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819400"/>
            <a:ext cx="13144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A6069"/>
                </a:solidFill>
              </a:defRPr>
            </a:pPr>
            <a:r>
              <a:rPr sz="1200" b="0">
                <a:solidFill>
                  <a:srgbClr val="5A6069"/>
                </a:solidFill>
              </a:rPr>
              <a:t>local_video → pruned</a:t>
            </a:r>
          </a:p>
          <a:p xmlns:a="http://schemas.openxmlformats.org/drawingml/2006/main">
            <a:pPr algn="l">
              <a:defRPr sz="1200" b="0">
                <a:solidFill>
                  <a:srgbClr val="5A6069"/>
                </a:solidFill>
              </a:defRPr>
            </a:pPr>
            <a:r>
              <a:rPr sz="1200" b="0">
                <a:solidFill>
                  <a:srgbClr val="5A6069"/>
                </a:solidFill>
              </a:rPr>
              <a:t>full/original → complete</a:t>
            </a:r>
          </a:p>
        </p:txBody>
      </p:sp>
      <p:sp>
        <p:nvSpPr>
          <p:cNvPr id="20" name="overview-generate">
            <a:extLst xmlns:a="http://schemas.openxmlformats.org/drawingml/2006/main">
              <a:ext uri="{FF2B5EF4-FFF2-40B4-BE49-F238E27FC236}">
                <a16:creationId xmlns:a16="http://schemas.microsoft.com/office/drawing/2014/main" id="{F8EB86CC-F781-40CD-9FF5-BBD49A25F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5025" y="2095500"/>
            <a:ext cx="1619250" cy="179070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DDF3FC"/>
          </a:solidFill>
          <a:ln xmlns:a="http://schemas.openxmlformats.org/drawingml/2006/main" w="14288">
            <a:solidFill>
              <a:srgbClr val="3D8DFF"/>
            </a:solidFill>
            <a:prstDash val="solid"/>
          </a:ln>
        </p:spPr>
      </p:sp>
      <p:sp>
        <p:nvSpPr>
          <p:cNvPr id="21" name="overview-generate-accent">
            <a:extLst xmlns:a="http://schemas.openxmlformats.org/drawingml/2006/main">
              <a:ext uri="{FF2B5EF4-FFF2-40B4-BE49-F238E27FC236}">
                <a16:creationId xmlns:a16="http://schemas.microsoft.com/office/drawing/2014/main" id="{8F742673-B8E7-4987-922B-B5ECE35B9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5025" y="2095500"/>
            <a:ext cx="1619250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22" name="overview-generate-title">
            <a:extLst xmlns:a="http://schemas.openxmlformats.org/drawingml/2006/main">
              <a:ext uri="{FF2B5EF4-FFF2-40B4-BE49-F238E27FC236}">
                <a16:creationId xmlns:a16="http://schemas.microsoft.com/office/drawing/2014/main" id="{A7C088E8-124D-4D70-84AC-36CF063EB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2276475"/>
            <a:ext cx="13144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</a:rPr>
              <a:t>Generate</a:t>
            </a:r>
          </a:p>
        </p:txBody>
      </p:sp>
      <p:sp>
        <p:nvSpPr>
          <p:cNvPr id="23" name="overview-generate-body">
            <a:extLst xmlns:a="http://schemas.openxmlformats.org/drawingml/2006/main">
              <a:ext uri="{FF2B5EF4-FFF2-40B4-BE49-F238E27FC236}">
                <a16:creationId xmlns:a16="http://schemas.microsoft.com/office/drawing/2014/main" id="{4B14A5C3-3E5B-4069-98FA-DEDFC6B1A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2819400"/>
            <a:ext cx="13144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A6069"/>
                </a:solidFill>
              </a:defRPr>
            </a:pPr>
            <a:r>
              <a:rPr sz="1200" b="0">
                <a:solidFill>
                  <a:srgbClr val="5A6069"/>
                </a:solidFill>
              </a:rPr>
              <a:t>Baseline + neutral → one five-option MCQ.</a:t>
            </a:r>
          </a:p>
        </p:txBody>
      </p:sp>
      <p:sp>
        <p:nvSpPr>
          <p:cNvPr id="24" name="overview-review">
            <a:extLst xmlns:a="http://schemas.openxmlformats.org/drawingml/2006/main">
              <a:ext uri="{FF2B5EF4-FFF2-40B4-BE49-F238E27FC236}">
                <a16:creationId xmlns:a16="http://schemas.microsoft.com/office/drawing/2014/main" id="{DE600DC7-A5B9-4EF8-A853-5B8770FE9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2095500"/>
            <a:ext cx="1619250" cy="179070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F6F6F6"/>
          </a:solidFill>
          <a:ln xmlns:a="http://schemas.openxmlformats.org/drawingml/2006/main" w="14288">
            <a:solidFill>
              <a:srgbClr val="B8BCC4"/>
            </a:solidFill>
            <a:prstDash val="solid"/>
          </a:ln>
        </p:spPr>
      </p:sp>
      <p:sp>
        <p:nvSpPr>
          <p:cNvPr id="25" name="overview-review-title">
            <a:extLst xmlns:a="http://schemas.openxmlformats.org/drawingml/2006/main">
              <a:ext uri="{FF2B5EF4-FFF2-40B4-BE49-F238E27FC236}">
                <a16:creationId xmlns:a16="http://schemas.microsoft.com/office/drawing/2014/main" id="{429E7679-0963-4836-8951-3D02D83EB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276475"/>
            <a:ext cx="13144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</a:rPr>
              <a:t>Review ×3</a:t>
            </a:r>
          </a:p>
        </p:txBody>
      </p:sp>
      <p:sp>
        <p:nvSpPr>
          <p:cNvPr id="26" name="overview-review-body">
            <a:extLst xmlns:a="http://schemas.openxmlformats.org/drawingml/2006/main">
              <a:ext uri="{FF2B5EF4-FFF2-40B4-BE49-F238E27FC236}">
                <a16:creationId xmlns:a16="http://schemas.microsoft.com/office/drawing/2014/main" id="{C9EB4915-81A7-484D-B602-70C666C38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819400"/>
            <a:ext cx="13144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A6069"/>
                </a:solidFill>
              </a:defRPr>
            </a:pPr>
            <a:r>
              <a:rPr sz="1200" b="0">
                <a:solidFill>
                  <a:srgbClr val="5A6069"/>
                </a:solidFill>
              </a:rPr>
              <a:t>Formality, grounding, and answerability run concurrently.</a:t>
            </a:r>
          </a:p>
        </p:txBody>
      </p:sp>
      <p:sp>
        <p:nvSpPr>
          <p:cNvPr id="27" name="overview-gate">
            <a:extLst xmlns:a="http://schemas.openxmlformats.org/drawingml/2006/main">
              <a:ext uri="{FF2B5EF4-FFF2-40B4-BE49-F238E27FC236}">
                <a16:creationId xmlns:a16="http://schemas.microsoft.com/office/drawing/2014/main" id="{668A60D1-1BF1-4885-89FB-2B7DDA4BE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91675" y="2095500"/>
            <a:ext cx="2200275" cy="1790700"/>
          </a:xfrm>
          <a:prstGeom xmlns:a="http://schemas.openxmlformats.org/drawingml/2006/main" prst="roundRect">
            <a:avLst>
              <a:gd name="adj" fmla="val 6383"/>
            </a:avLst>
          </a:prstGeom>
          <a:solidFill xmlns:a="http://schemas.openxmlformats.org/drawingml/2006/main">
            <a:srgbClr val="000000"/>
          </a:solidFill>
          <a:ln xmlns:a="http://schemas.openxmlformats.org/drawingml/2006/main" w="14288">
            <a:solidFill>
              <a:srgbClr val="000000"/>
            </a:solidFill>
            <a:prstDash val="solid"/>
          </a:ln>
        </p:spPr>
      </p:sp>
      <p:sp>
        <p:nvSpPr>
          <p:cNvPr id="28" name="overview-gate-title">
            <a:extLst xmlns:a="http://schemas.openxmlformats.org/drawingml/2006/main">
              <a:ext uri="{FF2B5EF4-FFF2-40B4-BE49-F238E27FC236}">
                <a16:creationId xmlns:a16="http://schemas.microsoft.com/office/drawing/2014/main" id="{ED8FA4CB-78A2-4708-B274-6A5007C48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44075" y="2276475"/>
            <a:ext cx="18954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Merge gate</a:t>
            </a:r>
          </a:p>
        </p:txBody>
      </p:sp>
      <p:sp>
        <p:nvSpPr>
          <p:cNvPr id="29" name="overview-gate-body">
            <a:extLst xmlns:a="http://schemas.openxmlformats.org/drawingml/2006/main">
              <a:ext uri="{FF2B5EF4-FFF2-40B4-BE49-F238E27FC236}">
                <a16:creationId xmlns:a16="http://schemas.microsoft.com/office/drawing/2014/main" id="{C6CA7BF6-2DF8-4042-90A9-B733B7A37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44075" y="2819400"/>
            <a:ext cx="1895475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FFFFF"/>
                </a:solidFill>
              </a:defRPr>
            </a:pPr>
            <a:r>
              <a:rPr sz="1200" b="0">
                <a:solidFill>
                  <a:srgbClr val="FFFFFF"/>
                </a:solidFill>
              </a:rPr>
              <a:t>All checks PASS + strict schema → accepted; otherwise feedback or rejection.</a:t>
            </a:r>
          </a:p>
        </p:txBody>
      </p:sp>
      <p:cxnSp>
        <p:nvCxnSpPr>
          <p:cNvPr id="71" name=""/>
          <p:cNvCxnSpPr>
            <a:stCxn xmlns:a="http://schemas.openxmlformats.org/drawingml/2006/main" id="9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2019300" y="2990850"/>
            <a:ext cx="2190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0000"/>
            </a:solidFill>
            <a:prstDash val="solid"/>
            <a:tailEnd type="triangle" w="sm" len="sm"/>
          </a:ln>
        </p:spPr>
      </p:cxnSp>
      <p:cxnSp>
        <p:nvCxnSpPr>
          <p:cNvPr id="72" name=""/>
          <p:cNvCxnSpPr>
            <a:stCxn xmlns:a="http://schemas.openxmlformats.org/drawingml/2006/main" id="12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3857625" y="2990850"/>
            <a:ext cx="2190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0000"/>
            </a:solidFill>
            <a:prstDash val="solid"/>
            <a:tailEnd type="triangle" w="sm" len="sm"/>
          </a:ln>
        </p:spPr>
      </p:cxnSp>
      <p:cxnSp>
        <p:nvCxnSpPr>
          <p:cNvPr id="73" name=""/>
          <p:cNvCxnSpPr>
            <a:stCxn xmlns:a="http://schemas.openxmlformats.org/drawingml/2006/main" id="16" idx="3"/>
            <a:endCxn xmlns:a="http://schemas.openxmlformats.org/drawingml/2006/main" id="20" idx="1"/>
          </p:cNvCxnSpPr>
          <p:nvPr/>
        </p:nvCxnSpPr>
        <p:spPr>
          <a:xfrm xmlns:a="http://schemas.openxmlformats.org/drawingml/2006/main">
            <a:off x="5695950" y="2990850"/>
            <a:ext cx="2190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8DFF"/>
            </a:solidFill>
            <a:prstDash val="solid"/>
            <a:tailEnd type="triangle" w="sm" len="sm"/>
          </a:ln>
        </p:spPr>
      </p:cxnSp>
      <p:cxnSp>
        <p:nvCxnSpPr>
          <p:cNvPr id="74" name=""/>
          <p:cNvCxnSpPr>
            <a:stCxn xmlns:a="http://schemas.openxmlformats.org/drawingml/2006/main" id="20" idx="3"/>
            <a:endCxn xmlns:a="http://schemas.openxmlformats.org/drawingml/2006/main" id="24" idx="1"/>
          </p:cNvCxnSpPr>
          <p:nvPr/>
        </p:nvCxnSpPr>
        <p:spPr>
          <a:xfrm xmlns:a="http://schemas.openxmlformats.org/drawingml/2006/main">
            <a:off x="7534275" y="2990850"/>
            <a:ext cx="2190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8DFF"/>
            </a:solidFill>
            <a:prstDash val="solid"/>
            <a:tailEnd type="triangle" w="sm" len="sm"/>
          </a:ln>
        </p:spPr>
      </p:cxnSp>
      <p:cxnSp>
        <p:nvCxnSpPr>
          <p:cNvPr id="75" name=""/>
          <p:cNvCxnSpPr>
            <a:stCxn xmlns:a="http://schemas.openxmlformats.org/drawingml/2006/main" id="24" idx="3"/>
            <a:endCxn xmlns:a="http://schemas.openxmlformats.org/drawingml/2006/main" id="27" idx="1"/>
          </p:cNvCxnSpPr>
          <p:nvPr/>
        </p:nvCxnSpPr>
        <p:spPr>
          <a:xfrm xmlns:a="http://schemas.openxmlformats.org/drawingml/2006/main">
            <a:off x="9372600" y="2990850"/>
            <a:ext cx="2190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0000"/>
            </a:solidFill>
            <a:prstDash val="solid"/>
            <a:tailEnd type="triangle" w="sm" len="sm"/>
          </a:ln>
        </p:spPr>
      </p:cxnSp>
      <p:sp>
        <p:nvSpPr>
          <p:cNvPr id="35" name="overview-feedback-arrow">
            <a:extLst xmlns:a="http://schemas.openxmlformats.org/drawingml/2006/main">
              <a:ext uri="{FF2B5EF4-FFF2-40B4-BE49-F238E27FC236}">
                <a16:creationId xmlns:a16="http://schemas.microsoft.com/office/drawing/2014/main" id="{F5823245-2F50-43BA-A82E-E0919EA4E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4457700"/>
            <a:ext cx="5715000" cy="552450"/>
          </a:xfrm>
          <a:prstGeom xmlns:a="http://schemas.openxmlformats.org/drawingml/2006/main" prst="leftArrow">
            <a:avLst/>
          </a:prstGeom>
          <a:solidFill xmlns:a="http://schemas.openxmlformats.org/drawingml/2006/main">
            <a:srgbClr val="DDF3FC"/>
          </a:solidFill>
          <a:ln xmlns:a="http://schemas.openxmlformats.org/drawingml/2006/main" w="14288">
            <a:solidFill>
              <a:srgbClr val="3D8DFF"/>
            </a:solidFill>
            <a:prstDash val="solid"/>
          </a:ln>
        </p:spPr>
      </p:sp>
      <p:sp>
        <p:nvSpPr>
          <p:cNvPr id="36" name="overview-feedback-text">
            <a:extLst xmlns:a="http://schemas.openxmlformats.org/drawingml/2006/main">
              <a:ext uri="{FF2B5EF4-FFF2-40B4-BE49-F238E27FC236}">
                <a16:creationId xmlns:a16="http://schemas.microsoft.com/office/drawing/2014/main" id="{5F06521B-3A53-4C9C-B297-3D5EB29E0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562475"/>
            <a:ext cx="4476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3D8DFF"/>
                </a:solidFill>
              </a:defRPr>
            </a:pPr>
            <a:r>
              <a:rPr sz="1275" b="1">
                <a:solidFill>
                  <a:srgbClr val="3D8DFF"/>
                </a:solidFill>
              </a:rPr>
              <a:t>failed review → targeted feedback → next generator attempt (maximum 3)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AE9AAE1-5A97-41BD-992B-0BEBF4FF2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314950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</a:defRPr>
            </a:pPr>
            <a:r>
              <a:rPr sz="1350" b="1">
                <a:solidFill>
                  <a:srgbClr val="3D8DFF"/>
                </a:solidFill>
              </a:rPr>
              <a:t>Invariant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A9D3B24-2EF0-4BC1-95B5-15250EF2D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257800"/>
            <a:ext cx="990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00000"/>
                </a:solidFill>
              </a:defRPr>
            </a:pPr>
            <a:r>
              <a:rPr sz="1500" b="0">
                <a:solidFill>
                  <a:srgbClr val="000000"/>
                </a:solidFill>
              </a:rPr>
              <a:t>The model may propose a question from compressed evidence, but no question is accepted without full-original verification.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42C5D02-8B4A-45D3-AC38-F9E46A708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15075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ADF"/>
            </a:solidFill>
            <a:prstDash val="solid"/>
          </a:ln>
        </p:spPr>
      </p:sp>
      <p:sp>
        <p:nvSpPr>
          <p:cNvPr id="40" name="source-footer-2">
            <a:extLst xmlns:a="http://schemas.openxmlformats.org/drawingml/2006/main">
              <a:ext uri="{FF2B5EF4-FFF2-40B4-BE49-F238E27FC236}">
                <a16:creationId xmlns:a16="http://schemas.microsoft.com/office/drawing/2014/main" id="{5C32B5A4-0BBB-4090-AD18-1D12E1C66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0"/>
            <a:ext cx="10239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A6069"/>
                </a:solidFill>
              </a:defRPr>
            </a:pPr>
            <a:r>
              <a:rPr sz="825" b="0">
                <a:solidFill>
                  <a:srgbClr val="5A6069"/>
                </a:solidFill>
              </a:rPr>
              <a:t>Implementation: group_relative_clip_sampling.py • video_qa_loop.py</a:t>
            </a:r>
          </a:p>
        </p:txBody>
      </p:sp>
      <p:sp>
        <p:nvSpPr>
          <p:cNvPr id="41" name="slide-number-2">
            <a:extLst xmlns:a="http://schemas.openxmlformats.org/drawingml/2006/main">
              <a:ext uri="{FF2B5EF4-FFF2-40B4-BE49-F238E27FC236}">
                <a16:creationId xmlns:a16="http://schemas.microsoft.com/office/drawing/2014/main" id="{D017DB07-7495-46BB-9190-371597984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62700"/>
            <a:ext cx="647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000000"/>
                </a:solidFill>
              </a:defRPr>
            </a:pPr>
            <a:r>
              <a:rPr sz="975" b="0">
                <a:solidFill>
                  <a:srgbClr val="000000"/>
                </a:solidFill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29285968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5009DE0-4C50-42EB-9EA3-27311754E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11391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925" b="0">
                <a:solidFill>
                  <a:srgbClr val="000000"/>
                </a:solidFill>
              </a:defRPr>
            </a:pPr>
            <a:r>
              <a:rPr sz="2925" b="0">
                <a:solidFill>
                  <a:srgbClr val="000000"/>
                </a:solidFill>
              </a:rPr>
              <a:t>Pruning removes cross-view redundancy, not low-quality footage</a:t>
            </a:r>
          </a:p>
        </p:txBody>
      </p:sp>
      <p:sp>
        <p:nvSpPr>
          <p:cNvPr id="2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05DAF91A-F55F-4C6E-AE08-74B5C07EF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895350"/>
            <a:ext cx="1104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A6069"/>
                </a:solidFill>
              </a:defRPr>
            </a:pPr>
            <a:r>
              <a:rPr sz="1350" b="0">
                <a:solidFill>
                  <a:srgbClr val="5A6069"/>
                </a:solidFill>
              </a:rPr>
              <a:t>Current benchmark prep: 30 seconds per video • 1 fps • 12 clusters per video • high-similarity threshold 0.82.</a:t>
            </a:r>
          </a:p>
        </p:txBody>
      </p:sp>
      <p:sp>
        <p:nvSpPr>
          <p:cNvPr id="3" name="step-1-badge">
            <a:extLst xmlns:a="http://schemas.openxmlformats.org/drawingml/2006/main">
              <a:ext uri="{FF2B5EF4-FFF2-40B4-BE49-F238E27FC236}">
                <a16:creationId xmlns:a16="http://schemas.microsoft.com/office/drawing/2014/main" id="{0C9C0131-FC60-4774-9AAB-7E8D60B25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8112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4" name="step-1-number">
            <a:extLst xmlns:a="http://schemas.openxmlformats.org/drawingml/2006/main">
              <a:ext uri="{FF2B5EF4-FFF2-40B4-BE49-F238E27FC236}">
                <a16:creationId xmlns:a16="http://schemas.microsoft.com/office/drawing/2014/main" id="{75C2E198-8A8A-4DB2-A083-A2842CB62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81125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5" name="step-1-title">
            <a:extLst xmlns:a="http://schemas.openxmlformats.org/drawingml/2006/main">
              <a:ext uri="{FF2B5EF4-FFF2-40B4-BE49-F238E27FC236}">
                <a16:creationId xmlns:a16="http://schemas.microsoft.com/office/drawing/2014/main" id="{99587D36-4E5D-4692-8EA3-57C398CF5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352550"/>
            <a:ext cx="1619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00000"/>
                </a:solidFill>
              </a:defRPr>
            </a:pPr>
            <a:r>
              <a:rPr sz="1500" b="1">
                <a:solidFill>
                  <a:srgbClr val="000000"/>
                </a:solidFill>
              </a:rPr>
              <a:t>Sample both videos</a:t>
            </a:r>
          </a:p>
        </p:txBody>
      </p:sp>
      <p:sp>
        <p:nvSpPr>
          <p:cNvPr id="6" name="step-2-badge">
            <a:extLst xmlns:a="http://schemas.openxmlformats.org/drawingml/2006/main">
              <a:ext uri="{FF2B5EF4-FFF2-40B4-BE49-F238E27FC236}">
                <a16:creationId xmlns:a16="http://schemas.microsoft.com/office/drawing/2014/main" id="{6A7CF5C1-138E-4E43-9916-79BEA9D13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138112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7" name="step-2-number">
            <a:extLst xmlns:a="http://schemas.openxmlformats.org/drawingml/2006/main">
              <a:ext uri="{FF2B5EF4-FFF2-40B4-BE49-F238E27FC236}">
                <a16:creationId xmlns:a16="http://schemas.microsoft.com/office/drawing/2014/main" id="{62FB4895-377C-47B9-BB29-649B8D444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1381125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8" name="step-2-title">
            <a:extLst xmlns:a="http://schemas.openxmlformats.org/drawingml/2006/main">
              <a:ext uri="{FF2B5EF4-FFF2-40B4-BE49-F238E27FC236}">
                <a16:creationId xmlns:a16="http://schemas.microsoft.com/office/drawing/2014/main" id="{6633E8BD-AE3F-42E6-AC68-98CCDC2E8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352550"/>
            <a:ext cx="1619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00000"/>
                </a:solidFill>
              </a:defRPr>
            </a:pPr>
            <a:r>
              <a:rPr sz="1500" b="1">
                <a:solidFill>
                  <a:srgbClr val="000000"/>
                </a:solidFill>
              </a:rPr>
              <a:t>Cluster within each view</a:t>
            </a:r>
          </a:p>
        </p:txBody>
      </p:sp>
      <p:sp>
        <p:nvSpPr>
          <p:cNvPr id="9" name="step-3-badge">
            <a:extLst xmlns:a="http://schemas.openxmlformats.org/drawingml/2006/main">
              <a:ext uri="{FF2B5EF4-FFF2-40B4-BE49-F238E27FC236}">
                <a16:creationId xmlns:a16="http://schemas.microsoft.com/office/drawing/2014/main" id="{2A2DF1C1-A5E2-4EB2-8EBA-DCF328B59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138112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10" name="step-3-number">
            <a:extLst xmlns:a="http://schemas.openxmlformats.org/drawingml/2006/main">
              <a:ext uri="{FF2B5EF4-FFF2-40B4-BE49-F238E27FC236}">
                <a16:creationId xmlns:a16="http://schemas.microsoft.com/office/drawing/2014/main" id="{3547262B-08C4-4340-AB1D-F29DE8ACA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1381125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1" name="step-3-title">
            <a:extLst xmlns:a="http://schemas.openxmlformats.org/drawingml/2006/main">
              <a:ext uri="{FF2B5EF4-FFF2-40B4-BE49-F238E27FC236}">
                <a16:creationId xmlns:a16="http://schemas.microsoft.com/office/drawing/2014/main" id="{E39E35AE-9BFF-4D52-8138-766F84B25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1352550"/>
            <a:ext cx="1619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00000"/>
                </a:solidFill>
              </a:defRPr>
            </a:pPr>
            <a:r>
              <a:rPr sz="1500" b="1">
                <a:solidFill>
                  <a:srgbClr val="000000"/>
                </a:solidFill>
              </a:rPr>
              <a:t>Compare medoids</a:t>
            </a:r>
          </a:p>
        </p:txBody>
      </p:sp>
      <p:sp>
        <p:nvSpPr>
          <p:cNvPr id="12" name="step-4-badge">
            <a:extLst xmlns:a="http://schemas.openxmlformats.org/drawingml/2006/main">
              <a:ext uri="{FF2B5EF4-FFF2-40B4-BE49-F238E27FC236}">
                <a16:creationId xmlns:a16="http://schemas.microsoft.com/office/drawing/2014/main" id="{5A170FA4-B2AB-4BDA-ABB5-CFCFC03C2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138112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13" name="step-4-number">
            <a:extLst xmlns:a="http://schemas.openxmlformats.org/drawingml/2006/main">
              <a:ext uri="{FF2B5EF4-FFF2-40B4-BE49-F238E27FC236}">
                <a16:creationId xmlns:a16="http://schemas.microsoft.com/office/drawing/2014/main" id="{326C973D-42EB-423B-9237-05990F9F2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1381125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4" name="step-4-title">
            <a:extLst xmlns:a="http://schemas.openxmlformats.org/drawingml/2006/main">
              <a:ext uri="{FF2B5EF4-FFF2-40B4-BE49-F238E27FC236}">
                <a16:creationId xmlns:a16="http://schemas.microsoft.com/office/drawing/2014/main" id="{6F5238A1-DDF1-4B1B-A04B-6A8C74B30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1352550"/>
            <a:ext cx="1619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00000"/>
                </a:solidFill>
              </a:defRPr>
            </a:pPr>
            <a:r>
              <a:rPr sz="1500" b="1">
                <a:solidFill>
                  <a:srgbClr val="000000"/>
                </a:solidFill>
              </a:rPr>
              <a:t>Expand to intervals</a:t>
            </a:r>
          </a:p>
        </p:txBody>
      </p:sp>
      <p:sp>
        <p:nvSpPr>
          <p:cNvPr id="15" name="step-5-badge">
            <a:extLst xmlns:a="http://schemas.openxmlformats.org/drawingml/2006/main">
              <a:ext uri="{FF2B5EF4-FFF2-40B4-BE49-F238E27FC236}">
                <a16:creationId xmlns:a16="http://schemas.microsoft.com/office/drawing/2014/main" id="{E1AEECFB-675B-4196-9DD6-33A63DE51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138112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16" name="step-5-number">
            <a:extLst xmlns:a="http://schemas.openxmlformats.org/drawingml/2006/main">
              <a:ext uri="{FF2B5EF4-FFF2-40B4-BE49-F238E27FC236}">
                <a16:creationId xmlns:a16="http://schemas.microsoft.com/office/drawing/2014/main" id="{CD22D31B-982E-4034-97A0-7DCA06D53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1381125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17" name="step-5-title">
            <a:extLst xmlns:a="http://schemas.openxmlformats.org/drawingml/2006/main">
              <a:ext uri="{FF2B5EF4-FFF2-40B4-BE49-F238E27FC236}">
                <a16:creationId xmlns:a16="http://schemas.microsoft.com/office/drawing/2014/main" id="{0E943889-4ED4-4801-A3AF-9F9CEABF0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1352550"/>
            <a:ext cx="1619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00000"/>
                </a:solidFill>
              </a:defRPr>
            </a:pPr>
            <a:r>
              <a:rPr sz="1500" b="1">
                <a:solidFill>
                  <a:srgbClr val="000000"/>
                </a:solidFill>
              </a:rPr>
              <a:t>Protect + materialize</a:t>
            </a:r>
          </a:p>
        </p:txBody>
      </p:sp>
      <p:sp>
        <p:nvSpPr>
          <p:cNvPr id="18" name="prune-arrow-1">
            <a:extLst xmlns:a="http://schemas.openxmlformats.org/drawingml/2006/main">
              <a:ext uri="{FF2B5EF4-FFF2-40B4-BE49-F238E27FC236}">
                <a16:creationId xmlns:a16="http://schemas.microsoft.com/office/drawing/2014/main" id="{E0E64429-CA2E-4E1E-8EAD-A213A5975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2857500"/>
            <a:ext cx="266700" cy="3619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9" name="prune-arrow-2">
            <a:extLst xmlns:a="http://schemas.openxmlformats.org/drawingml/2006/main">
              <a:ext uri="{FF2B5EF4-FFF2-40B4-BE49-F238E27FC236}">
                <a16:creationId xmlns:a16="http://schemas.microsoft.com/office/drawing/2014/main" id="{425E9F94-D54D-4CCF-9953-60F6895BE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2857500"/>
            <a:ext cx="266700" cy="3619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20" name="prune-arrow-3">
            <a:extLst xmlns:a="http://schemas.openxmlformats.org/drawingml/2006/main">
              <a:ext uri="{FF2B5EF4-FFF2-40B4-BE49-F238E27FC236}">
                <a16:creationId xmlns:a16="http://schemas.microsoft.com/office/drawing/2014/main" id="{B17011CD-F7AF-413E-8504-F225E9E95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857500"/>
            <a:ext cx="266700" cy="3619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21" name="prune-arrow-4">
            <a:extLst xmlns:a="http://schemas.openxmlformats.org/drawingml/2006/main">
              <a:ext uri="{FF2B5EF4-FFF2-40B4-BE49-F238E27FC236}">
                <a16:creationId xmlns:a16="http://schemas.microsoft.com/office/drawing/2014/main" id="{EE5EBEE7-9A82-4F59-92D7-D2A446247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857500"/>
            <a:ext cx="266700" cy="3619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B497AAC-2FC8-4D4F-BC6E-48F94567D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4310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A6069"/>
                </a:solidFill>
              </a:defRPr>
            </a:pPr>
            <a:r>
              <a:rPr sz="1050" b="1">
                <a:solidFill>
                  <a:srgbClr val="5A6069"/>
                </a:solidFill>
              </a:rPr>
              <a:t>A</a:t>
            </a:r>
          </a:p>
        </p:txBody>
      </p:sp>
      <p:sp>
        <p:nvSpPr>
          <p:cNvPr id="23" name="prune-film-a">
            <a:extLst xmlns:a="http://schemas.openxmlformats.org/drawingml/2006/main">
              <a:ext uri="{FF2B5EF4-FFF2-40B4-BE49-F238E27FC236}">
                <a16:creationId xmlns:a16="http://schemas.microsoft.com/office/drawing/2014/main" id="{0A45D28B-EAE9-4776-A128-DDF38A9AA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71700"/>
            <a:ext cx="1905000" cy="47625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24" name="prune-film-a-cell-1">
            <a:extLst xmlns:a="http://schemas.openxmlformats.org/drawingml/2006/main">
              <a:ext uri="{FF2B5EF4-FFF2-40B4-BE49-F238E27FC236}">
                <a16:creationId xmlns:a16="http://schemas.microsoft.com/office/drawing/2014/main" id="{6CF8F856-4F96-4D21-9FEA-426253FA7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257425"/>
            <a:ext cx="217714" cy="304800"/>
          </a:xfrm>
          <a:prstGeom xmlns:a="http://schemas.openxmlformats.org/drawingml/2006/main" prst="roundRect">
            <a:avLst>
              <a:gd name="adj" fmla="val 13125"/>
            </a:avLst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prune-film-a-cell-2">
            <a:extLst xmlns:a="http://schemas.openxmlformats.org/drawingml/2006/main">
              <a:ext uri="{FF2B5EF4-FFF2-40B4-BE49-F238E27FC236}">
                <a16:creationId xmlns:a16="http://schemas.microsoft.com/office/drawing/2014/main" id="{EAD51FBD-1819-4B25-A7BC-AAA2159A3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064" y="2257425"/>
            <a:ext cx="217714" cy="304800"/>
          </a:xfrm>
          <a:prstGeom xmlns:a="http://schemas.openxmlformats.org/drawingml/2006/main" prst="roundRect">
            <a:avLst>
              <a:gd name="adj" fmla="val 13125"/>
            </a:avLst>
          </a:prstGeom>
          <a:solidFill xmlns:a="http://schemas.openxmlformats.org/drawingml/2006/main">
            <a:srgbClr val="C9CC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prune-film-a-cell-3">
            <a:extLst xmlns:a="http://schemas.openxmlformats.org/drawingml/2006/main">
              <a:ext uri="{FF2B5EF4-FFF2-40B4-BE49-F238E27FC236}">
                <a16:creationId xmlns:a16="http://schemas.microsoft.com/office/drawing/2014/main" id="{428D1DA8-509D-45F9-833F-4C4B2126C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879" y="2257425"/>
            <a:ext cx="217714" cy="304800"/>
          </a:xfrm>
          <a:prstGeom xmlns:a="http://schemas.openxmlformats.org/drawingml/2006/main" prst="roundRect">
            <a:avLst>
              <a:gd name="adj" fmla="val 13125"/>
            </a:avLst>
          </a:prstGeom>
          <a:solidFill xmlns:a="http://schemas.openxmlformats.org/drawingml/2006/main">
            <a:srgbClr val="C9CC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prune-film-a-cell-4">
            <a:extLst xmlns:a="http://schemas.openxmlformats.org/drawingml/2006/main">
              <a:ext uri="{FF2B5EF4-FFF2-40B4-BE49-F238E27FC236}">
                <a16:creationId xmlns:a16="http://schemas.microsoft.com/office/drawing/2014/main" id="{98F94096-B4DD-4423-95EA-3D3EF8CD7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3693" y="2257425"/>
            <a:ext cx="217714" cy="304800"/>
          </a:xfrm>
          <a:prstGeom xmlns:a="http://schemas.openxmlformats.org/drawingml/2006/main" prst="roundRect">
            <a:avLst>
              <a:gd name="adj" fmla="val 13125"/>
            </a:avLst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prune-film-a-cell-5">
            <a:extLst xmlns:a="http://schemas.openxmlformats.org/drawingml/2006/main">
              <a:ext uri="{FF2B5EF4-FFF2-40B4-BE49-F238E27FC236}">
                <a16:creationId xmlns:a16="http://schemas.microsoft.com/office/drawing/2014/main" id="{47985FA4-EF00-4455-9911-18A8F65B8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9507" y="2257425"/>
            <a:ext cx="217714" cy="304800"/>
          </a:xfrm>
          <a:prstGeom xmlns:a="http://schemas.openxmlformats.org/drawingml/2006/main" prst="roundRect">
            <a:avLst>
              <a:gd name="adj" fmla="val 13125"/>
            </a:avLst>
          </a:prstGeom>
          <a:solidFill xmlns:a="http://schemas.openxmlformats.org/drawingml/2006/main">
            <a:srgbClr val="C9CC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prune-film-a-cell-6">
            <a:extLst xmlns:a="http://schemas.openxmlformats.org/drawingml/2006/main">
              <a:ext uri="{FF2B5EF4-FFF2-40B4-BE49-F238E27FC236}">
                <a16:creationId xmlns:a16="http://schemas.microsoft.com/office/drawing/2014/main" id="{51FC5104-C0F6-4450-AE15-925182F67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5321" y="2257425"/>
            <a:ext cx="217714" cy="304800"/>
          </a:xfrm>
          <a:prstGeom xmlns:a="http://schemas.openxmlformats.org/drawingml/2006/main" prst="roundRect">
            <a:avLst>
              <a:gd name="adj" fmla="val 13125"/>
            </a:avLst>
          </a:prstGeom>
          <a:solidFill xmlns:a="http://schemas.openxmlformats.org/drawingml/2006/main">
            <a:srgbClr val="C9CC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prune-film-a-cell-7">
            <a:extLst xmlns:a="http://schemas.openxmlformats.org/drawingml/2006/main">
              <a:ext uri="{FF2B5EF4-FFF2-40B4-BE49-F238E27FC236}">
                <a16:creationId xmlns:a16="http://schemas.microsoft.com/office/drawing/2014/main" id="{185C04D3-EE3F-4D93-88BB-573B2574D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1136" y="2257425"/>
            <a:ext cx="217714" cy="304800"/>
          </a:xfrm>
          <a:prstGeom xmlns:a="http://schemas.openxmlformats.org/drawingml/2006/main" prst="roundRect">
            <a:avLst>
              <a:gd name="adj" fmla="val 13125"/>
            </a:avLst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45E4F0E-C0B5-46D9-9647-7860EC62E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714625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A6069"/>
                </a:solidFill>
              </a:defRPr>
            </a:pPr>
            <a:r>
              <a:rPr sz="1050" b="1">
                <a:solidFill>
                  <a:srgbClr val="5A6069"/>
                </a:solidFill>
              </a:rPr>
              <a:t>B</a:t>
            </a:r>
          </a:p>
        </p:txBody>
      </p:sp>
      <p:sp>
        <p:nvSpPr>
          <p:cNvPr id="32" name="prune-film-b">
            <a:extLst xmlns:a="http://schemas.openxmlformats.org/drawingml/2006/main">
              <a:ext uri="{FF2B5EF4-FFF2-40B4-BE49-F238E27FC236}">
                <a16:creationId xmlns:a16="http://schemas.microsoft.com/office/drawing/2014/main" id="{7C0BFED7-C594-4AB2-8476-58E6BD664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943225"/>
            <a:ext cx="1905000" cy="47625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33" name="prune-film-b-cell-1">
            <a:extLst xmlns:a="http://schemas.openxmlformats.org/drawingml/2006/main">
              <a:ext uri="{FF2B5EF4-FFF2-40B4-BE49-F238E27FC236}">
                <a16:creationId xmlns:a16="http://schemas.microsoft.com/office/drawing/2014/main" id="{B5491723-305F-4B0C-9B06-081082F72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028950"/>
            <a:ext cx="217714" cy="304800"/>
          </a:xfrm>
          <a:prstGeom xmlns:a="http://schemas.openxmlformats.org/drawingml/2006/main" prst="roundRect">
            <a:avLst>
              <a:gd name="adj" fmla="val 13125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prune-film-b-cell-2">
            <a:extLst xmlns:a="http://schemas.openxmlformats.org/drawingml/2006/main">
              <a:ext uri="{FF2B5EF4-FFF2-40B4-BE49-F238E27FC236}">
                <a16:creationId xmlns:a16="http://schemas.microsoft.com/office/drawing/2014/main" id="{554539D3-984D-4A74-B92C-73288B5A8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064" y="3028950"/>
            <a:ext cx="217714" cy="304800"/>
          </a:xfrm>
          <a:prstGeom xmlns:a="http://schemas.openxmlformats.org/drawingml/2006/main" prst="roundRect">
            <a:avLst>
              <a:gd name="adj" fmla="val 13125"/>
            </a:avLst>
          </a:prstGeom>
          <a:solidFill xmlns:a="http://schemas.openxmlformats.org/drawingml/2006/main">
            <a:srgbClr val="C9CC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prune-film-b-cell-3">
            <a:extLst xmlns:a="http://schemas.openxmlformats.org/drawingml/2006/main">
              <a:ext uri="{FF2B5EF4-FFF2-40B4-BE49-F238E27FC236}">
                <a16:creationId xmlns:a16="http://schemas.microsoft.com/office/drawing/2014/main" id="{150F21DE-CB4F-49ED-A669-570EF0661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879" y="3028950"/>
            <a:ext cx="217714" cy="304800"/>
          </a:xfrm>
          <a:prstGeom xmlns:a="http://schemas.openxmlformats.org/drawingml/2006/main" prst="roundRect">
            <a:avLst>
              <a:gd name="adj" fmla="val 13125"/>
            </a:avLst>
          </a:prstGeom>
          <a:solidFill xmlns:a="http://schemas.openxmlformats.org/drawingml/2006/main">
            <a:srgbClr val="C9CC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prune-film-b-cell-4">
            <a:extLst xmlns:a="http://schemas.openxmlformats.org/drawingml/2006/main">
              <a:ext uri="{FF2B5EF4-FFF2-40B4-BE49-F238E27FC236}">
                <a16:creationId xmlns:a16="http://schemas.microsoft.com/office/drawing/2014/main" id="{C3D9B289-A7F7-4422-A099-86EA5F4C2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3693" y="3028950"/>
            <a:ext cx="217714" cy="304800"/>
          </a:xfrm>
          <a:prstGeom xmlns:a="http://schemas.openxmlformats.org/drawingml/2006/main" prst="roundRect">
            <a:avLst>
              <a:gd name="adj" fmla="val 13125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prune-film-b-cell-5">
            <a:extLst xmlns:a="http://schemas.openxmlformats.org/drawingml/2006/main">
              <a:ext uri="{FF2B5EF4-FFF2-40B4-BE49-F238E27FC236}">
                <a16:creationId xmlns:a16="http://schemas.microsoft.com/office/drawing/2014/main" id="{9AFD359F-0B9A-4365-A82E-EBC8A8235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9507" y="3028950"/>
            <a:ext cx="217714" cy="304800"/>
          </a:xfrm>
          <a:prstGeom xmlns:a="http://schemas.openxmlformats.org/drawingml/2006/main" prst="roundRect">
            <a:avLst>
              <a:gd name="adj" fmla="val 13125"/>
            </a:avLst>
          </a:prstGeom>
          <a:solidFill xmlns:a="http://schemas.openxmlformats.org/drawingml/2006/main">
            <a:srgbClr val="C9CC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prune-film-b-cell-6">
            <a:extLst xmlns:a="http://schemas.openxmlformats.org/drawingml/2006/main">
              <a:ext uri="{FF2B5EF4-FFF2-40B4-BE49-F238E27FC236}">
                <a16:creationId xmlns:a16="http://schemas.microsoft.com/office/drawing/2014/main" id="{4E96831F-FAB1-4578-A268-19D61AD4E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5321" y="3028950"/>
            <a:ext cx="217714" cy="304800"/>
          </a:xfrm>
          <a:prstGeom xmlns:a="http://schemas.openxmlformats.org/drawingml/2006/main" prst="roundRect">
            <a:avLst>
              <a:gd name="adj" fmla="val 13125"/>
            </a:avLst>
          </a:prstGeom>
          <a:solidFill xmlns:a="http://schemas.openxmlformats.org/drawingml/2006/main">
            <a:srgbClr val="C9CC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prune-film-b-cell-7">
            <a:extLst xmlns:a="http://schemas.openxmlformats.org/drawingml/2006/main">
              <a:ext uri="{FF2B5EF4-FFF2-40B4-BE49-F238E27FC236}">
                <a16:creationId xmlns:a16="http://schemas.microsoft.com/office/drawing/2014/main" id="{2C8036A6-3374-49CD-9FA0-9556AC2ED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1136" y="3028950"/>
            <a:ext cx="217714" cy="304800"/>
          </a:xfrm>
          <a:prstGeom xmlns:a="http://schemas.openxmlformats.org/drawingml/2006/main" prst="roundRect">
            <a:avLst>
              <a:gd name="adj" fmla="val 13125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sample-dot-1">
            <a:extLst xmlns:a="http://schemas.openxmlformats.org/drawingml/2006/main">
              <a:ext uri="{FF2B5EF4-FFF2-40B4-BE49-F238E27FC236}">
                <a16:creationId xmlns:a16="http://schemas.microsoft.com/office/drawing/2014/main" id="{BE07C47D-2502-40A0-B9B7-FA2248DE6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3609975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41" name="sample-dot-2">
            <a:extLst xmlns:a="http://schemas.openxmlformats.org/drawingml/2006/main">
              <a:ext uri="{FF2B5EF4-FFF2-40B4-BE49-F238E27FC236}">
                <a16:creationId xmlns:a16="http://schemas.microsoft.com/office/drawing/2014/main" id="{161C0BDE-FD7D-4DED-9362-60BE69871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3" y="3609975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42" name="sample-dot-3">
            <a:extLst xmlns:a="http://schemas.openxmlformats.org/drawingml/2006/main">
              <a:ext uri="{FF2B5EF4-FFF2-40B4-BE49-F238E27FC236}">
                <a16:creationId xmlns:a16="http://schemas.microsoft.com/office/drawing/2014/main" id="{E6025C3D-F4E1-41D5-81BE-EA799451D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3609975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43" name="sample-dot-4">
            <a:extLst xmlns:a="http://schemas.openxmlformats.org/drawingml/2006/main">
              <a:ext uri="{FF2B5EF4-FFF2-40B4-BE49-F238E27FC236}">
                <a16:creationId xmlns:a16="http://schemas.microsoft.com/office/drawing/2014/main" id="{7F8673E1-E1D7-4225-A5A9-9F869C487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8" y="3609975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44" name="sample-dot-5">
            <a:extLst xmlns:a="http://schemas.openxmlformats.org/drawingml/2006/main">
              <a:ext uri="{FF2B5EF4-FFF2-40B4-BE49-F238E27FC236}">
                <a16:creationId xmlns:a16="http://schemas.microsoft.com/office/drawing/2014/main" id="{D8B3A044-B614-43FA-BA78-D8D782A07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609975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45" name="sample-dot-6">
            <a:extLst xmlns:a="http://schemas.openxmlformats.org/drawingml/2006/main">
              <a:ext uri="{FF2B5EF4-FFF2-40B4-BE49-F238E27FC236}">
                <a16:creationId xmlns:a16="http://schemas.microsoft.com/office/drawing/2014/main" id="{35298EEB-5231-4446-9B84-8213B17A5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4463" y="3609975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46" name="sample-dot-7">
            <a:extLst xmlns:a="http://schemas.openxmlformats.org/drawingml/2006/main">
              <a:ext uri="{FF2B5EF4-FFF2-40B4-BE49-F238E27FC236}">
                <a16:creationId xmlns:a16="http://schemas.microsoft.com/office/drawing/2014/main" id="{77D0241D-C65C-440A-A4A5-19F45E70B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" y="3609975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47" name="sample-dot-8">
            <a:extLst xmlns:a="http://schemas.openxmlformats.org/drawingml/2006/main">
              <a:ext uri="{FF2B5EF4-FFF2-40B4-BE49-F238E27FC236}">
                <a16:creationId xmlns:a16="http://schemas.microsoft.com/office/drawing/2014/main" id="{E010F1E0-811B-4BA7-BDB1-B2DA18FC1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4988" y="3609975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48" name="sample-dot-9">
            <a:extLst xmlns:a="http://schemas.openxmlformats.org/drawingml/2006/main">
              <a:ext uri="{FF2B5EF4-FFF2-40B4-BE49-F238E27FC236}">
                <a16:creationId xmlns:a16="http://schemas.microsoft.com/office/drawing/2014/main" id="{7C27A88F-E41D-4995-8C64-32BB4835D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3609975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49" name="sample-dot-10">
            <a:extLst xmlns:a="http://schemas.openxmlformats.org/drawingml/2006/main">
              <a:ext uri="{FF2B5EF4-FFF2-40B4-BE49-F238E27FC236}">
                <a16:creationId xmlns:a16="http://schemas.microsoft.com/office/drawing/2014/main" id="{73C85DE4-9A68-4229-8E1F-7F04E2D2D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5513" y="3609975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2C80D0A6-92BB-4A6C-BC7B-7EE0BC5BE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943350"/>
            <a:ext cx="19240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A6069"/>
                </a:solidFill>
              </a:defRPr>
            </a:pPr>
            <a:r>
              <a:rPr sz="1200" b="0">
                <a:solidFill>
                  <a:srgbClr val="5A6069"/>
                </a:solidFill>
              </a:rPr>
              <a:t>Extract one sampled frame per second from each synchronized source video.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66DC152F-55CF-4AC0-ACCD-DAF100396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2114550"/>
            <a:ext cx="685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D8DFF"/>
                </a:solidFill>
              </a:defRPr>
            </a:pPr>
            <a:r>
              <a:rPr sz="1800" b="1">
                <a:solidFill>
                  <a:srgbClr val="3D8DFF"/>
                </a:solidFill>
              </a:rPr>
              <a:t>CLIP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4D78037A-D3F9-4CB7-9CB7-68797B388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162175"/>
            <a:ext cx="1104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A6069"/>
                </a:solidFill>
              </a:defRPr>
            </a:pPr>
            <a:r>
              <a:rPr sz="1200" b="0">
                <a:solidFill>
                  <a:srgbClr val="5A6069"/>
                </a:solidFill>
              </a:rPr>
              <a:t>embeddings</a:t>
            </a:r>
          </a:p>
        </p:txBody>
      </p:sp>
      <p:sp>
        <p:nvSpPr>
          <p:cNvPr id="53" name="cluster-dot-1">
            <a:extLst xmlns:a="http://schemas.openxmlformats.org/drawingml/2006/main">
              <a:ext uri="{FF2B5EF4-FFF2-40B4-BE49-F238E27FC236}">
                <a16:creationId xmlns:a16="http://schemas.microsoft.com/office/drawing/2014/main" id="{1D231E78-64C7-4777-93C4-6F77F8E67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2857500"/>
            <a:ext cx="142875" cy="1428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9525">
            <a:solidFill>
              <a:srgbClr val="6DCBF4"/>
            </a:solidFill>
            <a:prstDash val="solid"/>
          </a:ln>
        </p:spPr>
      </p:sp>
      <p:sp>
        <p:nvSpPr>
          <p:cNvPr id="54" name="cluster-dot-2">
            <a:extLst xmlns:a="http://schemas.openxmlformats.org/drawingml/2006/main">
              <a:ext uri="{FF2B5EF4-FFF2-40B4-BE49-F238E27FC236}">
                <a16:creationId xmlns:a16="http://schemas.microsoft.com/office/drawing/2014/main" id="{92166652-ED61-432A-AF40-FB77E29EC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724150"/>
            <a:ext cx="142875" cy="1428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9525">
            <a:solidFill>
              <a:srgbClr val="6DCBF4"/>
            </a:solidFill>
            <a:prstDash val="solid"/>
          </a:ln>
        </p:spPr>
      </p:sp>
      <p:sp>
        <p:nvSpPr>
          <p:cNvPr id="55" name="cluster-dot-3">
            <a:extLst xmlns:a="http://schemas.openxmlformats.org/drawingml/2006/main">
              <a:ext uri="{FF2B5EF4-FFF2-40B4-BE49-F238E27FC236}">
                <a16:creationId xmlns:a16="http://schemas.microsoft.com/office/drawing/2014/main" id="{9F911E5C-E5AF-4B1F-81B9-FA6FA3115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009900"/>
            <a:ext cx="142875" cy="1428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9525">
            <a:solidFill>
              <a:srgbClr val="6DCBF4"/>
            </a:solidFill>
            <a:prstDash val="solid"/>
          </a:ln>
        </p:spPr>
      </p:sp>
      <p:sp>
        <p:nvSpPr>
          <p:cNvPr id="56" name="cluster-dot-4">
            <a:extLst xmlns:a="http://schemas.openxmlformats.org/drawingml/2006/main">
              <a:ext uri="{FF2B5EF4-FFF2-40B4-BE49-F238E27FC236}">
                <a16:creationId xmlns:a16="http://schemas.microsoft.com/office/drawing/2014/main" id="{35E59B7C-D3B4-46B3-A367-B1D27A5F4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3028950"/>
            <a:ext cx="142875" cy="1428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9525">
            <a:solidFill>
              <a:srgbClr val="6DCBF4"/>
            </a:solidFill>
            <a:prstDash val="solid"/>
          </a:ln>
        </p:spPr>
      </p:sp>
      <p:sp>
        <p:nvSpPr>
          <p:cNvPr id="57" name="medoid-ring-4">
            <a:extLst xmlns:a="http://schemas.openxmlformats.org/drawingml/2006/main">
              <a:ext uri="{FF2B5EF4-FFF2-40B4-BE49-F238E27FC236}">
                <a16:creationId xmlns:a16="http://schemas.microsoft.com/office/drawing/2014/main" id="{08DFD195-D076-4682-9BC6-C50534C5F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828925"/>
            <a:ext cx="200025" cy="2000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000000"/>
            </a:solidFill>
            <a:prstDash val="solid"/>
          </a:ln>
        </p:spPr>
      </p:sp>
      <p:sp>
        <p:nvSpPr>
          <p:cNvPr id="58" name="cluster-dot-5">
            <a:extLst xmlns:a="http://schemas.openxmlformats.org/drawingml/2006/main">
              <a:ext uri="{FF2B5EF4-FFF2-40B4-BE49-F238E27FC236}">
                <a16:creationId xmlns:a16="http://schemas.microsoft.com/office/drawing/2014/main" id="{A5E3663F-BC2B-4809-8A13-D76EE1B69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0975" y="2714625"/>
            <a:ext cx="142875" cy="1428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59" name="cluster-dot-6">
            <a:extLst xmlns:a="http://schemas.openxmlformats.org/drawingml/2006/main">
              <a:ext uri="{FF2B5EF4-FFF2-40B4-BE49-F238E27FC236}">
                <a16:creationId xmlns:a16="http://schemas.microsoft.com/office/drawing/2014/main" id="{B080C1F5-D732-47A2-8D32-5E2DE35CB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1475" y="2581275"/>
            <a:ext cx="142875" cy="1428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60" name="cluster-dot-7">
            <a:extLst xmlns:a="http://schemas.openxmlformats.org/drawingml/2006/main">
              <a:ext uri="{FF2B5EF4-FFF2-40B4-BE49-F238E27FC236}">
                <a16:creationId xmlns:a16="http://schemas.microsoft.com/office/drawing/2014/main" id="{6027B2FF-5F40-4558-BF1B-123CF1BFF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9525" y="2867025"/>
            <a:ext cx="142875" cy="1428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61" name="cluster-dot-8">
            <a:extLst xmlns:a="http://schemas.openxmlformats.org/drawingml/2006/main">
              <a:ext uri="{FF2B5EF4-FFF2-40B4-BE49-F238E27FC236}">
                <a16:creationId xmlns:a16="http://schemas.microsoft.com/office/drawing/2014/main" id="{2BDE12A2-8C99-42AF-A445-C621418A4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2886075"/>
            <a:ext cx="142875" cy="1428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62" name="medoid-ring-8">
            <a:extLst xmlns:a="http://schemas.openxmlformats.org/drawingml/2006/main">
              <a:ext uri="{FF2B5EF4-FFF2-40B4-BE49-F238E27FC236}">
                <a16:creationId xmlns:a16="http://schemas.microsoft.com/office/drawing/2014/main" id="{AF13132A-5A5D-4CE0-8FBC-090F5F1B5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2686050"/>
            <a:ext cx="200025" cy="2000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000000"/>
            </a:solidFill>
            <a:prstDash val="solid"/>
          </a:ln>
        </p:spPr>
      </p:sp>
      <p:sp>
        <p:nvSpPr>
          <p:cNvPr id="63" name="cluster-dot-9">
            <a:extLst xmlns:a="http://schemas.openxmlformats.org/drawingml/2006/main">
              <a:ext uri="{FF2B5EF4-FFF2-40B4-BE49-F238E27FC236}">
                <a16:creationId xmlns:a16="http://schemas.microsoft.com/office/drawing/2014/main" id="{E274444E-18E7-42CA-BE46-1E32B8B59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3524250"/>
            <a:ext cx="142875" cy="1428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EA3AA"/>
          </a:solidFill>
          <a:ln xmlns:a="http://schemas.openxmlformats.org/drawingml/2006/main" w="9525">
            <a:solidFill>
              <a:srgbClr val="9EA3AA"/>
            </a:solidFill>
            <a:prstDash val="solid"/>
          </a:ln>
        </p:spPr>
      </p:sp>
      <p:sp>
        <p:nvSpPr>
          <p:cNvPr id="64" name="cluster-dot-10">
            <a:extLst xmlns:a="http://schemas.openxmlformats.org/drawingml/2006/main">
              <a:ext uri="{FF2B5EF4-FFF2-40B4-BE49-F238E27FC236}">
                <a16:creationId xmlns:a16="http://schemas.microsoft.com/office/drawing/2014/main" id="{A8B7FADA-5B0B-4451-A57A-7E19349D9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3390900"/>
            <a:ext cx="142875" cy="1428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EA3AA"/>
          </a:solidFill>
          <a:ln xmlns:a="http://schemas.openxmlformats.org/drawingml/2006/main" w="9525">
            <a:solidFill>
              <a:srgbClr val="9EA3AA"/>
            </a:solidFill>
            <a:prstDash val="solid"/>
          </a:ln>
        </p:spPr>
      </p:sp>
      <p:sp>
        <p:nvSpPr>
          <p:cNvPr id="65" name="cluster-dot-11">
            <a:extLst xmlns:a="http://schemas.openxmlformats.org/drawingml/2006/main">
              <a:ext uri="{FF2B5EF4-FFF2-40B4-BE49-F238E27FC236}">
                <a16:creationId xmlns:a16="http://schemas.microsoft.com/office/drawing/2014/main" id="{81314CD2-4583-47AB-8D25-DE3258BC9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3676650"/>
            <a:ext cx="142875" cy="1428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EA3AA"/>
          </a:solidFill>
          <a:ln xmlns:a="http://schemas.openxmlformats.org/drawingml/2006/main" w="9525">
            <a:solidFill>
              <a:srgbClr val="9EA3AA"/>
            </a:solidFill>
            <a:prstDash val="solid"/>
          </a:ln>
        </p:spPr>
      </p:sp>
      <p:sp>
        <p:nvSpPr>
          <p:cNvPr id="66" name="cluster-dot-12">
            <a:extLst xmlns:a="http://schemas.openxmlformats.org/drawingml/2006/main">
              <a:ext uri="{FF2B5EF4-FFF2-40B4-BE49-F238E27FC236}">
                <a16:creationId xmlns:a16="http://schemas.microsoft.com/office/drawing/2014/main" id="{8949207C-1A1A-44E9-8CAE-E69194420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4775" y="3695700"/>
            <a:ext cx="142875" cy="1428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EA3AA"/>
          </a:solidFill>
          <a:ln xmlns:a="http://schemas.openxmlformats.org/drawingml/2006/main" w="9525">
            <a:solidFill>
              <a:srgbClr val="9EA3AA"/>
            </a:solidFill>
            <a:prstDash val="solid"/>
          </a:ln>
        </p:spPr>
      </p:sp>
      <p:sp>
        <p:nvSpPr>
          <p:cNvPr id="67" name="medoid-ring-12">
            <a:extLst xmlns:a="http://schemas.openxmlformats.org/drawingml/2006/main">
              <a:ext uri="{FF2B5EF4-FFF2-40B4-BE49-F238E27FC236}">
                <a16:creationId xmlns:a16="http://schemas.microsoft.com/office/drawing/2014/main" id="{249A2432-F24D-4E5A-959F-FD52B5A90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4275" y="3495675"/>
            <a:ext cx="200025" cy="2000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000000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5657996B-B6EB-4851-A226-065FA7621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3943350"/>
            <a:ext cx="20383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A6069"/>
                </a:solidFill>
              </a:defRPr>
            </a:pPr>
            <a:r>
              <a:rPr sz="1200" b="0">
                <a:solidFill>
                  <a:srgbClr val="5A6069"/>
                </a:solidFill>
              </a:rPr>
              <a:t>Run deterministic cosine k-means separately per video; expose the frame nearest each centroid as its medoid.</a:t>
            </a:r>
          </a:p>
        </p:txBody>
      </p:sp>
      <p:sp>
        <p:nvSpPr>
          <p:cNvPr id="69" name="similarity-0-0">
            <a:extLst xmlns:a="http://schemas.openxmlformats.org/drawingml/2006/main">
              <a:ext uri="{FF2B5EF4-FFF2-40B4-BE49-F238E27FC236}">
                <a16:creationId xmlns:a16="http://schemas.microsoft.com/office/drawing/2014/main" id="{0CC25B82-6D66-4ED4-837A-48EF96B2E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2190750"/>
            <a:ext cx="276225" cy="276225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E0E2E6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70" name="similarity-0-1">
            <a:extLst xmlns:a="http://schemas.openxmlformats.org/drawingml/2006/main">
              <a:ext uri="{FF2B5EF4-FFF2-40B4-BE49-F238E27FC236}">
                <a16:creationId xmlns:a16="http://schemas.microsoft.com/office/drawing/2014/main" id="{A57ACF8D-CECB-45B7-BFA1-B2F369A2E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6425" y="2190750"/>
            <a:ext cx="276225" cy="276225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E0E2E6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71" name="similarity-0-2">
            <a:extLst xmlns:a="http://schemas.openxmlformats.org/drawingml/2006/main">
              <a:ext uri="{FF2B5EF4-FFF2-40B4-BE49-F238E27FC236}">
                <a16:creationId xmlns:a16="http://schemas.microsoft.com/office/drawing/2014/main" id="{67261D43-F93F-4CE4-B340-FE1331C42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190750"/>
            <a:ext cx="276225" cy="276225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72" name="similarity-0-3">
            <a:extLst xmlns:a="http://schemas.openxmlformats.org/drawingml/2006/main">
              <a:ext uri="{FF2B5EF4-FFF2-40B4-BE49-F238E27FC236}">
                <a16:creationId xmlns:a16="http://schemas.microsoft.com/office/drawing/2014/main" id="{FECB3FCD-1A32-4561-930C-A07FA8C3A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2190750"/>
            <a:ext cx="276225" cy="276225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E0E2E6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73" name="similarity-0-4">
            <a:extLst xmlns:a="http://schemas.openxmlformats.org/drawingml/2006/main">
              <a:ext uri="{FF2B5EF4-FFF2-40B4-BE49-F238E27FC236}">
                <a16:creationId xmlns:a16="http://schemas.microsoft.com/office/drawing/2014/main" id="{977199B8-7E9B-46AB-BBC0-FA7A1A476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190750"/>
            <a:ext cx="276225" cy="276225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E0E2E6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74" name="similarity-1-0">
            <a:extLst xmlns:a="http://schemas.openxmlformats.org/drawingml/2006/main">
              <a:ext uri="{FF2B5EF4-FFF2-40B4-BE49-F238E27FC236}">
                <a16:creationId xmlns:a16="http://schemas.microsoft.com/office/drawing/2014/main" id="{B46903B2-AD8A-4372-AE8D-AAD4D1FCD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2505075"/>
            <a:ext cx="276225" cy="276225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E0E2E6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75" name="similarity-1-1">
            <a:extLst xmlns:a="http://schemas.openxmlformats.org/drawingml/2006/main">
              <a:ext uri="{FF2B5EF4-FFF2-40B4-BE49-F238E27FC236}">
                <a16:creationId xmlns:a16="http://schemas.microsoft.com/office/drawing/2014/main" id="{B91AAF11-0423-49D8-94DA-B686EC5BB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6425" y="2505075"/>
            <a:ext cx="276225" cy="276225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E0E2E6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76" name="similarity-1-2">
            <a:extLst xmlns:a="http://schemas.openxmlformats.org/drawingml/2006/main">
              <a:ext uri="{FF2B5EF4-FFF2-40B4-BE49-F238E27FC236}">
                <a16:creationId xmlns:a16="http://schemas.microsoft.com/office/drawing/2014/main" id="{8CF0C8D8-0D5B-4E17-B8BB-A928D9FEB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505075"/>
            <a:ext cx="276225" cy="276225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E0E2E6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77" name="similarity-1-3">
            <a:extLst xmlns:a="http://schemas.openxmlformats.org/drawingml/2006/main">
              <a:ext uri="{FF2B5EF4-FFF2-40B4-BE49-F238E27FC236}">
                <a16:creationId xmlns:a16="http://schemas.microsoft.com/office/drawing/2014/main" id="{27CFB037-7CF8-4473-B30F-B9445719B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2505075"/>
            <a:ext cx="276225" cy="276225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E0E2E6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78" name="similarity-1-4">
            <a:extLst xmlns:a="http://schemas.openxmlformats.org/drawingml/2006/main">
              <a:ext uri="{FF2B5EF4-FFF2-40B4-BE49-F238E27FC236}">
                <a16:creationId xmlns:a16="http://schemas.microsoft.com/office/drawing/2014/main" id="{4A647D84-F1B3-4554-9015-4D527012E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505075"/>
            <a:ext cx="276225" cy="276225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79" name="similarity-2-0">
            <a:extLst xmlns:a="http://schemas.openxmlformats.org/drawingml/2006/main">
              <a:ext uri="{FF2B5EF4-FFF2-40B4-BE49-F238E27FC236}">
                <a16:creationId xmlns:a16="http://schemas.microsoft.com/office/drawing/2014/main" id="{E5383517-C1FC-4B80-BFAD-047AF0884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2819400"/>
            <a:ext cx="276225" cy="276225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E0E2E6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80" name="similarity-2-1">
            <a:extLst xmlns:a="http://schemas.openxmlformats.org/drawingml/2006/main">
              <a:ext uri="{FF2B5EF4-FFF2-40B4-BE49-F238E27FC236}">
                <a16:creationId xmlns:a16="http://schemas.microsoft.com/office/drawing/2014/main" id="{43271306-9054-4DBC-8639-FF8008A5C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6425" y="2819400"/>
            <a:ext cx="276225" cy="276225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81" name="similarity-2-2">
            <a:extLst xmlns:a="http://schemas.openxmlformats.org/drawingml/2006/main">
              <a:ext uri="{FF2B5EF4-FFF2-40B4-BE49-F238E27FC236}">
                <a16:creationId xmlns:a16="http://schemas.microsoft.com/office/drawing/2014/main" id="{27AFC47D-9C79-4FE2-B730-0AA18B9B1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819400"/>
            <a:ext cx="276225" cy="276225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E0E2E6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82" name="similarity-2-3">
            <a:extLst xmlns:a="http://schemas.openxmlformats.org/drawingml/2006/main">
              <a:ext uri="{FF2B5EF4-FFF2-40B4-BE49-F238E27FC236}">
                <a16:creationId xmlns:a16="http://schemas.microsoft.com/office/drawing/2014/main" id="{281C131B-3C21-4C57-BC39-7A619F78F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2819400"/>
            <a:ext cx="276225" cy="276225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E0E2E6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83" name="similarity-2-4">
            <a:extLst xmlns:a="http://schemas.openxmlformats.org/drawingml/2006/main">
              <a:ext uri="{FF2B5EF4-FFF2-40B4-BE49-F238E27FC236}">
                <a16:creationId xmlns:a16="http://schemas.microsoft.com/office/drawing/2014/main" id="{860EC1CB-987E-482F-8788-995836CB4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819400"/>
            <a:ext cx="276225" cy="276225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E0E2E6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84" name="similarity-3-0">
            <a:extLst xmlns:a="http://schemas.openxmlformats.org/drawingml/2006/main">
              <a:ext uri="{FF2B5EF4-FFF2-40B4-BE49-F238E27FC236}">
                <a16:creationId xmlns:a16="http://schemas.microsoft.com/office/drawing/2014/main" id="{6FFE73A0-CBEC-482F-A549-3EA418158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3133725"/>
            <a:ext cx="276225" cy="276225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E0E2E6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85" name="similarity-3-1">
            <a:extLst xmlns:a="http://schemas.openxmlformats.org/drawingml/2006/main">
              <a:ext uri="{FF2B5EF4-FFF2-40B4-BE49-F238E27FC236}">
                <a16:creationId xmlns:a16="http://schemas.microsoft.com/office/drawing/2014/main" id="{D1E2D07E-8F10-4C98-9025-E62A33DAF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6425" y="3133725"/>
            <a:ext cx="276225" cy="276225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E0E2E6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86" name="similarity-3-2">
            <a:extLst xmlns:a="http://schemas.openxmlformats.org/drawingml/2006/main">
              <a:ext uri="{FF2B5EF4-FFF2-40B4-BE49-F238E27FC236}">
                <a16:creationId xmlns:a16="http://schemas.microsoft.com/office/drawing/2014/main" id="{2BA915D1-D25B-4A5A-B7AF-4062F7397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133725"/>
            <a:ext cx="276225" cy="276225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E0E2E6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87" name="similarity-3-3">
            <a:extLst xmlns:a="http://schemas.openxmlformats.org/drawingml/2006/main">
              <a:ext uri="{FF2B5EF4-FFF2-40B4-BE49-F238E27FC236}">
                <a16:creationId xmlns:a16="http://schemas.microsoft.com/office/drawing/2014/main" id="{702D49FD-3219-402F-821D-0EDD30BE4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3133725"/>
            <a:ext cx="276225" cy="276225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88" name="similarity-3-4">
            <a:extLst xmlns:a="http://schemas.openxmlformats.org/drawingml/2006/main">
              <a:ext uri="{FF2B5EF4-FFF2-40B4-BE49-F238E27FC236}">
                <a16:creationId xmlns:a16="http://schemas.microsoft.com/office/drawing/2014/main" id="{550C154E-30B3-41F5-8BAA-916FC7262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133725"/>
            <a:ext cx="276225" cy="276225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E0E2E6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89" name="similarity-4-0">
            <a:extLst xmlns:a="http://schemas.openxmlformats.org/drawingml/2006/main">
              <a:ext uri="{FF2B5EF4-FFF2-40B4-BE49-F238E27FC236}">
                <a16:creationId xmlns:a16="http://schemas.microsoft.com/office/drawing/2014/main" id="{DA4E4B80-1A76-49BA-9503-D8048EC82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3448050"/>
            <a:ext cx="276225" cy="276225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90" name="similarity-4-1">
            <a:extLst xmlns:a="http://schemas.openxmlformats.org/drawingml/2006/main">
              <a:ext uri="{FF2B5EF4-FFF2-40B4-BE49-F238E27FC236}">
                <a16:creationId xmlns:a16="http://schemas.microsoft.com/office/drawing/2014/main" id="{649121EC-12EF-46E8-9838-6322FDBBA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6425" y="3448050"/>
            <a:ext cx="276225" cy="276225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E0E2E6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91" name="similarity-4-2">
            <a:extLst xmlns:a="http://schemas.openxmlformats.org/drawingml/2006/main">
              <a:ext uri="{FF2B5EF4-FFF2-40B4-BE49-F238E27FC236}">
                <a16:creationId xmlns:a16="http://schemas.microsoft.com/office/drawing/2014/main" id="{032A3E06-CF95-4B37-8299-3A81E9ECE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448050"/>
            <a:ext cx="276225" cy="276225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E0E2E6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92" name="similarity-4-3">
            <a:extLst xmlns:a="http://schemas.openxmlformats.org/drawingml/2006/main">
              <a:ext uri="{FF2B5EF4-FFF2-40B4-BE49-F238E27FC236}">
                <a16:creationId xmlns:a16="http://schemas.microsoft.com/office/drawing/2014/main" id="{1E5FAB89-1E05-482E-8C9A-01490A8D6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3448050"/>
            <a:ext cx="276225" cy="276225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E0E2E6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93" name="similarity-4-4">
            <a:extLst xmlns:a="http://schemas.openxmlformats.org/drawingml/2006/main">
              <a:ext uri="{FF2B5EF4-FFF2-40B4-BE49-F238E27FC236}">
                <a16:creationId xmlns:a16="http://schemas.microsoft.com/office/drawing/2014/main" id="{41E5E4FC-ED7B-4E3B-B880-E176DE15B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448050"/>
            <a:ext cx="276225" cy="276225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E0E2E6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E2202F33-AC22-49A6-A444-C9429A6D6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3829050"/>
            <a:ext cx="933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3D8DFF"/>
                </a:solidFill>
              </a:defRPr>
            </a:pPr>
            <a:r>
              <a:rPr sz="1500" b="1">
                <a:solidFill>
                  <a:srgbClr val="3D8DFF"/>
                </a:solidFill>
              </a:rPr>
              <a:t>≥ 0.82</a:t>
            </a: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91F8533D-C3FA-4DB4-97F8-D75E2E9F9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4248150"/>
            <a:ext cx="2000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A6069"/>
                </a:solidFill>
              </a:defRPr>
            </a:pPr>
            <a:r>
              <a:rPr sz="1200" b="0">
                <a:solidFill>
                  <a:srgbClr val="5A6069"/>
                </a:solidFill>
              </a:rPr>
              <a:t>Any medoid pair above threshold marks both source clusters as redundant.</a:t>
            </a:r>
          </a:p>
        </p:txBody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353FC717-AB6B-4C48-903B-62FCD5380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190750"/>
            <a:ext cx="1952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0000"/>
                </a:solidFill>
              </a:defRPr>
            </a:pPr>
            <a:r>
              <a:rPr sz="1200" b="1">
                <a:solidFill>
                  <a:srgbClr val="000000"/>
                </a:solidFill>
              </a:rPr>
              <a:t>marked cluster members</a:t>
            </a:r>
          </a:p>
        </p:txBody>
      </p:sp>
      <p:sp>
        <p:nvSpPr>
          <p:cNvPr id="97" name="interval-member-1">
            <a:extLst xmlns:a="http://schemas.openxmlformats.org/drawingml/2006/main">
              <a:ext uri="{FF2B5EF4-FFF2-40B4-BE49-F238E27FC236}">
                <a16:creationId xmlns:a16="http://schemas.microsoft.com/office/drawing/2014/main" id="{096F59B8-E2CC-4E54-B2DA-1CF646471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619375"/>
            <a:ext cx="161925" cy="4572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6DCBF4"/>
          </a:solidFill>
          <a:ln xmlns:a="http://schemas.openxmlformats.org/drawingml/2006/main" w="9525">
            <a:solidFill>
              <a:srgbClr val="6DCBF4"/>
            </a:solidFill>
            <a:prstDash val="solid"/>
          </a:ln>
        </p:spPr>
      </p:sp>
      <p:sp>
        <p:nvSpPr>
          <p:cNvPr id="98" name="interval-member-2">
            <a:extLst xmlns:a="http://schemas.openxmlformats.org/drawingml/2006/main">
              <a:ext uri="{FF2B5EF4-FFF2-40B4-BE49-F238E27FC236}">
                <a16:creationId xmlns:a16="http://schemas.microsoft.com/office/drawing/2014/main" id="{B1B0ADAC-C917-43C3-BB4B-843F68D9F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2619375"/>
            <a:ext cx="161925" cy="4572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E96A6A"/>
          </a:solidFill>
          <a:ln xmlns:a="http://schemas.openxmlformats.org/drawingml/2006/main" w="9525">
            <a:solidFill>
              <a:srgbClr val="E96A6A"/>
            </a:solidFill>
            <a:prstDash val="solid"/>
          </a:ln>
        </p:spPr>
      </p:sp>
      <p:sp>
        <p:nvSpPr>
          <p:cNvPr id="99" name="interval-member-3">
            <a:extLst xmlns:a="http://schemas.openxmlformats.org/drawingml/2006/main">
              <a:ext uri="{FF2B5EF4-FFF2-40B4-BE49-F238E27FC236}">
                <a16:creationId xmlns:a16="http://schemas.microsoft.com/office/drawing/2014/main" id="{08F763FA-8FCB-4C8E-AB7C-EB32C0897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619375"/>
            <a:ext cx="161925" cy="4572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E96A6A"/>
          </a:solidFill>
          <a:ln xmlns:a="http://schemas.openxmlformats.org/drawingml/2006/main" w="9525">
            <a:solidFill>
              <a:srgbClr val="E96A6A"/>
            </a:solidFill>
            <a:prstDash val="solid"/>
          </a:ln>
        </p:spPr>
      </p:sp>
      <p:sp>
        <p:nvSpPr>
          <p:cNvPr id="100" name="interval-member-4">
            <a:extLst xmlns:a="http://schemas.openxmlformats.org/drawingml/2006/main">
              <a:ext uri="{FF2B5EF4-FFF2-40B4-BE49-F238E27FC236}">
                <a16:creationId xmlns:a16="http://schemas.microsoft.com/office/drawing/2014/main" id="{53149181-06B9-4B2B-B7F8-89D625193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619375"/>
            <a:ext cx="161925" cy="4572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6DCBF4"/>
          </a:solidFill>
          <a:ln xmlns:a="http://schemas.openxmlformats.org/drawingml/2006/main" w="9525">
            <a:solidFill>
              <a:srgbClr val="6DCBF4"/>
            </a:solidFill>
            <a:prstDash val="solid"/>
          </a:ln>
        </p:spPr>
      </p:sp>
      <p:sp>
        <p:nvSpPr>
          <p:cNvPr id="101" name="interval-member-5">
            <a:extLst xmlns:a="http://schemas.openxmlformats.org/drawingml/2006/main">
              <a:ext uri="{FF2B5EF4-FFF2-40B4-BE49-F238E27FC236}">
                <a16:creationId xmlns:a16="http://schemas.microsoft.com/office/drawing/2014/main" id="{6EA1213D-8A79-4F3F-B89B-BA481442A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619375"/>
            <a:ext cx="161925" cy="4572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6DCBF4"/>
          </a:solidFill>
          <a:ln xmlns:a="http://schemas.openxmlformats.org/drawingml/2006/main" w="9525">
            <a:solidFill>
              <a:srgbClr val="6DCBF4"/>
            </a:solidFill>
            <a:prstDash val="solid"/>
          </a:ln>
        </p:spPr>
      </p:sp>
      <p:sp>
        <p:nvSpPr>
          <p:cNvPr id="102" name="interval-member-6">
            <a:extLst xmlns:a="http://schemas.openxmlformats.org/drawingml/2006/main">
              <a:ext uri="{FF2B5EF4-FFF2-40B4-BE49-F238E27FC236}">
                <a16:creationId xmlns:a16="http://schemas.microsoft.com/office/drawing/2014/main" id="{4E95BA46-AD89-4D7A-8BF9-4B441C7CC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619375"/>
            <a:ext cx="161925" cy="4572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E96A6A"/>
          </a:solidFill>
          <a:ln xmlns:a="http://schemas.openxmlformats.org/drawingml/2006/main" w="9525">
            <a:solidFill>
              <a:srgbClr val="E96A6A"/>
            </a:solidFill>
            <a:prstDash val="solid"/>
          </a:ln>
        </p:spPr>
      </p:sp>
      <p:sp>
        <p:nvSpPr>
          <p:cNvPr id="103" name="interval-member-7">
            <a:extLst xmlns:a="http://schemas.openxmlformats.org/drawingml/2006/main">
              <a:ext uri="{FF2B5EF4-FFF2-40B4-BE49-F238E27FC236}">
                <a16:creationId xmlns:a16="http://schemas.microsoft.com/office/drawing/2014/main" id="{56D64136-C24C-4C59-8433-E0FB17094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619375"/>
            <a:ext cx="161925" cy="4572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E96A6A"/>
          </a:solidFill>
          <a:ln xmlns:a="http://schemas.openxmlformats.org/drawingml/2006/main" w="9525">
            <a:solidFill>
              <a:srgbClr val="E96A6A"/>
            </a:solidFill>
            <a:prstDash val="solid"/>
          </a:ln>
        </p:spPr>
      </p:sp>
      <p:sp>
        <p:nvSpPr>
          <p:cNvPr id="104" name="interval-member-8">
            <a:extLst xmlns:a="http://schemas.openxmlformats.org/drawingml/2006/main">
              <a:ext uri="{FF2B5EF4-FFF2-40B4-BE49-F238E27FC236}">
                <a16:creationId xmlns:a16="http://schemas.microsoft.com/office/drawing/2014/main" id="{355487AB-28E5-4DEF-8671-D3E87DF2A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619375"/>
            <a:ext cx="161925" cy="4572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6DCBF4"/>
          </a:solidFill>
          <a:ln xmlns:a="http://schemas.openxmlformats.org/drawingml/2006/main" w="9525">
            <a:solidFill>
              <a:srgbClr val="6DCBF4"/>
            </a:solidFill>
            <a:prstDash val="solid"/>
          </a:ln>
        </p:spPr>
      </p:sp>
      <p:sp>
        <p:nvSpPr>
          <p:cNvPr id="105" name="interval-member-9">
            <a:extLst xmlns:a="http://schemas.openxmlformats.org/drawingml/2006/main">
              <a:ext uri="{FF2B5EF4-FFF2-40B4-BE49-F238E27FC236}">
                <a16:creationId xmlns:a16="http://schemas.microsoft.com/office/drawing/2014/main" id="{28C270CD-935C-43A4-80C8-2EFB6CCC6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619375"/>
            <a:ext cx="161925" cy="4572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E96A6A"/>
          </a:solidFill>
          <a:ln xmlns:a="http://schemas.openxmlformats.org/drawingml/2006/main" w="9525">
            <a:solidFill>
              <a:srgbClr val="E96A6A"/>
            </a:solidFill>
            <a:prstDash val="solid"/>
          </a:ln>
        </p:spPr>
      </p:sp>
      <p:sp>
        <p:nvSpPr>
          <p:cNvPr id="106" name="interval-member-10">
            <a:extLst xmlns:a="http://schemas.openxmlformats.org/drawingml/2006/main">
              <a:ext uri="{FF2B5EF4-FFF2-40B4-BE49-F238E27FC236}">
                <a16:creationId xmlns:a16="http://schemas.microsoft.com/office/drawing/2014/main" id="{E5B987EE-5653-483B-925A-50259D5A9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619375"/>
            <a:ext cx="161925" cy="4572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6DCBF4"/>
          </a:solidFill>
          <a:ln xmlns:a="http://schemas.openxmlformats.org/drawingml/2006/main" w="9525">
            <a:solidFill>
              <a:srgbClr val="6DCBF4"/>
            </a:solidFill>
            <a:prstDash val="solid"/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B6B67F91-E24F-4E1F-A1AF-14DD87B2E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3352800"/>
            <a:ext cx="1714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888B1E03-FB1A-405C-8E02-0985A3014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3286125"/>
            <a:ext cx="0" cy="1333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AE2DDF1F-30B6-44A6-96DD-0B8240F88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286125"/>
            <a:ext cx="0" cy="1333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EB8C56F2-3AB8-44C0-8561-36057EF2E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3286125"/>
            <a:ext cx="0" cy="1333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140E6A49-ADE8-47B9-B56B-06E2AF72D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286125"/>
            <a:ext cx="0" cy="1333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D871DBDE-C4DB-4EFC-893B-995955A7D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286125"/>
            <a:ext cx="0" cy="1333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50014DEB-A5B4-46D6-9345-DD4E17DEE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286125"/>
            <a:ext cx="0" cy="1333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C851168F-F15A-4FFE-ACBB-0E031FD61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286125"/>
            <a:ext cx="0" cy="1333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D8C1BDF0-8AA1-449D-9BBD-1CC248320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286125"/>
            <a:ext cx="0" cy="1333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49C51968-DDFC-405F-9A4C-CE956F37B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286125"/>
            <a:ext cx="0" cy="1333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25FE8D70-9EF0-47DF-8256-9FD9554B9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286125"/>
            <a:ext cx="0" cy="1333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C2C9850D-192E-497A-9305-173CF9CBE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943350"/>
            <a:ext cx="20193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A6069"/>
                </a:solidFill>
              </a:defRPr>
            </a:pPr>
            <a:r>
              <a:rPr sz="1200" b="0">
                <a:solidFill>
                  <a:srgbClr val="5A6069"/>
                </a:solidFill>
              </a:rPr>
              <a:t>Each marked sampled frame becomes an equal-width interval centered on its timestamp (±0.5 s at 1 fps).</a:t>
            </a:r>
          </a:p>
        </p:txBody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485CB520-FF3C-457C-B365-DA2BD206F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09550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</a:defRPr>
            </a:pPr>
            <a:r>
              <a:rPr sz="1200" b="1">
                <a:solidFill>
                  <a:srgbClr val="3D8DFF"/>
                </a:solidFill>
              </a:rPr>
              <a:t>A_pruned.mp4</a:t>
            </a:r>
          </a:p>
        </p:txBody>
      </p:sp>
      <p:sp>
        <p:nvSpPr>
          <p:cNvPr id="120" name="pruned-a-output">
            <a:extLst xmlns:a="http://schemas.openxmlformats.org/drawingml/2006/main">
              <a:ext uri="{FF2B5EF4-FFF2-40B4-BE49-F238E27FC236}">
                <a16:creationId xmlns:a16="http://schemas.microsoft.com/office/drawing/2014/main" id="{F9C1420A-D636-41CB-904C-504A06FCD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400300"/>
            <a:ext cx="1809750" cy="28575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9DCE1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21" name="pruned-a-output-segment-1">
            <a:extLst xmlns:a="http://schemas.openxmlformats.org/drawingml/2006/main">
              <a:ext uri="{FF2B5EF4-FFF2-40B4-BE49-F238E27FC236}">
                <a16:creationId xmlns:a16="http://schemas.microsoft.com/office/drawing/2014/main" id="{677BEB52-818B-4894-8BD0-C813690C4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8825" y="2438400"/>
            <a:ext cx="419100" cy="20955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122" name="pruned-a-output-segment-2">
            <a:extLst xmlns:a="http://schemas.openxmlformats.org/drawingml/2006/main">
              <a:ext uri="{FF2B5EF4-FFF2-40B4-BE49-F238E27FC236}">
                <a16:creationId xmlns:a16="http://schemas.microsoft.com/office/drawing/2014/main" id="{167B5BC0-F3CD-4D19-ACF3-6403B97B3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86975" y="2438400"/>
            <a:ext cx="209550" cy="20955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23" name="pruned-a-output-segment-3">
            <a:extLst xmlns:a="http://schemas.openxmlformats.org/drawingml/2006/main">
              <a:ext uri="{FF2B5EF4-FFF2-40B4-BE49-F238E27FC236}">
                <a16:creationId xmlns:a16="http://schemas.microsoft.com/office/drawing/2014/main" id="{07847B44-0E6F-4637-BD42-21A79BE99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15575" y="2438400"/>
            <a:ext cx="419100" cy="20955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124" name="pruned-a-output-segment-4">
            <a:extLst xmlns:a="http://schemas.openxmlformats.org/drawingml/2006/main">
              <a:ext uri="{FF2B5EF4-FFF2-40B4-BE49-F238E27FC236}">
                <a16:creationId xmlns:a16="http://schemas.microsoft.com/office/drawing/2014/main" id="{DCCBA8B6-57A6-4824-9B55-89D66AE41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53725" y="2438400"/>
            <a:ext cx="209550" cy="20955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2C94C"/>
          </a:solidFill>
          <a:ln xmlns:a="http://schemas.openxmlformats.org/drawingml/2006/main" w="9525">
            <a:solidFill>
              <a:srgbClr val="F2C94C"/>
            </a:solidFill>
            <a:prstDash val="solid"/>
          </a:ln>
        </p:spPr>
      </p:sp>
      <p:sp>
        <p:nvSpPr>
          <p:cNvPr id="125" name="pruned-a-output-segment-5">
            <a:extLst xmlns:a="http://schemas.openxmlformats.org/drawingml/2006/main">
              <a:ext uri="{FF2B5EF4-FFF2-40B4-BE49-F238E27FC236}">
                <a16:creationId xmlns:a16="http://schemas.microsoft.com/office/drawing/2014/main" id="{BC3B3846-B51E-4DED-9248-B48EF15F2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82325" y="2438400"/>
            <a:ext cx="419100" cy="20955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8DBE7430-4B5A-4CE6-8E3D-AC81FAEF4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97180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</a:defRPr>
            </a:pPr>
            <a:r>
              <a:rPr sz="1200" b="1">
                <a:solidFill>
                  <a:srgbClr val="3D8DFF"/>
                </a:solidFill>
              </a:rPr>
              <a:t>B_pruned.mp4</a:t>
            </a:r>
          </a:p>
        </p:txBody>
      </p:sp>
      <p:sp>
        <p:nvSpPr>
          <p:cNvPr id="127" name="pruned-b-output">
            <a:extLst xmlns:a="http://schemas.openxmlformats.org/drawingml/2006/main">
              <a:ext uri="{FF2B5EF4-FFF2-40B4-BE49-F238E27FC236}">
                <a16:creationId xmlns:a16="http://schemas.microsoft.com/office/drawing/2014/main" id="{595395D6-9E87-4651-AA1B-D615313AD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276600"/>
            <a:ext cx="1809750" cy="28575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9DCE1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28" name="pruned-b-output-segment-1">
            <a:extLst xmlns:a="http://schemas.openxmlformats.org/drawingml/2006/main">
              <a:ext uri="{FF2B5EF4-FFF2-40B4-BE49-F238E27FC236}">
                <a16:creationId xmlns:a16="http://schemas.microsoft.com/office/drawing/2014/main" id="{59492FA1-04B4-42C2-8593-57EE71FDA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8825" y="3314700"/>
            <a:ext cx="209550" cy="20955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129" name="pruned-b-output-segment-2">
            <a:extLst xmlns:a="http://schemas.openxmlformats.org/drawingml/2006/main">
              <a:ext uri="{FF2B5EF4-FFF2-40B4-BE49-F238E27FC236}">
                <a16:creationId xmlns:a16="http://schemas.microsoft.com/office/drawing/2014/main" id="{B516B94A-D1A9-47D0-987C-A96C9A86C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7425" y="3314700"/>
            <a:ext cx="209550" cy="20955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2C94C"/>
          </a:solidFill>
          <a:ln xmlns:a="http://schemas.openxmlformats.org/drawingml/2006/main" w="9525">
            <a:solidFill>
              <a:srgbClr val="F2C94C"/>
            </a:solidFill>
            <a:prstDash val="solid"/>
          </a:ln>
        </p:spPr>
      </p:sp>
      <p:sp>
        <p:nvSpPr>
          <p:cNvPr id="130" name="pruned-b-output-segment-3">
            <a:extLst xmlns:a="http://schemas.openxmlformats.org/drawingml/2006/main">
              <a:ext uri="{FF2B5EF4-FFF2-40B4-BE49-F238E27FC236}">
                <a16:creationId xmlns:a16="http://schemas.microsoft.com/office/drawing/2014/main" id="{8AD240F1-7F71-4C19-A950-824E5884D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06025" y="3314700"/>
            <a:ext cx="419100" cy="20955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131" name="pruned-b-output-segment-4">
            <a:extLst xmlns:a="http://schemas.openxmlformats.org/drawingml/2006/main">
              <a:ext uri="{FF2B5EF4-FFF2-40B4-BE49-F238E27FC236}">
                <a16:creationId xmlns:a16="http://schemas.microsoft.com/office/drawing/2014/main" id="{EB6FC64D-1195-4A6E-A016-FDB798D4B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44175" y="3314700"/>
            <a:ext cx="209550" cy="20955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32" name="pruned-b-output-segment-5">
            <a:extLst xmlns:a="http://schemas.openxmlformats.org/drawingml/2006/main">
              <a:ext uri="{FF2B5EF4-FFF2-40B4-BE49-F238E27FC236}">
                <a16:creationId xmlns:a16="http://schemas.microsoft.com/office/drawing/2014/main" id="{6E24F068-DB10-4C08-8EA8-A7F42E7AA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72775" y="3314700"/>
            <a:ext cx="628650" cy="20955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318C35F7-3ADC-4875-B2E8-DC6DE319E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943350"/>
            <a:ext cx="20383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A6069"/>
                </a:solidFill>
              </a:defRPr>
            </a:pPr>
            <a:r>
              <a:rPr sz="1200" b="0">
                <a:solidFill>
                  <a:srgbClr val="5A6069"/>
                </a:solidFill>
              </a:rPr>
              <a:t>If enabled, duration protection restores the least-similar marked intervals until the floor is met. FFmpeg joins the keep intervals; originals and diagnostics remain.</a:t>
            </a:r>
          </a:p>
        </p:txBody>
      </p:sp>
      <p:sp>
        <p:nvSpPr>
          <p:cNvPr id="134" name="">
            <a:extLst xmlns:a="http://schemas.openxmlformats.org/drawingml/2006/main">
              <a:ext uri="{FF2B5EF4-FFF2-40B4-BE49-F238E27FC236}">
                <a16:creationId xmlns:a16="http://schemas.microsoft.com/office/drawing/2014/main" id="{A2A19EDD-C233-450C-B633-F50C22E39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467350"/>
            <a:ext cx="152400" cy="152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135" name="">
            <a:extLst xmlns:a="http://schemas.openxmlformats.org/drawingml/2006/main">
              <a:ext uri="{FF2B5EF4-FFF2-40B4-BE49-F238E27FC236}">
                <a16:creationId xmlns:a16="http://schemas.microsoft.com/office/drawing/2014/main" id="{6228AB6D-BFCA-48F6-9E22-FD37E981B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41020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A6069"/>
                </a:solidFill>
              </a:defRPr>
            </a:pPr>
            <a:r>
              <a:rPr sz="1050" b="0">
                <a:solidFill>
                  <a:srgbClr val="5A6069"/>
                </a:solidFill>
              </a:rPr>
              <a:t>kept for generation</a:t>
            </a:r>
          </a:p>
        </p:txBody>
      </p:sp>
      <p:sp>
        <p:nvSpPr>
          <p:cNvPr id="136" name="">
            <a:extLst xmlns:a="http://schemas.openxmlformats.org/drawingml/2006/main">
              <a:ext uri="{FF2B5EF4-FFF2-40B4-BE49-F238E27FC236}">
                <a16:creationId xmlns:a16="http://schemas.microsoft.com/office/drawing/2014/main" id="{C1DF1224-E8A0-45CD-B136-828D40480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467350"/>
            <a:ext cx="152400" cy="152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96A6A"/>
          </a:solidFill>
          <a:ln xmlns:a="http://schemas.openxmlformats.org/drawingml/2006/main" w="9525">
            <a:solidFill>
              <a:srgbClr val="E96A6A"/>
            </a:solidFill>
            <a:prstDash val="solid"/>
          </a:ln>
        </p:spPr>
      </p:sp>
      <p:sp>
        <p:nvSpPr>
          <p:cNvPr id="137" name="">
            <a:extLst xmlns:a="http://schemas.openxmlformats.org/drawingml/2006/main">
              <a:ext uri="{FF2B5EF4-FFF2-40B4-BE49-F238E27FC236}">
                <a16:creationId xmlns:a16="http://schemas.microsoft.com/office/drawing/2014/main" id="{454B2617-A19F-486B-B16D-E2ED1454A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5410200"/>
            <a:ext cx="1790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A6069"/>
                </a:solidFill>
              </a:defRPr>
            </a:pPr>
            <a:r>
              <a:rPr sz="1050" b="0">
                <a:solidFill>
                  <a:srgbClr val="5A6069"/>
                </a:solidFill>
              </a:rPr>
              <a:t>removed as redundant</a:t>
            </a:r>
          </a:p>
        </p:txBody>
      </p:sp>
      <p:sp>
        <p:nvSpPr>
          <p:cNvPr id="138" name="">
            <a:extLst xmlns:a="http://schemas.openxmlformats.org/drawingml/2006/main">
              <a:ext uri="{FF2B5EF4-FFF2-40B4-BE49-F238E27FC236}">
                <a16:creationId xmlns:a16="http://schemas.microsoft.com/office/drawing/2014/main" id="{BC89307D-915D-4830-BA58-FC2F45595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5467350"/>
            <a:ext cx="152400" cy="152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2C94C"/>
          </a:solidFill>
          <a:ln xmlns:a="http://schemas.openxmlformats.org/drawingml/2006/main" w="9525">
            <a:solidFill>
              <a:srgbClr val="F2C94C"/>
            </a:solidFill>
            <a:prstDash val="solid"/>
          </a:ln>
        </p:spPr>
      </p:sp>
      <p:sp>
        <p:nvSpPr>
          <p:cNvPr id="139" name="">
            <a:extLst xmlns:a="http://schemas.openxmlformats.org/drawingml/2006/main">
              <a:ext uri="{FF2B5EF4-FFF2-40B4-BE49-F238E27FC236}">
                <a16:creationId xmlns:a16="http://schemas.microsoft.com/office/drawing/2014/main" id="{75F76FCC-A5E0-451D-A566-F887C9C40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54102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A6069"/>
                </a:solidFill>
              </a:defRPr>
            </a:pPr>
            <a:r>
              <a:rPr sz="1050" b="0">
                <a:solidFill>
                  <a:srgbClr val="5A6069"/>
                </a:solidFill>
              </a:rPr>
              <a:t>restored by protection</a:t>
            </a:r>
          </a:p>
        </p:txBody>
      </p:sp>
      <p:sp>
        <p:nvSpPr>
          <p:cNvPr id="140" name="">
            <a:extLst xmlns:a="http://schemas.openxmlformats.org/drawingml/2006/main">
              <a:ext uri="{FF2B5EF4-FFF2-40B4-BE49-F238E27FC236}">
                <a16:creationId xmlns:a16="http://schemas.microsoft.com/office/drawing/2014/main" id="{EEFE72B9-001C-4955-860A-A0657BA61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5467350"/>
            <a:ext cx="152400" cy="152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41" name="">
            <a:extLst xmlns:a="http://schemas.openxmlformats.org/drawingml/2006/main">
              <a:ext uri="{FF2B5EF4-FFF2-40B4-BE49-F238E27FC236}">
                <a16:creationId xmlns:a16="http://schemas.microsoft.com/office/drawing/2014/main" id="{844F4038-2E42-4CD2-A9BA-3B7BE98B2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54102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A6069"/>
                </a:solidFill>
              </a:defRPr>
            </a:pPr>
            <a:r>
              <a:rPr sz="1050" b="0">
                <a:solidFill>
                  <a:srgbClr val="5A6069"/>
                </a:solidFill>
              </a:rPr>
              <a:t>full originals retained for review</a:t>
            </a:r>
          </a:p>
        </p:txBody>
      </p:sp>
      <p:sp>
        <p:nvSpPr>
          <p:cNvPr id="142" name="">
            <a:extLst xmlns:a="http://schemas.openxmlformats.org/drawingml/2006/main">
              <a:ext uri="{FF2B5EF4-FFF2-40B4-BE49-F238E27FC236}">
                <a16:creationId xmlns:a16="http://schemas.microsoft.com/office/drawing/2014/main" id="{44F30257-E00C-4F23-9924-B6C6A75B6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5381625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3D8DFF"/>
                </a:solidFill>
              </a:defRPr>
            </a:pPr>
            <a:r>
              <a:rPr sz="1050" b="1">
                <a:solidFill>
                  <a:srgbClr val="3D8DFF"/>
                </a:solidFill>
              </a:rPr>
              <a:t>Pruning K=12 ≠ generator top-k=40</a:t>
            </a:r>
          </a:p>
        </p:txBody>
      </p:sp>
      <p:sp>
        <p:nvSpPr>
          <p:cNvPr id="143" name="">
            <a:extLst xmlns:a="http://schemas.openxmlformats.org/drawingml/2006/main">
              <a:ext uri="{FF2B5EF4-FFF2-40B4-BE49-F238E27FC236}">
                <a16:creationId xmlns:a16="http://schemas.microsoft.com/office/drawing/2014/main" id="{215283B0-9070-4724-A357-D1FD18F6D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15075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ADF"/>
            </a:solidFill>
            <a:prstDash val="solid"/>
          </a:ln>
        </p:spPr>
      </p:sp>
      <p:sp>
        <p:nvSpPr>
          <p:cNvPr id="144" name="source-footer-3">
            <a:extLst xmlns:a="http://schemas.openxmlformats.org/drawingml/2006/main">
              <a:ext uri="{FF2B5EF4-FFF2-40B4-BE49-F238E27FC236}">
                <a16:creationId xmlns:a16="http://schemas.microsoft.com/office/drawing/2014/main" id="{55846674-F892-4B82-9562-78DAB12E7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0"/>
            <a:ext cx="10239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A6069"/>
                </a:solidFill>
              </a:defRPr>
            </a:pPr>
            <a:r>
              <a:rPr sz="825" b="0">
                <a:solidFill>
                  <a:srgbClr val="5A6069"/>
                </a:solidFill>
              </a:rPr>
              <a:t>Implementation: hpc/run_clip_pruned_benchmark_100.sbatch • group_relative_clip_sampling.py</a:t>
            </a:r>
          </a:p>
        </p:txBody>
      </p:sp>
      <p:sp>
        <p:nvSpPr>
          <p:cNvPr id="145" name="slide-number-3">
            <a:extLst xmlns:a="http://schemas.openxmlformats.org/drawingml/2006/main">
              <a:ext uri="{FF2B5EF4-FFF2-40B4-BE49-F238E27FC236}">
                <a16:creationId xmlns:a16="http://schemas.microsoft.com/office/drawing/2014/main" id="{83B577A4-D337-43F9-8273-3DC3BAC06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62700"/>
            <a:ext cx="647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000000"/>
                </a:solidFill>
              </a:defRPr>
            </a:pPr>
            <a:r>
              <a:rPr sz="975" b="0">
                <a:solidFill>
                  <a:srgbClr val="000000"/>
                </a:solidFill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54365022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0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45ED33B-AB07-4577-B045-9A5922F5E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11391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925" b="0">
                <a:solidFill>
                  <a:srgbClr val="000000"/>
                </a:solidFill>
              </a:defRPr>
            </a:pPr>
            <a:r>
              <a:rPr sz="2925" b="0">
                <a:solidFill>
                  <a:srgbClr val="000000"/>
                </a:solidFill>
              </a:rPr>
              <a:t>One packet carries two versions of the same evidence</a:t>
            </a:r>
          </a:p>
        </p:txBody>
      </p:sp>
      <p:sp>
        <p:nvSpPr>
          <p:cNvPr id="2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28D69B19-27F5-419F-8DFE-B8FFF1498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895350"/>
            <a:ext cx="1104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A6069"/>
                </a:solidFill>
              </a:defRPr>
            </a:pPr>
            <a:r>
              <a:rPr sz="1350" b="0">
                <a:solidFill>
                  <a:srgbClr val="5A6069"/>
                </a:solidFill>
              </a:rPr>
              <a:t>The field name—not a second selection step—decides which media each stage receives.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3D7A98-EC96-4E54-934A-C9132C199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69545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D8DFF"/>
                </a:solidFill>
              </a:defRPr>
            </a:pPr>
            <a:r>
              <a:rPr sz="1125" b="1">
                <a:solidFill>
                  <a:srgbClr val="3D8DFF"/>
                </a:solidFill>
              </a:rPr>
              <a:t>PRUNED PAIR</a:t>
            </a:r>
          </a:p>
        </p:txBody>
      </p:sp>
      <p:sp>
        <p:nvSpPr>
          <p:cNvPr id="4" name="routing-pruned-a">
            <a:extLst xmlns:a="http://schemas.openxmlformats.org/drawingml/2006/main">
              <a:ext uri="{FF2B5EF4-FFF2-40B4-BE49-F238E27FC236}">
                <a16:creationId xmlns:a16="http://schemas.microsoft.com/office/drawing/2014/main" id="{6E44442D-A104-4E22-A3FE-E7A994BEA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2038350"/>
            <a:ext cx="2381250" cy="28575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9DCE1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routing-pruned-a-segment-1">
            <a:extLst xmlns:a="http://schemas.openxmlformats.org/drawingml/2006/main">
              <a:ext uri="{FF2B5EF4-FFF2-40B4-BE49-F238E27FC236}">
                <a16:creationId xmlns:a16="http://schemas.microsoft.com/office/drawing/2014/main" id="{A9611D10-5004-4E2E-89CA-168D90856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2076450"/>
            <a:ext cx="642257" cy="20955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6" name="routing-pruned-a-segment-2">
            <a:extLst xmlns:a="http://schemas.openxmlformats.org/drawingml/2006/main">
              <a:ext uri="{FF2B5EF4-FFF2-40B4-BE49-F238E27FC236}">
                <a16:creationId xmlns:a16="http://schemas.microsoft.com/office/drawing/2014/main" id="{2CD18BFE-F201-47CF-B55F-8DF794908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032" y="2076450"/>
            <a:ext cx="321129" cy="20955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7" name="routing-pruned-a-segment-3">
            <a:extLst xmlns:a="http://schemas.openxmlformats.org/drawingml/2006/main">
              <a:ext uri="{FF2B5EF4-FFF2-40B4-BE49-F238E27FC236}">
                <a16:creationId xmlns:a16="http://schemas.microsoft.com/office/drawing/2014/main" id="{0F9BD0FA-2501-4E56-930B-7D6B152B8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8211" y="2076450"/>
            <a:ext cx="321129" cy="20955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8" name="routing-pruned-a-segment-4">
            <a:extLst xmlns:a="http://schemas.openxmlformats.org/drawingml/2006/main">
              <a:ext uri="{FF2B5EF4-FFF2-40B4-BE49-F238E27FC236}">
                <a16:creationId xmlns:a16="http://schemas.microsoft.com/office/drawing/2014/main" id="{F4513ADC-1A23-44A1-A230-D8B301DA6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8389" y="2076450"/>
            <a:ext cx="321129" cy="20955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9" name="routing-pruned-a-segment-5">
            <a:extLst xmlns:a="http://schemas.openxmlformats.org/drawingml/2006/main">
              <a:ext uri="{FF2B5EF4-FFF2-40B4-BE49-F238E27FC236}">
                <a16:creationId xmlns:a16="http://schemas.microsoft.com/office/drawing/2014/main" id="{AB860126-FCD6-4577-AA3E-D76D005C7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8568" y="2076450"/>
            <a:ext cx="642257" cy="20955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10" name="routing-pruned-b">
            <a:extLst xmlns:a="http://schemas.openxmlformats.org/drawingml/2006/main">
              <a:ext uri="{FF2B5EF4-FFF2-40B4-BE49-F238E27FC236}">
                <a16:creationId xmlns:a16="http://schemas.microsoft.com/office/drawing/2014/main" id="{98917C03-CFD0-4122-BD17-995E852DC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2419350"/>
            <a:ext cx="2381250" cy="28575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9DCE1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routing-pruned-b-segment-1">
            <a:extLst xmlns:a="http://schemas.openxmlformats.org/drawingml/2006/main">
              <a:ext uri="{FF2B5EF4-FFF2-40B4-BE49-F238E27FC236}">
                <a16:creationId xmlns:a16="http://schemas.microsoft.com/office/drawing/2014/main" id="{C290912F-B9BC-454F-AFCE-5C65D14B3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2457450"/>
            <a:ext cx="321129" cy="20955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12" name="routing-pruned-b-segment-2">
            <a:extLst xmlns:a="http://schemas.openxmlformats.org/drawingml/2006/main">
              <a:ext uri="{FF2B5EF4-FFF2-40B4-BE49-F238E27FC236}">
                <a16:creationId xmlns:a16="http://schemas.microsoft.com/office/drawing/2014/main" id="{D90F08F9-2D88-444B-BD6D-F4413E4B2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904" y="2457450"/>
            <a:ext cx="321129" cy="20955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3" name="routing-pruned-b-segment-3">
            <a:extLst xmlns:a="http://schemas.openxmlformats.org/drawingml/2006/main">
              <a:ext uri="{FF2B5EF4-FFF2-40B4-BE49-F238E27FC236}">
                <a16:creationId xmlns:a16="http://schemas.microsoft.com/office/drawing/2014/main" id="{DD2D05A1-090A-4442-930F-ABD2DE54B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082" y="2457450"/>
            <a:ext cx="642257" cy="20955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14" name="routing-pruned-b-segment-4">
            <a:extLst xmlns:a="http://schemas.openxmlformats.org/drawingml/2006/main">
              <a:ext uri="{FF2B5EF4-FFF2-40B4-BE49-F238E27FC236}">
                <a16:creationId xmlns:a16="http://schemas.microsoft.com/office/drawing/2014/main" id="{30741E0D-DAFA-4B09-B4E6-E51939B60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8389" y="2457450"/>
            <a:ext cx="321129" cy="20955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5" name="routing-pruned-b-segment-5">
            <a:extLst xmlns:a="http://schemas.openxmlformats.org/drawingml/2006/main">
              <a:ext uri="{FF2B5EF4-FFF2-40B4-BE49-F238E27FC236}">
                <a16:creationId xmlns:a16="http://schemas.microsoft.com/office/drawing/2014/main" id="{ED05F3F3-145D-43CB-8EEB-5C786ED93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8568" y="2457450"/>
            <a:ext cx="642257" cy="20955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4484533-EC83-45E6-B834-053B8D4D8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2781300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3D8DFF"/>
                </a:solidFill>
              </a:defRPr>
            </a:pPr>
            <a:r>
              <a:rPr sz="1200" b="1">
                <a:solidFill>
                  <a:srgbClr val="3D8DFF"/>
                </a:solidFill>
              </a:rPr>
              <a:t>clips[*].local_video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2654E4E-0D5B-4EDA-A15F-852CB8489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3829050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0000"/>
                </a:solidFill>
              </a:defRPr>
            </a:pPr>
            <a:r>
              <a:rPr sz="1125" b="1">
                <a:solidFill>
                  <a:srgbClr val="000000"/>
                </a:solidFill>
              </a:rPr>
              <a:t>FULL ORIGINAL PAIR</a:t>
            </a:r>
          </a:p>
        </p:txBody>
      </p:sp>
      <p:sp>
        <p:nvSpPr>
          <p:cNvPr id="18" name="routing-full-a">
            <a:extLst xmlns:a="http://schemas.openxmlformats.org/drawingml/2006/main">
              <a:ext uri="{FF2B5EF4-FFF2-40B4-BE49-F238E27FC236}">
                <a16:creationId xmlns:a16="http://schemas.microsoft.com/office/drawing/2014/main" id="{4A6CCFDE-9C42-49AE-9F43-BBDA3C9CE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4171950"/>
            <a:ext cx="2381250" cy="28575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9DCE1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9" name="routing-full-a-segment-1">
            <a:extLst xmlns:a="http://schemas.openxmlformats.org/drawingml/2006/main">
              <a:ext uri="{FF2B5EF4-FFF2-40B4-BE49-F238E27FC236}">
                <a16:creationId xmlns:a16="http://schemas.microsoft.com/office/drawing/2014/main" id="{8DC306C7-3A70-4924-9751-C4CC5853D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4210050"/>
            <a:ext cx="566738" cy="20955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20" name="routing-full-a-segment-2">
            <a:extLst xmlns:a="http://schemas.openxmlformats.org/drawingml/2006/main">
              <a:ext uri="{FF2B5EF4-FFF2-40B4-BE49-F238E27FC236}">
                <a16:creationId xmlns:a16="http://schemas.microsoft.com/office/drawing/2014/main" id="{74EC5936-56B4-4715-AA9D-EC87F34E5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3" y="4210050"/>
            <a:ext cx="566738" cy="20955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21" name="routing-full-a-segment-3">
            <a:extLst xmlns:a="http://schemas.openxmlformats.org/drawingml/2006/main">
              <a:ext uri="{FF2B5EF4-FFF2-40B4-BE49-F238E27FC236}">
                <a16:creationId xmlns:a16="http://schemas.microsoft.com/office/drawing/2014/main" id="{061945EF-ECB4-463E-A4A8-6893CF27E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4210050"/>
            <a:ext cx="566738" cy="20955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22" name="routing-full-a-segment-4">
            <a:extLst xmlns:a="http://schemas.openxmlformats.org/drawingml/2006/main">
              <a:ext uri="{FF2B5EF4-FFF2-40B4-BE49-F238E27FC236}">
                <a16:creationId xmlns:a16="http://schemas.microsoft.com/office/drawing/2014/main" id="{08B9B10E-E0E2-4D9C-8E05-48D1D2D95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4088" y="4210050"/>
            <a:ext cx="566738" cy="20955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23" name="routing-full-b">
            <a:extLst xmlns:a="http://schemas.openxmlformats.org/drawingml/2006/main">
              <a:ext uri="{FF2B5EF4-FFF2-40B4-BE49-F238E27FC236}">
                <a16:creationId xmlns:a16="http://schemas.microsoft.com/office/drawing/2014/main" id="{FC15F3DE-F980-49B9-B09C-5E255DEBC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4552950"/>
            <a:ext cx="2381250" cy="28575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9DCE1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4" name="routing-full-b-segment-1">
            <a:extLst xmlns:a="http://schemas.openxmlformats.org/drawingml/2006/main">
              <a:ext uri="{FF2B5EF4-FFF2-40B4-BE49-F238E27FC236}">
                <a16:creationId xmlns:a16="http://schemas.microsoft.com/office/drawing/2014/main" id="{EC3B7091-2CB1-4CF6-B6FE-F3603934C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4591050"/>
            <a:ext cx="566738" cy="20955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25" name="routing-full-b-segment-2">
            <a:extLst xmlns:a="http://schemas.openxmlformats.org/drawingml/2006/main">
              <a:ext uri="{FF2B5EF4-FFF2-40B4-BE49-F238E27FC236}">
                <a16:creationId xmlns:a16="http://schemas.microsoft.com/office/drawing/2014/main" id="{3E64D354-9F45-48C3-8003-A73D706B5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3" y="4591050"/>
            <a:ext cx="566738" cy="20955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26" name="routing-full-b-segment-3">
            <a:extLst xmlns:a="http://schemas.openxmlformats.org/drawingml/2006/main">
              <a:ext uri="{FF2B5EF4-FFF2-40B4-BE49-F238E27FC236}">
                <a16:creationId xmlns:a16="http://schemas.microsoft.com/office/drawing/2014/main" id="{25A0663D-2628-4A16-A3A0-B17AECC13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4591050"/>
            <a:ext cx="566738" cy="20955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27" name="routing-full-b-segment-4">
            <a:extLst xmlns:a="http://schemas.openxmlformats.org/drawingml/2006/main">
              <a:ext uri="{FF2B5EF4-FFF2-40B4-BE49-F238E27FC236}">
                <a16:creationId xmlns:a16="http://schemas.microsoft.com/office/drawing/2014/main" id="{8254DD71-15ED-4529-96CD-D70A4D9EB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4088" y="4591050"/>
            <a:ext cx="566738" cy="20955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49AA496-319E-4734-AD6F-EE1C431A7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4914900"/>
            <a:ext cx="25241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00000"/>
                </a:solidFill>
              </a:defRPr>
            </a:pPr>
            <a:r>
              <a:rPr sz="1125" b="1">
                <a:solidFill>
                  <a:srgbClr val="000000"/>
                </a:solidFill>
              </a:rPr>
              <a:t>full_local_video / original_local_video</a:t>
            </a:r>
          </a:p>
        </p:txBody>
      </p:sp>
      <p:sp>
        <p:nvSpPr>
          <p:cNvPr id="29" name="routing-packet">
            <a:extLst xmlns:a="http://schemas.openxmlformats.org/drawingml/2006/main">
              <a:ext uri="{FF2B5EF4-FFF2-40B4-BE49-F238E27FC236}">
                <a16:creationId xmlns:a16="http://schemas.microsoft.com/office/drawing/2014/main" id="{6BCF276A-3D4E-427E-9308-FC893431B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095500"/>
            <a:ext cx="2571750" cy="3143250"/>
          </a:xfrm>
          <a:prstGeom xmlns:a="http://schemas.openxmlformats.org/drawingml/2006/main" prst="roundRect">
            <a:avLst>
              <a:gd name="adj" fmla="val 5185"/>
            </a:avLst>
          </a:prstGeom>
          <a:solidFill xmlns:a="http://schemas.openxmlformats.org/drawingml/2006/main">
            <a:srgbClr val="F6F6F6"/>
          </a:solidFill>
          <a:ln xmlns:a="http://schemas.openxmlformats.org/drawingml/2006/main" w="14288">
            <a:solidFill>
              <a:srgbClr val="000000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499ACBD-4DF2-4EE7-B5E6-1636AC6F6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324100"/>
            <a:ext cx="2152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</a:rPr>
              <a:t>EVIDENCE PACKET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19FA8D6-3E3D-4495-B02C-15FBC1EA5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781300"/>
            <a:ext cx="2038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56DF54A-158F-48BE-9806-302C4BF8F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971800"/>
            <a:ext cx="20002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A6069"/>
                </a:solidFill>
              </a:defRPr>
            </a:pPr>
            <a:r>
              <a:rPr sz="1200" b="0">
                <a:solidFill>
                  <a:srgbClr val="5A6069"/>
                </a:solidFill>
              </a:rPr>
              <a:t>local_video</a:t>
            </a:r>
          </a:p>
          <a:p xmlns:a="http://schemas.openxmlformats.org/drawingml/2006/main">
            <a:pPr algn="ctr">
              <a:defRPr sz="1200" b="0">
                <a:solidFill>
                  <a:srgbClr val="5A6069"/>
                </a:solidFill>
              </a:defRPr>
            </a:pPr>
            <a:r>
              <a:rPr sz="1200" b="0">
                <a:solidFill>
                  <a:srgbClr val="5A6069"/>
                </a:solidFill>
              </a:rPr>
              <a:t>→ pruned MP4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200" b="0">
                <a:solidFill>
                  <a:srgbClr val="5A6069"/>
                </a:solidFill>
              </a:defRPr>
            </a:pPr>
            <a:r>
              <a:rPr sz="1200" b="0">
                <a:solidFill>
                  <a:srgbClr val="5A6069"/>
                </a:solidFill>
              </a:rPr>
              <a:t>full_local_video</a:t>
            </a:r>
          </a:p>
          <a:p xmlns:a="http://schemas.openxmlformats.org/drawingml/2006/main">
            <a:pPr algn="ctr">
              <a:defRPr sz="1200" b="0">
                <a:solidFill>
                  <a:srgbClr val="5A6069"/>
                </a:solidFill>
              </a:defRPr>
            </a:pPr>
            <a:r>
              <a:rPr sz="1200" b="0">
                <a:solidFill>
                  <a:srgbClr val="5A6069"/>
                </a:solidFill>
              </a:rPr>
              <a:t>original_local_video</a:t>
            </a:r>
          </a:p>
          <a:p xmlns:a="http://schemas.openxmlformats.org/drawingml/2006/main">
            <a:pPr algn="ctr">
              <a:defRPr sz="1200" b="0">
                <a:solidFill>
                  <a:srgbClr val="5A6069"/>
                </a:solidFill>
              </a:defRPr>
            </a:pPr>
            <a:r>
              <a:rPr sz="1200" b="0">
                <a:solidFill>
                  <a:srgbClr val="5A6069"/>
                </a:solidFill>
              </a:rPr>
              <a:t>→ complete MP4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200" b="0">
                <a:solidFill>
                  <a:srgbClr val="5A6069"/>
                </a:solidFill>
              </a:defRPr>
            </a:pPr>
            <a:r>
              <a:rPr sz="1200" b="0">
                <a:solidFill>
                  <a:srgbClr val="5A6069"/>
                </a:solidFill>
              </a:rPr>
              <a:t>+ users, time token, gaze, provenance</a:t>
            </a:r>
          </a:p>
        </p:txBody>
      </p:sp>
      <p:sp>
        <p:nvSpPr>
          <p:cNvPr id="33" name="routing-generator">
            <a:extLst xmlns:a="http://schemas.openxmlformats.org/drawingml/2006/main">
              <a:ext uri="{FF2B5EF4-FFF2-40B4-BE49-F238E27FC236}">
                <a16:creationId xmlns:a16="http://schemas.microsoft.com/office/drawing/2014/main" id="{F1CFF783-F6F6-4020-A2EE-E00CCF900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1466850"/>
            <a:ext cx="4762500" cy="1619250"/>
          </a:xfrm>
          <a:prstGeom xmlns:a="http://schemas.openxmlformats.org/drawingml/2006/main" prst="roundRect">
            <a:avLst>
              <a:gd name="adj" fmla="val 8235"/>
            </a:avLst>
          </a:prstGeom>
          <a:solidFill xmlns:a="http://schemas.openxmlformats.org/drawingml/2006/main">
            <a:srgbClr val="DDF3FC"/>
          </a:solidFill>
          <a:ln xmlns:a="http://schemas.openxmlformats.org/drawingml/2006/main" w="19050">
            <a:solidFill>
              <a:srgbClr val="3D8DFF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E2339A3-8D77-4376-A04A-9A39F5733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1676400"/>
            <a:ext cx="4305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3D8DFF"/>
                </a:solidFill>
              </a:defRPr>
            </a:pPr>
            <a:r>
              <a:rPr sz="1725" b="1">
                <a:solidFill>
                  <a:srgbClr val="3D8DFF"/>
                </a:solidFill>
              </a:rPr>
              <a:t>BASELINE + NEUTRAL GENERATOR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3758305-6F49-47DA-B940-F4AA7A4D0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114550"/>
            <a:ext cx="4095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A6069"/>
                </a:solidFill>
              </a:defRPr>
            </a:pPr>
            <a:r>
              <a:rPr sz="1200" b="0">
                <a:solidFill>
                  <a:srgbClr val="5A6069"/>
                </a:solidFill>
              </a:rPr>
              <a:t>Qwen3.6-27B • sampling T=0.7, p=0.9, top-k=40 • thinking disabled</a:t>
            </a:r>
          </a:p>
          <a:p xmlns:a="http://schemas.openxmlformats.org/drawingml/2006/main">
            <a:pPr algn="ctr">
              <a:defRPr sz="1200" b="0">
                <a:solidFill>
                  <a:srgbClr val="5A6069"/>
                </a:solidFill>
              </a:defRPr>
            </a:pPr>
            <a:r>
              <a:rPr sz="1200" b="0">
                <a:solidFill>
                  <a:srgbClr val="5A6069"/>
                </a:solidFill>
              </a:rPr>
              <a:t>No discovery pass. No CLIP-guidance block. The prompt asks for one natural, first-person, five-option MCQ whose asker view is insufficient.</a:t>
            </a:r>
          </a:p>
        </p:txBody>
      </p:sp>
      <p:sp>
        <p:nvSpPr>
          <p:cNvPr id="36" name="routing-candidate">
            <a:extLst xmlns:a="http://schemas.openxmlformats.org/drawingml/2006/main">
              <a:ext uri="{FF2B5EF4-FFF2-40B4-BE49-F238E27FC236}">
                <a16:creationId xmlns:a16="http://schemas.microsoft.com/office/drawing/2014/main" id="{BA295550-88C4-4197-A9ED-A612D516A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276600"/>
            <a:ext cx="4095750" cy="552450"/>
          </a:xfrm>
          <a:prstGeom xmlns:a="http://schemas.openxmlformats.org/drawingml/2006/main" prst="roundRect">
            <a:avLst>
              <a:gd name="adj" fmla="val 1724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0000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C8FB35F-0C40-49C8-91B7-B172CF9BA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390900"/>
            <a:ext cx="3752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00000"/>
                </a:solidFill>
              </a:defRPr>
            </a:pPr>
            <a:r>
              <a:rPr sz="1350" b="1">
                <a:solidFill>
                  <a:srgbClr val="000000"/>
                </a:solidFill>
              </a:rPr>
              <a:t>candidate JSON + generator_rationale</a:t>
            </a:r>
          </a:p>
        </p:txBody>
      </p:sp>
      <p:sp>
        <p:nvSpPr>
          <p:cNvPr id="38" name="routing-qaf">
            <a:extLst xmlns:a="http://schemas.openxmlformats.org/drawingml/2006/main">
              <a:ext uri="{FF2B5EF4-FFF2-40B4-BE49-F238E27FC236}">
                <a16:creationId xmlns:a16="http://schemas.microsoft.com/office/drawing/2014/main" id="{2B781466-77B8-4D45-A6AB-570531478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419600"/>
            <a:ext cx="1562100" cy="1104900"/>
          </a:xfrm>
          <a:prstGeom xmlns:a="http://schemas.openxmlformats.org/drawingml/2006/main" prst="roundRect">
            <a:avLst>
              <a:gd name="adj" fmla="val 8621"/>
            </a:avLst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57E8B58-9CF9-4A41-B61F-2A6625DB1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533900"/>
            <a:ext cx="1295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00000"/>
                </a:solidFill>
              </a:defRPr>
            </a:pPr>
            <a:r>
              <a:rPr sz="1350" b="1">
                <a:solidFill>
                  <a:srgbClr val="000000"/>
                </a:solidFill>
              </a:rPr>
              <a:t>QA formality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DBD5780-4C6F-499B-B918-3051D2A8F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895850"/>
            <a:ext cx="1295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A6069"/>
                </a:solidFill>
              </a:defRPr>
            </a:pPr>
            <a:r>
              <a:rPr sz="1125" b="0">
                <a:solidFill>
                  <a:srgbClr val="5A6069"/>
                </a:solidFill>
              </a:rPr>
              <a:t>text only</a:t>
            </a:r>
          </a:p>
          <a:p xmlns:a="http://schemas.openxmlformats.org/drawingml/2006/main">
            <a:pPr algn="ctr">
              <a:defRPr sz="1125" b="0">
                <a:solidFill>
                  <a:srgbClr val="5A6069"/>
                </a:solidFill>
              </a:defRPr>
            </a:pPr>
            <a:r>
              <a:rPr sz="1125" b="0">
                <a:solidFill>
                  <a:srgbClr val="5A6069"/>
                </a:solidFill>
              </a:rPr>
              <a:t>+ schema branch</a:t>
            </a:r>
          </a:p>
        </p:txBody>
      </p:sp>
      <p:sp>
        <p:nvSpPr>
          <p:cNvPr id="41" name="routing-grounded">
            <a:extLst xmlns:a="http://schemas.openxmlformats.org/drawingml/2006/main">
              <a:ext uri="{FF2B5EF4-FFF2-40B4-BE49-F238E27FC236}">
                <a16:creationId xmlns:a16="http://schemas.microsoft.com/office/drawing/2014/main" id="{F51E3C31-F73E-4DC4-896F-6E030134D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4419600"/>
            <a:ext cx="1562100" cy="1104900"/>
          </a:xfrm>
          <a:prstGeom xmlns:a="http://schemas.openxmlformats.org/drawingml/2006/main" prst="roundRect">
            <a:avLst>
              <a:gd name="adj" fmla="val 8621"/>
            </a:avLst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4E6B7C9-66AE-4174-9E9B-78830E0BE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533900"/>
            <a:ext cx="1352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00000"/>
                </a:solidFill>
              </a:defRPr>
            </a:pPr>
            <a:r>
              <a:rPr sz="1350" b="1">
                <a:solidFill>
                  <a:srgbClr val="000000"/>
                </a:solidFill>
              </a:rPr>
              <a:t>Groundedness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31EB0E70-5C77-408B-AC4A-5900257C0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4895850"/>
            <a:ext cx="1333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A6069"/>
                </a:solidFill>
              </a:defRPr>
            </a:pPr>
            <a:r>
              <a:rPr sz="1125" b="0">
                <a:solidFill>
                  <a:srgbClr val="5A6069"/>
                </a:solidFill>
              </a:rPr>
              <a:t>candidate +</a:t>
            </a:r>
          </a:p>
          <a:p xmlns:a="http://schemas.openxmlformats.org/drawingml/2006/main">
            <a:pPr algn="ctr">
              <a:defRPr sz="1125" b="0">
                <a:solidFill>
                  <a:srgbClr val="5A6069"/>
                </a:solidFill>
              </a:defRPr>
            </a:pPr>
            <a:r>
              <a:rPr sz="1125" b="0">
                <a:solidFill>
                  <a:srgbClr val="5A6069"/>
                </a:solidFill>
              </a:rPr>
              <a:t>full originals</a:t>
            </a:r>
          </a:p>
        </p:txBody>
      </p:sp>
      <p:sp>
        <p:nvSpPr>
          <p:cNvPr id="44" name="routing-answerability">
            <a:extLst xmlns:a="http://schemas.openxmlformats.org/drawingml/2006/main">
              <a:ext uri="{FF2B5EF4-FFF2-40B4-BE49-F238E27FC236}">
                <a16:creationId xmlns:a16="http://schemas.microsoft.com/office/drawing/2014/main" id="{1EA493CD-2964-4D9C-8600-2B82FF7D1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4419600"/>
            <a:ext cx="1562100" cy="1104900"/>
          </a:xfrm>
          <a:prstGeom xmlns:a="http://schemas.openxmlformats.org/drawingml/2006/main" prst="roundRect">
            <a:avLst>
              <a:gd name="adj" fmla="val 8621"/>
            </a:avLst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D00ED1B8-DE36-4796-9D09-6FC669B2D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3175" y="4533900"/>
            <a:ext cx="1352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00000"/>
                </a:solidFill>
              </a:defRPr>
            </a:pPr>
            <a:r>
              <a:rPr sz="1350" b="1">
                <a:solidFill>
                  <a:srgbClr val="000000"/>
                </a:solidFill>
              </a:rPr>
              <a:t>Answerability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100332AF-BFAA-484C-96DA-11680266A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3175" y="4895850"/>
            <a:ext cx="1352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A6069"/>
                </a:solidFill>
              </a:defRPr>
            </a:pPr>
            <a:r>
              <a:rPr sz="1125" b="0">
                <a:solidFill>
                  <a:srgbClr val="5A6069"/>
                </a:solidFill>
              </a:rPr>
              <a:t>conditions +</a:t>
            </a:r>
          </a:p>
          <a:p xmlns:a="http://schemas.openxmlformats.org/drawingml/2006/main">
            <a:pPr algn="ctr">
              <a:defRPr sz="1125" b="0">
                <a:solidFill>
                  <a:srgbClr val="5A6069"/>
                </a:solidFill>
              </a:defRPr>
            </a:pPr>
            <a:r>
              <a:rPr sz="1125" b="0">
                <a:solidFill>
                  <a:srgbClr val="5A6069"/>
                </a:solidFill>
              </a:rPr>
              <a:t>full originals</a:t>
            </a:r>
          </a:p>
        </p:txBody>
      </p:sp>
      <p:cxnSp>
        <p:nvCxnSpPr>
          <p:cNvPr id="106" name=""/>
          <p:cNvCxnSpPr>
            <a:stCxn xmlns:a="http://schemas.openxmlformats.org/drawingml/2006/main" id="29" idx="3"/>
            <a:endCxn xmlns:a="http://schemas.openxmlformats.org/drawingml/2006/main" id="33" idx="1"/>
          </p:cNvCxnSpPr>
          <p:nvPr/>
        </p:nvCxnSpPr>
        <p:spPr>
          <a:xfrm xmlns:a="http://schemas.openxmlformats.org/drawingml/2006/main" flipV="1">
            <a:off x="5924550" y="2276475"/>
            <a:ext cx="800100" cy="139065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8575">
            <a:solidFill>
              <a:srgbClr val="3D8DFF"/>
            </a:solidFill>
            <a:prstDash val="solid"/>
            <a:tailEnd type="triangle" w="sm" len="sm"/>
          </a:ln>
        </p:spPr>
      </p:cxnSp>
      <p:cxnSp>
        <p:nvCxnSpPr>
          <p:cNvPr id="107" name=""/>
          <p:cNvCxnSpPr>
            <a:stCxn xmlns:a="http://schemas.openxmlformats.org/drawingml/2006/main" id="33" idx="2"/>
            <a:endCxn xmlns:a="http://schemas.openxmlformats.org/drawingml/2006/main" id="36" idx="0"/>
          </p:cNvCxnSpPr>
          <p:nvPr/>
        </p:nvCxnSpPr>
        <p:spPr>
          <a:xfrm xmlns:a="http://schemas.openxmlformats.org/drawingml/2006/main">
            <a:off x="9105900" y="3086100"/>
            <a:ext cx="9525" cy="1905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8DFF"/>
            </a:solidFill>
            <a:prstDash val="solid"/>
            <a:tailEnd type="triangle" w="sm" len="sm"/>
          </a:ln>
        </p:spPr>
      </p:cxnSp>
      <p:cxnSp>
        <p:nvCxnSpPr>
          <p:cNvPr id="108" name=""/>
          <p:cNvCxnSpPr>
            <a:stCxn xmlns:a="http://schemas.openxmlformats.org/drawingml/2006/main" id="36" idx="2"/>
            <a:endCxn xmlns:a="http://schemas.openxmlformats.org/drawingml/2006/main" id="38" idx="0"/>
          </p:cNvCxnSpPr>
          <p:nvPr/>
        </p:nvCxnSpPr>
        <p:spPr>
          <a:xfrm xmlns:a="http://schemas.openxmlformats.org/drawingml/2006/main" flipH="1">
            <a:off x="7353300" y="3829050"/>
            <a:ext cx="1762125" cy="59055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000000"/>
            </a:solidFill>
            <a:prstDash val="solid"/>
            <a:tailEnd type="triangle" w="sm" len="sm"/>
          </a:ln>
        </p:spPr>
      </p:cxnSp>
      <p:cxnSp>
        <p:nvCxnSpPr>
          <p:cNvPr id="109" name=""/>
          <p:cNvCxnSpPr>
            <a:stCxn xmlns:a="http://schemas.openxmlformats.org/drawingml/2006/main" id="36" idx="2"/>
            <a:endCxn xmlns:a="http://schemas.openxmlformats.org/drawingml/2006/main" id="41" idx="0"/>
          </p:cNvCxnSpPr>
          <p:nvPr/>
        </p:nvCxnSpPr>
        <p:spPr>
          <a:xfrm xmlns:a="http://schemas.openxmlformats.org/drawingml/2006/main" flipH="1">
            <a:off x="9096375" y="3829050"/>
            <a:ext cx="19050" cy="5905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0000"/>
            </a:solidFill>
            <a:prstDash val="solid"/>
            <a:tailEnd type="triangle" w="sm" len="sm"/>
          </a:ln>
        </p:spPr>
      </p:cxnSp>
      <p:cxnSp>
        <p:nvCxnSpPr>
          <p:cNvPr id="110" name=""/>
          <p:cNvCxnSpPr>
            <a:stCxn xmlns:a="http://schemas.openxmlformats.org/drawingml/2006/main" id="36" idx="2"/>
            <a:endCxn xmlns:a="http://schemas.openxmlformats.org/drawingml/2006/main" id="44" idx="0"/>
          </p:cNvCxnSpPr>
          <p:nvPr/>
        </p:nvCxnSpPr>
        <p:spPr>
          <a:xfrm xmlns:a="http://schemas.openxmlformats.org/drawingml/2006/main">
            <a:off x="9115425" y="3829050"/>
            <a:ext cx="1724025" cy="59055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000000"/>
            </a:solidFill>
            <a:prstDash val="solid"/>
            <a:tailEnd type="triangle" w="sm" len="sm"/>
          </a:ln>
        </p:spPr>
      </p:cxnSp>
      <p:cxnSp>
        <p:nvCxnSpPr>
          <p:cNvPr id="111" name=""/>
          <p:cNvCxnSpPr>
            <a:stCxn xmlns:a="http://schemas.openxmlformats.org/drawingml/2006/main" id="29" idx="2"/>
            <a:endCxn xmlns:a="http://schemas.openxmlformats.org/drawingml/2006/main" id="41" idx="1"/>
          </p:cNvCxnSpPr>
          <p:nvPr/>
        </p:nvCxnSpPr>
        <p:spPr>
          <a:xfrm xmlns:a="http://schemas.openxmlformats.org/drawingml/2006/main" flipV="1">
            <a:off x="4638675" y="4972050"/>
            <a:ext cx="3676650" cy="266700"/>
          </a:xfrm>
          <a:prstGeom xmlns:a="http://schemas.openxmlformats.org/drawingml/2006/main" prst="bentConnector3">
            <a:avLst>
              <a:gd name="adj1" fmla="val 0"/>
            </a:avLst>
          </a:prstGeom>
          <a:ln xmlns:a="http://schemas.openxmlformats.org/drawingml/2006/main" w="19050">
            <a:solidFill>
              <a:srgbClr val="000000"/>
            </a:solidFill>
            <a:prstDash val="dash"/>
            <a:tailEnd type="triangle" w="sm" len="sm"/>
          </a:ln>
        </p:spPr>
      </p:cxnSp>
      <p:cxnSp>
        <p:nvCxnSpPr>
          <p:cNvPr id="112" name=""/>
          <p:cNvCxnSpPr>
            <a:stCxn xmlns:a="http://schemas.openxmlformats.org/drawingml/2006/main" id="29" idx="2"/>
            <a:endCxn xmlns:a="http://schemas.openxmlformats.org/drawingml/2006/main" id="44" idx="1"/>
          </p:cNvCxnSpPr>
          <p:nvPr/>
        </p:nvCxnSpPr>
        <p:spPr>
          <a:xfrm xmlns:a="http://schemas.openxmlformats.org/drawingml/2006/main" flipV="1">
            <a:off x="4638675" y="4972050"/>
            <a:ext cx="5419725" cy="266700"/>
          </a:xfrm>
          <a:prstGeom xmlns:a="http://schemas.openxmlformats.org/drawingml/2006/main" prst="bentConnector3">
            <a:avLst>
              <a:gd name="adj1" fmla="val 0"/>
            </a:avLst>
          </a:prstGeom>
          <a:ln xmlns:a="http://schemas.openxmlformats.org/drawingml/2006/main" w="19050">
            <a:solidFill>
              <a:srgbClr val="000000"/>
            </a:solidFill>
            <a:prstDash val="dash"/>
            <a:tailEnd type="triangle" w="sm" len="sm"/>
          </a:ln>
        </p:spPr>
      </p:cxn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B5627541-A75E-47F2-8957-6D91CCD8B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1885950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3D8DFF"/>
                </a:solidFill>
              </a:defRPr>
            </a:pPr>
            <a:r>
              <a:rPr sz="975" b="1">
                <a:solidFill>
                  <a:srgbClr val="3D8DFF"/>
                </a:solidFill>
              </a:rPr>
              <a:t>generator route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2CDA01F6-8E36-4A3E-9297-61B2D72F6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55245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5A6069"/>
                </a:solidFill>
              </a:defRPr>
            </a:pPr>
            <a:r>
              <a:rPr sz="975" b="1">
                <a:solidFill>
                  <a:srgbClr val="5A6069"/>
                </a:solidFill>
              </a:rPr>
              <a:t>full-evidence routes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E821E8E5-17FD-49A2-B527-12A4D314A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5753100"/>
            <a:ext cx="5029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A6069"/>
                </a:solidFill>
              </a:defRPr>
            </a:pPr>
            <a:r>
              <a:rPr sz="1200" b="0">
                <a:solidFill>
                  <a:srgbClr val="5A6069"/>
                </a:solidFill>
              </a:rPr>
              <a:t>Three branches are launched together; the shared model instance is reused, with a fresh KV cache for each call.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F3056C08-7EEC-428F-8DB8-FF6AA77C2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15075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ADF"/>
            </a:solidFill>
            <a:prstDash val="solid"/>
          </a:ln>
        </p:spPr>
      </p:sp>
      <p:sp>
        <p:nvSpPr>
          <p:cNvPr id="58" name="source-footer-4">
            <a:extLst xmlns:a="http://schemas.openxmlformats.org/drawingml/2006/main">
              <a:ext uri="{FF2B5EF4-FFF2-40B4-BE49-F238E27FC236}">
                <a16:creationId xmlns:a16="http://schemas.microsoft.com/office/drawing/2014/main" id="{8E195D3E-0C0B-4E93-B0C7-ED85DEF64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0"/>
            <a:ext cx="10239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A6069"/>
                </a:solidFill>
              </a:defRPr>
            </a:pPr>
            <a:r>
              <a:rPr sz="825" b="0">
                <a:solidFill>
                  <a:srgbClr val="5A6069"/>
                </a:solidFill>
              </a:rPr>
              <a:t>Implementation: video_qa_loop.py • prompts.py • hpc/run_clip_pruned_sampling_neutral_pf_50_k40_independent_judges.sbatch</a:t>
            </a:r>
          </a:p>
        </p:txBody>
      </p:sp>
      <p:sp>
        <p:nvSpPr>
          <p:cNvPr id="59" name="slide-number-4">
            <a:extLst xmlns:a="http://schemas.openxmlformats.org/drawingml/2006/main">
              <a:ext uri="{FF2B5EF4-FFF2-40B4-BE49-F238E27FC236}">
                <a16:creationId xmlns:a16="http://schemas.microsoft.com/office/drawing/2014/main" id="{574215A6-E343-43FD-A890-B6994A2B3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62700"/>
            <a:ext cx="647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000000"/>
                </a:solidFill>
              </a:defRPr>
            </a:pPr>
            <a:r>
              <a:rPr sz="975" b="0">
                <a:solidFill>
                  <a:srgbClr val="000000"/>
                </a:solidFill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20782318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B98CCF7-CC82-4C09-94E0-E8F249B48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11391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925" b="0">
                <a:solidFill>
                  <a:srgbClr val="000000"/>
                </a:solidFill>
              </a:defRPr>
            </a:pPr>
            <a:r>
              <a:rPr sz="2925" b="0">
                <a:solidFill>
                  <a:srgbClr val="000000"/>
                </a:solidFill>
              </a:rPr>
              <a:t>One resident model serves six calls per valid attempt</a:t>
            </a:r>
          </a:p>
        </p:txBody>
      </p:sp>
      <p:sp>
        <p:nvSpPr>
          <p:cNvPr id="2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BA165803-D723-41A1-8DD5-9AE44A15C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895350"/>
            <a:ext cx="1104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A6069"/>
                </a:solidFill>
              </a:defRPr>
            </a:pPr>
            <a:r>
              <a:rPr sz="1350" b="0">
                <a:solidFill>
                  <a:srgbClr val="5A6069"/>
                </a:solidFill>
              </a:rPr>
              <a:t>The current neutral job loads one Qwen3.6-27B copy on one H100; review concurrency shares those weights rather than loading judge replicas.</a:t>
            </a:r>
          </a:p>
        </p:txBody>
      </p:sp>
      <p:sp>
        <p:nvSpPr>
          <p:cNvPr id="3" name="gpu-cpu-stage">
            <a:extLst xmlns:a="http://schemas.openxmlformats.org/drawingml/2006/main">
              <a:ext uri="{FF2B5EF4-FFF2-40B4-BE49-F238E27FC236}">
                <a16:creationId xmlns:a16="http://schemas.microsoft.com/office/drawing/2014/main" id="{48F1995E-709F-469F-ABFD-1FE4E57F5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581150"/>
            <a:ext cx="3581400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DC53865-FD09-4D07-9996-94D714468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5260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00000"/>
                </a:solidFill>
              </a:defRPr>
            </a:pPr>
            <a:r>
              <a:rPr sz="1500" b="1">
                <a:solidFill>
                  <a:srgbClr val="000000"/>
                </a:solidFill>
              </a:rPr>
              <a:t>CPU / HOST PREP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A9C2DB-76CD-46F9-8298-A3F200307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57400"/>
            <a:ext cx="314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A6069"/>
                </a:solidFill>
              </a:defRPr>
            </a:pPr>
            <a:r>
              <a:rPr sz="1200" b="0">
                <a:solidFill>
                  <a:srgbClr val="5A6069"/>
                </a:solidFill>
              </a:rPr>
              <a:t>Read videos • sample at 1 fps • build chat template • processor encodes multimodal tensors</a:t>
            </a:r>
          </a:p>
        </p:txBody>
      </p:sp>
      <p:sp>
        <p:nvSpPr>
          <p:cNvPr id="6" name="gpu-transfer-arrow">
            <a:extLst xmlns:a="http://schemas.openxmlformats.org/drawingml/2006/main">
              <a:ext uri="{FF2B5EF4-FFF2-40B4-BE49-F238E27FC236}">
                <a16:creationId xmlns:a16="http://schemas.microsoft.com/office/drawing/2014/main" id="{4F487E05-9CC2-41B8-B594-18311F0C8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2762250"/>
            <a:ext cx="533400" cy="55245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7" name="gpu-h100">
            <a:extLst xmlns:a="http://schemas.openxmlformats.org/drawingml/2006/main">
              <a:ext uri="{FF2B5EF4-FFF2-40B4-BE49-F238E27FC236}">
                <a16:creationId xmlns:a16="http://schemas.microsoft.com/office/drawing/2014/main" id="{3EDE7BA1-F805-4FF4-8725-3F202A969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3333750"/>
            <a:ext cx="3581400" cy="25146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001D790-4737-4979-92CB-0E33643E7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05200"/>
            <a:ext cx="3124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1 × H100 GPU</a:t>
            </a:r>
          </a:p>
        </p:txBody>
      </p:sp>
      <p:sp>
        <p:nvSpPr>
          <p:cNvPr id="9" name="gpu-weights">
            <a:extLst xmlns:a="http://schemas.openxmlformats.org/drawingml/2006/main">
              <a:ext uri="{FF2B5EF4-FFF2-40B4-BE49-F238E27FC236}">
                <a16:creationId xmlns:a16="http://schemas.microsoft.com/office/drawing/2014/main" id="{2185401A-EB89-4A1F-A9EF-8ED1FD151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43350"/>
            <a:ext cx="2971800" cy="781050"/>
          </a:xfrm>
          <a:prstGeom xmlns:a="http://schemas.openxmlformats.org/drawingml/2006/main" prst="roundRect">
            <a:avLst>
              <a:gd name="adj" fmla="val 12195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E117F7C-12CE-44F3-8AFF-38308ABBC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76700"/>
            <a:ext cx="2628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Qwen3.6-27B weights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3669F2F-088E-4062-8A92-43629303C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343400"/>
            <a:ext cx="266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FFFFFF"/>
                </a:solidFill>
              </a:defRPr>
            </a:pPr>
            <a:r>
              <a:rPr sz="1050" b="0">
                <a:solidFill>
                  <a:srgbClr val="FFFFFF"/>
                </a:solidFill>
              </a:rPr>
              <a:t>bfloat16 • ≈50 GiB raw • eval()</a:t>
            </a:r>
          </a:p>
          <a:p xmlns:a="http://schemas.openxmlformats.org/drawingml/2006/main">
            <a:pPr algn="ctr">
              <a:defRPr sz="1050" b="0">
                <a:solidFill>
                  <a:srgbClr val="FFFFFF"/>
                </a:solidFill>
              </a:defRPr>
            </a:pPr>
            <a:r>
              <a:rPr sz="1050" b="0">
                <a:solidFill>
                  <a:srgbClr val="FFFFFF"/>
                </a:solidFill>
              </a:rPr>
              <a:t>loaded once • shared by every call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6DD4F68-5742-4ACD-B4EA-2FDB2B2F8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914900"/>
            <a:ext cx="2971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C7CBD1"/>
                </a:solidFill>
              </a:defRPr>
            </a:pPr>
            <a:r>
              <a:rPr sz="975" b="1">
                <a:solidFill>
                  <a:srgbClr val="C7CBD1"/>
                </a:solidFill>
              </a:rPr>
              <a:t>PER-CALL WORKSPACE</a:t>
            </a:r>
          </a:p>
        </p:txBody>
      </p:sp>
      <p:sp>
        <p:nvSpPr>
          <p:cNvPr id="13" name="gpu-inputs">
            <a:extLst xmlns:a="http://schemas.openxmlformats.org/drawingml/2006/main">
              <a:ext uri="{FF2B5EF4-FFF2-40B4-BE49-F238E27FC236}">
                <a16:creationId xmlns:a16="http://schemas.microsoft.com/office/drawing/2014/main" id="{3F176589-1FA3-4480-B358-C21E55F4B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219700"/>
            <a:ext cx="952500" cy="40005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2B2D31"/>
          </a:solidFill>
          <a:ln xmlns:a="http://schemas.openxmlformats.org/drawingml/2006/main" w="9525">
            <a:solidFill>
              <a:srgbClr val="72777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A61233E-9E52-4CB0-BEC9-0EF87EA36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286375"/>
            <a:ext cx="838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FFFFFF"/>
                </a:solidFill>
              </a:defRPr>
            </a:pPr>
            <a:r>
              <a:rPr sz="1050" b="0">
                <a:solidFill>
                  <a:srgbClr val="FFFFFF"/>
                </a:solidFill>
              </a:rPr>
              <a:t>inputs</a:t>
            </a:r>
          </a:p>
        </p:txBody>
      </p:sp>
      <p:sp>
        <p:nvSpPr>
          <p:cNvPr id="15" name="gpu-activations">
            <a:extLst xmlns:a="http://schemas.openxmlformats.org/drawingml/2006/main">
              <a:ext uri="{FF2B5EF4-FFF2-40B4-BE49-F238E27FC236}">
                <a16:creationId xmlns:a16="http://schemas.microsoft.com/office/drawing/2014/main" id="{62FAFF65-1C0F-4435-970F-D75FD3637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5219700"/>
            <a:ext cx="952500" cy="40005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2B2D31"/>
          </a:solidFill>
          <a:ln xmlns:a="http://schemas.openxmlformats.org/drawingml/2006/main" w="9525">
            <a:solidFill>
              <a:srgbClr val="72777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7ADD85F-67B3-4F52-8869-A46D80F1D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286375"/>
            <a:ext cx="838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FFFFFF"/>
                </a:solidFill>
              </a:defRPr>
            </a:pPr>
            <a:r>
              <a:rPr sz="1050" b="0">
                <a:solidFill>
                  <a:srgbClr val="FFFFFF"/>
                </a:solidFill>
              </a:rPr>
              <a:t>activations</a:t>
            </a:r>
          </a:p>
        </p:txBody>
      </p:sp>
      <p:sp>
        <p:nvSpPr>
          <p:cNvPr id="17" name="gpu-fresh-KV-cache">
            <a:extLst xmlns:a="http://schemas.openxmlformats.org/drawingml/2006/main">
              <a:ext uri="{FF2B5EF4-FFF2-40B4-BE49-F238E27FC236}">
                <a16:creationId xmlns:a16="http://schemas.microsoft.com/office/drawing/2014/main" id="{B675D7F2-3803-40DA-9752-CE85EC5B6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5219700"/>
            <a:ext cx="952500" cy="40005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2B2D31"/>
          </a:solidFill>
          <a:ln xmlns:a="http://schemas.openxmlformats.org/drawingml/2006/main" w="9525">
            <a:solidFill>
              <a:srgbClr val="72777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C0E63B4-1899-40FE-A082-41BADA778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5286375"/>
            <a:ext cx="838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FFFFFF"/>
                </a:solidFill>
              </a:defRPr>
            </a:pPr>
            <a:r>
              <a:rPr sz="1050" b="0">
                <a:solidFill>
                  <a:srgbClr val="FFFFFF"/>
                </a:solidFill>
              </a:rPr>
              <a:t>fresh KV cache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F2D7606-9E8E-4EFC-9C1E-980EC840A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905500"/>
            <a:ext cx="3276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A6069"/>
                </a:solidFill>
              </a:defRPr>
            </a:pPr>
            <a:r>
              <a:rPr sz="975" b="0">
                <a:solidFill>
                  <a:srgbClr val="5A6069"/>
                </a:solidFill>
              </a:rPr>
              <a:t>No KV cache is shared across calls; CUDA may keep freed blocks reserved for reuse.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455D238-C816-4D42-95C2-65D0B7161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139065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</a:defRPr>
            </a:pPr>
            <a:r>
              <a:rPr sz="1050" b="1">
                <a:solidFill>
                  <a:srgbClr val="3D8DFF"/>
                </a:solidFill>
              </a:rPr>
              <a:t>CALL 1 — BEFORE REVIEW</a:t>
            </a:r>
          </a:p>
        </p:txBody>
      </p:sp>
      <p:sp>
        <p:nvSpPr>
          <p:cNvPr id="21" name="call-1-generator">
            <a:extLst xmlns:a="http://schemas.openxmlformats.org/drawingml/2006/main">
              <a:ext uri="{FF2B5EF4-FFF2-40B4-BE49-F238E27FC236}">
                <a16:creationId xmlns:a16="http://schemas.microsoft.com/office/drawing/2014/main" id="{000EA98C-3421-4940-BA98-6E78FB3D2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1695450"/>
            <a:ext cx="6667500" cy="628650"/>
          </a:xfrm>
          <a:prstGeom xmlns:a="http://schemas.openxmlformats.org/drawingml/2006/main" prst="roundRect">
            <a:avLst>
              <a:gd name="adj" fmla="val 15152"/>
            </a:avLst>
          </a:prstGeom>
          <a:solidFill xmlns:a="http://schemas.openxmlformats.org/drawingml/2006/main">
            <a:srgbClr val="DDF3FC"/>
          </a:solidFill>
          <a:ln xmlns:a="http://schemas.openxmlformats.org/drawingml/2006/main" w="19050">
            <a:solidFill>
              <a:srgbClr val="3D8DF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18FCFB4-EEE0-4DAF-8106-5B2EFFF25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1828800"/>
            <a:ext cx="6248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3D8DFF"/>
                </a:solidFill>
              </a:defRPr>
            </a:pPr>
            <a:r>
              <a:rPr sz="1425" b="1">
                <a:solidFill>
                  <a:srgbClr val="3D8DFF"/>
                </a:solidFill>
              </a:rPr>
              <a:t>1  GENERATOR  •  pruned A + pruned B  •  one baseline-neutral MCQ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F0430DB-5C25-453D-B984-1E5C6EE56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51460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A6069"/>
                </a:solidFill>
              </a:defRPr>
            </a:pPr>
            <a:r>
              <a:rPr sz="1050" b="1">
                <a:solidFill>
                  <a:srgbClr val="5A6069"/>
                </a:solidFill>
              </a:rPr>
              <a:t>CALLS 2–6 — REVIEW PHASE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8EB3A24-3E17-4853-8FFF-7D298825A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800350"/>
            <a:ext cx="6667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225E118-D5EB-48DC-AAE0-B6B11DC95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2724150"/>
            <a:ext cx="4686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00000"/>
                </a:solidFill>
              </a:defRPr>
            </a:pPr>
            <a:r>
              <a:rPr sz="1050" b="1">
                <a:solidFill>
                  <a:srgbClr val="000000"/>
                </a:solidFill>
              </a:rPr>
              <a:t>ThreadPoolExecutor(max_workers=3) starts these lanes together</a:t>
            </a:r>
          </a:p>
        </p:txBody>
      </p:sp>
      <p:sp>
        <p:nvSpPr>
          <p:cNvPr id="26" name="worker-a">
            <a:extLst xmlns:a="http://schemas.openxmlformats.org/drawingml/2006/main">
              <a:ext uri="{FF2B5EF4-FFF2-40B4-BE49-F238E27FC236}">
                <a16:creationId xmlns:a16="http://schemas.microsoft.com/office/drawing/2014/main" id="{E4F414E5-9CB0-4CE8-93E7-479895D2D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067050"/>
            <a:ext cx="2019300" cy="1657350"/>
          </a:xfrm>
          <a:prstGeom xmlns:a="http://schemas.openxmlformats.org/drawingml/2006/main" prst="roundRect">
            <a:avLst>
              <a:gd name="adj" fmla="val 5747"/>
            </a:avLst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080EEF6-2F7B-4D25-AB34-AA9DC6CB0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200400"/>
            <a:ext cx="1676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A6069"/>
                </a:solidFill>
              </a:defRPr>
            </a:pPr>
            <a:r>
              <a:rPr sz="1050" b="1">
                <a:solidFill>
                  <a:srgbClr val="5A6069"/>
                </a:solidFill>
              </a:rPr>
              <a:t>WORKER A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048E0D9-4EA0-42AA-867D-11C94571A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524250"/>
            <a:ext cx="495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3D8DFF"/>
                </a:solidFill>
              </a:defRPr>
            </a:pPr>
            <a:r>
              <a:rPr sz="2325" b="1">
                <a:solidFill>
                  <a:srgbClr val="3D8DFF"/>
                </a:solidFill>
              </a:rPr>
              <a:t>2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6177054-47AF-4010-8639-3F2AB6BF4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057650"/>
            <a:ext cx="1638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00000"/>
                </a:solidFill>
              </a:defRPr>
            </a:pPr>
            <a:r>
              <a:rPr sz="1275" b="1">
                <a:solidFill>
                  <a:srgbClr val="000000"/>
                </a:solidFill>
              </a:rPr>
              <a:t>QA formality</a:t>
            </a:r>
          </a:p>
          <a:p xmlns:a="http://schemas.openxmlformats.org/drawingml/2006/main">
            <a:pPr algn="ctr">
              <a:defRPr sz="1275" b="1">
                <a:solidFill>
                  <a:srgbClr val="000000"/>
                </a:solidFill>
              </a:defRPr>
            </a:pPr>
            <a:r>
              <a:rPr sz="1275" b="1">
                <a:solidFill>
                  <a:srgbClr val="000000"/>
                </a:solidFill>
              </a:rPr>
              <a:t>text only</a:t>
            </a:r>
          </a:p>
        </p:txBody>
      </p:sp>
      <p:sp>
        <p:nvSpPr>
          <p:cNvPr id="30" name="worker-b">
            <a:extLst xmlns:a="http://schemas.openxmlformats.org/drawingml/2006/main">
              <a:ext uri="{FF2B5EF4-FFF2-40B4-BE49-F238E27FC236}">
                <a16:creationId xmlns:a16="http://schemas.microsoft.com/office/drawing/2014/main" id="{AC8E4329-99A7-4FC4-B4C9-0EFD2CC66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067050"/>
            <a:ext cx="2019300" cy="1657350"/>
          </a:xfrm>
          <a:prstGeom xmlns:a="http://schemas.openxmlformats.org/drawingml/2006/main" prst="roundRect">
            <a:avLst>
              <a:gd name="adj" fmla="val 5747"/>
            </a:avLst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0AE9A56-C316-4547-88A3-83777124B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200400"/>
            <a:ext cx="1676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A6069"/>
                </a:solidFill>
              </a:defRPr>
            </a:pPr>
            <a:r>
              <a:rPr sz="1050" b="1">
                <a:solidFill>
                  <a:srgbClr val="5A6069"/>
                </a:solidFill>
              </a:rPr>
              <a:t>WORKER B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BE8264D-AFE3-4960-B62A-0249B5E1D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3524250"/>
            <a:ext cx="495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3D8DFF"/>
                </a:solidFill>
              </a:defRPr>
            </a:pPr>
            <a:r>
              <a:rPr sz="2325" b="1">
                <a:solidFill>
                  <a:srgbClr val="3D8DFF"/>
                </a:solidFill>
              </a:rPr>
              <a:t>3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79CBDCB-EA73-449E-9AAC-0191CF0EA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4057650"/>
            <a:ext cx="1638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00000"/>
                </a:solidFill>
              </a:defRPr>
            </a:pPr>
            <a:r>
              <a:rPr sz="1275" b="1">
                <a:solidFill>
                  <a:srgbClr val="000000"/>
                </a:solidFill>
              </a:rPr>
              <a:t>Groundedness</a:t>
            </a:r>
          </a:p>
          <a:p xmlns:a="http://schemas.openxmlformats.org/drawingml/2006/main">
            <a:pPr algn="ctr">
              <a:defRPr sz="1275" b="1">
                <a:solidFill>
                  <a:srgbClr val="000000"/>
                </a:solidFill>
              </a:defRPr>
            </a:pPr>
            <a:r>
              <a:rPr sz="1275" b="1">
                <a:solidFill>
                  <a:srgbClr val="000000"/>
                </a:solidFill>
              </a:rPr>
              <a:t>full A + full B</a:t>
            </a:r>
          </a:p>
        </p:txBody>
      </p:sp>
      <p:sp>
        <p:nvSpPr>
          <p:cNvPr id="34" name="worker-c">
            <a:extLst xmlns:a="http://schemas.openxmlformats.org/drawingml/2006/main">
              <a:ext uri="{FF2B5EF4-FFF2-40B4-BE49-F238E27FC236}">
                <a16:creationId xmlns:a16="http://schemas.microsoft.com/office/drawing/2014/main" id="{4F4E413C-514C-495F-9B99-A93CF5728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067050"/>
            <a:ext cx="2209800" cy="1657350"/>
          </a:xfrm>
          <a:prstGeom xmlns:a="http://schemas.openxmlformats.org/drawingml/2006/main" prst="roundRect">
            <a:avLst>
              <a:gd name="adj" fmla="val 5747"/>
            </a:avLst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592BA1C-3160-4C96-AC2D-ECCC9AAE3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3181350"/>
            <a:ext cx="1943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A6069"/>
                </a:solidFill>
              </a:defRPr>
            </a:pPr>
            <a:r>
              <a:rPr sz="1050" b="1">
                <a:solidFill>
                  <a:srgbClr val="5A6069"/>
                </a:solidFill>
              </a:rPr>
              <a:t>WORKER C — SEQUENTIAL</a:t>
            </a:r>
          </a:p>
        </p:txBody>
      </p:sp>
      <p:sp>
        <p:nvSpPr>
          <p:cNvPr id="36" name="answer-call-4">
            <a:extLst xmlns:a="http://schemas.openxmlformats.org/drawingml/2006/main">
              <a:ext uri="{FF2B5EF4-FFF2-40B4-BE49-F238E27FC236}">
                <a16:creationId xmlns:a16="http://schemas.microsoft.com/office/drawing/2014/main" id="{C922423D-7FBD-480A-A31C-E11374F82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3524250"/>
            <a:ext cx="182880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A9D6AD9-656E-48C2-9ADB-56FF749CA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3562350"/>
            <a:ext cx="266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3D8DFF"/>
                </a:solidFill>
              </a:defRPr>
            </a:pPr>
            <a:r>
              <a:rPr sz="1125" b="1">
                <a:solidFill>
                  <a:srgbClr val="3D8DFF"/>
                </a:solidFill>
              </a:rPr>
              <a:t>4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9EF81A5-0D64-4605-A7C5-C979109E5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3562350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000000"/>
                </a:solidFill>
              </a:defRPr>
            </a:pPr>
            <a:r>
              <a:rPr sz="1125" b="0">
                <a:solidFill>
                  <a:srgbClr val="000000"/>
                </a:solidFill>
              </a:rPr>
              <a:t>asker only</a:t>
            </a:r>
          </a:p>
        </p:txBody>
      </p:sp>
      <p:sp>
        <p:nvSpPr>
          <p:cNvPr id="39" name="answer-call-5">
            <a:extLst xmlns:a="http://schemas.openxmlformats.org/drawingml/2006/main">
              <a:ext uri="{FF2B5EF4-FFF2-40B4-BE49-F238E27FC236}">
                <a16:creationId xmlns:a16="http://schemas.microsoft.com/office/drawing/2014/main" id="{24ADF4CB-53DE-4235-AC64-B9DDAFBFB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3886200"/>
            <a:ext cx="182880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FC67E36-E50D-4FAE-8572-5DBAC9E49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3924300"/>
            <a:ext cx="266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3D8DFF"/>
                </a:solidFill>
              </a:defRPr>
            </a:pPr>
            <a:r>
              <a:rPr sz="1125" b="1">
                <a:solidFill>
                  <a:srgbClr val="3D8DFF"/>
                </a:solidFill>
              </a:rPr>
              <a:t>5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C3F52B8-6CA1-4CB5-91B1-6CCB325F5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3924300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000000"/>
                </a:solidFill>
              </a:defRPr>
            </a:pPr>
            <a:r>
              <a:rPr sz="1125" b="0">
                <a:solidFill>
                  <a:srgbClr val="000000"/>
                </a:solidFill>
              </a:rPr>
              <a:t>provider only</a:t>
            </a:r>
          </a:p>
        </p:txBody>
      </p:sp>
      <p:sp>
        <p:nvSpPr>
          <p:cNvPr id="42" name="answer-call-6">
            <a:extLst xmlns:a="http://schemas.openxmlformats.org/drawingml/2006/main">
              <a:ext uri="{FF2B5EF4-FFF2-40B4-BE49-F238E27FC236}">
                <a16:creationId xmlns:a16="http://schemas.microsoft.com/office/drawing/2014/main" id="{5238F2B4-8194-471B-A512-BD5515FFE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4248150"/>
            <a:ext cx="182880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DDF3FC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7080416-910F-4550-9C51-9F818C580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4286250"/>
            <a:ext cx="266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3D8DFF"/>
                </a:solidFill>
              </a:defRPr>
            </a:pPr>
            <a:r>
              <a:rPr sz="1125" b="1">
                <a:solidFill>
                  <a:srgbClr val="3D8DFF"/>
                </a:solidFill>
              </a:rPr>
              <a:t>6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6B5D387A-D4AF-4932-B08A-2A772BF28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4286250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000000"/>
                </a:solidFill>
              </a:defRPr>
            </a:pPr>
            <a:r>
              <a:rPr sz="1125" b="0">
                <a:solidFill>
                  <a:srgbClr val="000000"/>
                </a:solidFill>
              </a:rPr>
              <a:t>combined A + B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E6543E55-7C93-4CA1-9CC1-BAC0FF65E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838700"/>
            <a:ext cx="647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A6069"/>
                </a:solidFill>
              </a:defRPr>
            </a:pPr>
            <a:r>
              <a:rPr sz="1200" b="0">
                <a:solidFill>
                  <a:srgbClr val="5A6069"/>
                </a:solidFill>
              </a:rPr>
              <a:t>Current transformers-local has no inference lock: calls 2, 3, and 4 can overlap on the same GPU. This is parallel work on shared weights—not three model copies.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B5D354FA-E596-494C-9EF3-DFE3A2F3B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5429250"/>
            <a:ext cx="800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3D8DFF"/>
                </a:solidFill>
              </a:defRPr>
            </a:pPr>
            <a:r>
              <a:rPr sz="2175" b="1">
                <a:solidFill>
                  <a:srgbClr val="3D8DFF"/>
                </a:solidFill>
              </a:rPr>
              <a:t>6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9EB25DA0-A35D-4FBC-BD80-5E2A893B2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5467350"/>
            <a:ext cx="1371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A6069"/>
                </a:solidFill>
              </a:defRPr>
            </a:pPr>
            <a:r>
              <a:rPr sz="1050" b="0">
                <a:solidFill>
                  <a:srgbClr val="5A6069"/>
                </a:solidFill>
              </a:rPr>
              <a:t>calls / valid attempt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0E3EAFC3-1FB8-41F1-AF09-42F5C8D01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5429250"/>
            <a:ext cx="800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3D8DFF"/>
                </a:solidFill>
              </a:defRPr>
            </a:pPr>
            <a:r>
              <a:rPr sz="2175" b="1">
                <a:solidFill>
                  <a:srgbClr val="3D8DFF"/>
                </a:solidFill>
              </a:rPr>
              <a:t>≤18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64E6E9E5-835C-416D-97AE-A5B7DF8C4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5467350"/>
            <a:ext cx="1371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A6069"/>
                </a:solidFill>
              </a:defRPr>
            </a:pPr>
            <a:r>
              <a:rPr sz="1050" b="0">
                <a:solidFill>
                  <a:srgbClr val="5A6069"/>
                </a:solidFill>
              </a:rPr>
              <a:t>calls / packet at 3 attempts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49F17ABF-3B0C-41D9-96BE-76CF10FFB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5429250"/>
            <a:ext cx="800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3D8DFF"/>
                </a:solidFill>
              </a:defRPr>
            </a:pPr>
            <a:r>
              <a:rPr sz="2175" b="1">
                <a:solidFill>
                  <a:srgbClr val="3D8DFF"/>
                </a:solidFill>
              </a:rPr>
              <a:t>300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3A6D8F98-3E2E-4FEF-BFC3-37B637B27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5467350"/>
            <a:ext cx="1371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A6069"/>
                </a:solidFill>
              </a:defRPr>
            </a:pPr>
            <a:r>
              <a:rPr sz="1050" b="0">
                <a:solidFill>
                  <a:srgbClr val="5A6069"/>
                </a:solidFill>
              </a:rPr>
              <a:t>calls for 50 first-pass accepts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9B16BB79-71BB-440C-A557-E196AFE6D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5905500"/>
            <a:ext cx="666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A6069"/>
                </a:solidFill>
              </a:defRPr>
            </a:pPr>
            <a:r>
              <a:rPr sz="975" b="0">
                <a:solidFill>
                  <a:srgbClr val="5A6069"/>
                </a:solidFill>
              </a:rPr>
              <a:t>A generator JSON parse failure stops after call 1. Rejected packets and retries make a 50-accept run exceed 300 calls. Choice-logit entropy and online 1–3 quality scores add no extra inference.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25354E3F-4412-4A0D-B9E9-429A231FC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15075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ADF"/>
            </a:solidFill>
            <a:prstDash val="solid"/>
          </a:ln>
        </p:spPr>
      </p:sp>
      <p:sp>
        <p:nvSpPr>
          <p:cNvPr id="54" name="source-footer-5">
            <a:extLst xmlns:a="http://schemas.openxmlformats.org/drawingml/2006/main">
              <a:ext uri="{FF2B5EF4-FFF2-40B4-BE49-F238E27FC236}">
                <a16:creationId xmlns:a16="http://schemas.microsoft.com/office/drawing/2014/main" id="{9913827E-6814-4B74-955E-AE6EBD31A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0"/>
            <a:ext cx="10239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A6069"/>
                </a:solidFill>
              </a:defRPr>
            </a:pPr>
            <a:r>
              <a:rPr sz="825" b="0">
                <a:solidFill>
                  <a:srgbClr val="5A6069"/>
                </a:solidFill>
              </a:rPr>
              <a:t>Implementation: qwen3vl_runner.py • video_qa_loop.py • current baseline-neutral launcher</a:t>
            </a:r>
          </a:p>
        </p:txBody>
      </p:sp>
      <p:sp>
        <p:nvSpPr>
          <p:cNvPr id="55" name="slide-number-5">
            <a:extLst xmlns:a="http://schemas.openxmlformats.org/drawingml/2006/main">
              <a:ext uri="{FF2B5EF4-FFF2-40B4-BE49-F238E27FC236}">
                <a16:creationId xmlns:a16="http://schemas.microsoft.com/office/drawing/2014/main" id="{CAA2DC0F-37D6-4059-809F-6F611185E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62700"/>
            <a:ext cx="647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000000"/>
                </a:solidFill>
              </a:defRPr>
            </a:pPr>
            <a:r>
              <a:rPr sz="975" b="0">
                <a:solidFill>
                  <a:srgbClr val="000000"/>
                </a:solidFill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166804685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6EC8163-95DD-4EE1-A906-A587B88D8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11391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925" b="0">
                <a:solidFill>
                  <a:srgbClr val="000000"/>
                </a:solidFill>
              </a:defRPr>
            </a:pPr>
            <a:r>
              <a:rPr sz="2925" b="0">
                <a:solidFill>
                  <a:srgbClr val="000000"/>
                </a:solidFill>
              </a:rPr>
              <a:t>Three judges run concurrently; one gate decides the attempt</a:t>
            </a:r>
          </a:p>
        </p:txBody>
      </p:sp>
      <p:sp>
        <p:nvSpPr>
          <p:cNvPr id="2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142292E5-207E-4102-9507-C6FF5C78C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895350"/>
            <a:ext cx="1104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A6069"/>
                </a:solidFill>
              </a:defRPr>
            </a:pPr>
            <a:r>
              <a:rPr sz="1350" b="0">
                <a:solidFill>
                  <a:srgbClr val="5A6069"/>
                </a:solidFill>
              </a:rPr>
              <a:t>Each branch has a different input contract, then merge_parallel_judges() creates the authoritative decision.</a:t>
            </a:r>
          </a:p>
        </p:txBody>
      </p:sp>
      <p:sp>
        <p:nvSpPr>
          <p:cNvPr id="3" name="judge-candidate">
            <a:extLst xmlns:a="http://schemas.openxmlformats.org/drawingml/2006/main">
              <a:ext uri="{FF2B5EF4-FFF2-40B4-BE49-F238E27FC236}">
                <a16:creationId xmlns:a16="http://schemas.microsoft.com/office/drawing/2014/main" id="{6A75B6B1-0E1C-4342-994D-42C8E8DB4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1295400"/>
            <a:ext cx="300990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DDF3FC"/>
          </a:solidFill>
          <a:ln xmlns:a="http://schemas.openxmlformats.org/drawingml/2006/main" w="19050">
            <a:solidFill>
              <a:srgbClr val="3D8DF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97CC5D7-9175-4655-896A-A49B5660D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42875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3D8DFF"/>
                </a:solidFill>
              </a:defRPr>
            </a:pPr>
            <a:r>
              <a:rPr sz="1500" b="1">
                <a:solidFill>
                  <a:srgbClr val="3D8DFF"/>
                </a:solidFill>
              </a:rPr>
              <a:t>generated MCQ + rationale</a:t>
            </a:r>
          </a:p>
        </p:txBody>
      </p:sp>
      <p:sp>
        <p:nvSpPr>
          <p:cNvPr id="5" name="judge-formality">
            <a:extLst xmlns:a="http://schemas.openxmlformats.org/drawingml/2006/main">
              <a:ext uri="{FF2B5EF4-FFF2-40B4-BE49-F238E27FC236}">
                <a16:creationId xmlns:a16="http://schemas.microsoft.com/office/drawing/2014/main" id="{FEB8ADCA-B257-47AE-B2DD-90C461912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00300"/>
            <a:ext cx="3333750" cy="2343150"/>
          </a:xfrm>
          <a:prstGeom xmlns:a="http://schemas.openxmlformats.org/drawingml/2006/main" prst="roundRect">
            <a:avLst>
              <a:gd name="adj" fmla="val 4878"/>
            </a:avLst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609ECCC-E330-4CFA-B67C-E39B76657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90800"/>
            <a:ext cx="29146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</a:rPr>
              <a:t>1  QA FORMALITY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35ECA61-4E09-4E8A-B574-3B943726C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05150"/>
            <a:ext cx="647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A6069"/>
                </a:solidFill>
              </a:defRPr>
            </a:pPr>
            <a:r>
              <a:rPr sz="975" b="1">
                <a:solidFill>
                  <a:srgbClr val="5A6069"/>
                </a:solidFill>
              </a:rPr>
              <a:t>INPUT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7461470-E6F4-41CA-9F7B-566CEED99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067050"/>
            <a:ext cx="2133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00000"/>
                </a:solidFill>
              </a:defRPr>
            </a:pPr>
            <a:r>
              <a:rPr sz="1200" b="0">
                <a:solidFill>
                  <a:srgbClr val="000000"/>
                </a:solidFill>
              </a:rPr>
              <a:t>Candidate text only + deterministic schema errors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1FFC726-3DF8-48C4-B439-CDCF06027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00450"/>
            <a:ext cx="647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A6069"/>
                </a:solidFill>
              </a:defRPr>
            </a:pPr>
            <a:r>
              <a:rPr sz="975" b="1">
                <a:solidFill>
                  <a:srgbClr val="5A6069"/>
                </a:solidFill>
              </a:rPr>
              <a:t>CHECKS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25553AE-C997-4958-B9FA-CF3903B35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562350"/>
            <a:ext cx="21336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00000"/>
                </a:solidFill>
              </a:defRPr>
            </a:pPr>
            <a:r>
              <a:rPr sz="1200" b="0">
                <a:solidFill>
                  <a:srgbClr val="000000"/>
                </a:solidFill>
              </a:rPr>
              <a:t>Natural first-person wording; valid A–E MCQ; no shallow activity query; no direct-name leakage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E5A496C-A415-43A0-AF61-3AD1C5486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62450"/>
            <a:ext cx="2781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D8DFF"/>
                </a:solidFill>
              </a:defRPr>
            </a:pPr>
            <a:r>
              <a:rPr sz="1125" b="1">
                <a:solidFill>
                  <a:srgbClr val="3D8DFF"/>
                </a:solidFill>
              </a:rPr>
              <a:t>OUTPUT  PASS / FAIL</a:t>
            </a:r>
          </a:p>
        </p:txBody>
      </p:sp>
      <p:sp>
        <p:nvSpPr>
          <p:cNvPr id="12" name="judge-grounding">
            <a:extLst xmlns:a="http://schemas.openxmlformats.org/drawingml/2006/main">
              <a:ext uri="{FF2B5EF4-FFF2-40B4-BE49-F238E27FC236}">
                <a16:creationId xmlns:a16="http://schemas.microsoft.com/office/drawing/2014/main" id="{466C19D3-2CF6-427C-9DB5-45C4063C4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400300"/>
            <a:ext cx="3333750" cy="2343150"/>
          </a:xfrm>
          <a:prstGeom xmlns:a="http://schemas.openxmlformats.org/drawingml/2006/main" prst="roundRect">
            <a:avLst>
              <a:gd name="adj" fmla="val 4878"/>
            </a:avLst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97E00CE-ECE7-475F-8C2E-4B6588917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2590800"/>
            <a:ext cx="29146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00000"/>
                </a:solidFill>
              </a:defRPr>
            </a:pPr>
            <a:r>
              <a:rPr sz="1575" b="1">
                <a:solidFill>
                  <a:srgbClr val="000000"/>
                </a:solidFill>
              </a:rPr>
              <a:t>2  EVIDENCE GROUNDEDNESS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F2A4CB5-9ECE-4E8F-A103-83532482C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3105150"/>
            <a:ext cx="647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A6069"/>
                </a:solidFill>
              </a:defRPr>
            </a:pPr>
            <a:r>
              <a:rPr sz="975" b="1">
                <a:solidFill>
                  <a:srgbClr val="5A6069"/>
                </a:solidFill>
              </a:rPr>
              <a:t>INPUT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2906611-AE27-488C-838E-FCC42EF42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5425" y="3067050"/>
            <a:ext cx="2190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00000"/>
                </a:solidFill>
              </a:defRPr>
            </a:pPr>
            <a:r>
              <a:rPr sz="1200" b="0">
                <a:solidFill>
                  <a:srgbClr val="000000"/>
                </a:solidFill>
              </a:rPr>
              <a:t>Candidate + rationale + both full original videos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A1BCF33-69A3-4BDA-8B5A-829C67793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3600450"/>
            <a:ext cx="647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A6069"/>
                </a:solidFill>
              </a:defRPr>
            </a:pPr>
            <a:r>
              <a:rPr sz="975" b="1">
                <a:solidFill>
                  <a:srgbClr val="5A6069"/>
                </a:solidFill>
              </a:rPr>
              <a:t>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691D611-983E-469A-B0FF-2E80F2FB6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5425" y="3562350"/>
            <a:ext cx="2190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00000"/>
                </a:solidFill>
              </a:defRPr>
            </a:pPr>
            <a:r>
              <a:rPr sz="1200" b="0">
                <a:solidFill>
                  <a:srgbClr val="000000"/>
                </a:solidFill>
              </a:rPr>
              <a:t>Verify every visual claim, option, and declared answer; confirm coherent asker context + provider detail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A43D5CF-AA09-43D0-A4F4-E0E06A312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4362450"/>
            <a:ext cx="2781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D8DFF"/>
                </a:solidFill>
              </a:defRPr>
            </a:pPr>
            <a:r>
              <a:rPr sz="1125" b="1">
                <a:solidFill>
                  <a:srgbClr val="3D8DFF"/>
                </a:solidFill>
              </a:rPr>
              <a:t>OUTPUT  PASS / FAIL</a:t>
            </a:r>
          </a:p>
        </p:txBody>
      </p:sp>
      <p:sp>
        <p:nvSpPr>
          <p:cNvPr id="19" name="judge-answerability">
            <a:extLst xmlns:a="http://schemas.openxmlformats.org/drawingml/2006/main">
              <a:ext uri="{FF2B5EF4-FFF2-40B4-BE49-F238E27FC236}">
                <a16:creationId xmlns:a16="http://schemas.microsoft.com/office/drawing/2014/main" id="{1D2D15F2-3884-4A56-BCA8-162F7D88D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400300"/>
            <a:ext cx="3333750" cy="2343150"/>
          </a:xfrm>
          <a:prstGeom xmlns:a="http://schemas.openxmlformats.org/drawingml/2006/main" prst="roundRect">
            <a:avLst>
              <a:gd name="adj" fmla="val 4878"/>
            </a:avLst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2B90C43-849E-472E-A178-E5BCB006A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590800"/>
            <a:ext cx="29146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</a:rPr>
              <a:t>3  ANSWERABILITY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69B41D8-E801-424D-83FB-529639898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048000"/>
            <a:ext cx="2895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A6069"/>
                </a:solidFill>
              </a:defRPr>
            </a:pPr>
            <a:r>
              <a:rPr sz="1125" b="0">
                <a:solidFill>
                  <a:srgbClr val="5A6069"/>
                </a:solidFill>
              </a:rPr>
              <a:t>Runs conditions inside this branch</a:t>
            </a:r>
          </a:p>
        </p:txBody>
      </p:sp>
      <p:sp>
        <p:nvSpPr>
          <p:cNvPr id="22" name="answer-condition-1">
            <a:extLst xmlns:a="http://schemas.openxmlformats.org/drawingml/2006/main">
              <a:ext uri="{FF2B5EF4-FFF2-40B4-BE49-F238E27FC236}">
                <a16:creationId xmlns:a16="http://schemas.microsoft.com/office/drawing/2014/main" id="{14DA333E-2622-4219-BD47-C46444C70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409950"/>
            <a:ext cx="2800350" cy="323850"/>
          </a:xfrm>
          <a:prstGeom xmlns:a="http://schemas.openxmlformats.org/drawingml/2006/main" prst="roundRect">
            <a:avLst>
              <a:gd name="adj" fmla="val 2058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1CE3469-F7EE-4DE4-865B-F54A774A4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457575"/>
            <a:ext cx="895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0000"/>
                </a:solidFill>
              </a:defRPr>
            </a:pPr>
            <a:r>
              <a:rPr sz="1050" b="1">
                <a:solidFill>
                  <a:srgbClr val="000000"/>
                </a:solidFill>
              </a:rPr>
              <a:t>asker only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19E8BA6-8D98-42F1-AA14-4466674F9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3457575"/>
            <a:ext cx="1695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A6069"/>
                </a:solidFill>
              </a:defRPr>
            </a:pPr>
            <a:r>
              <a:rPr sz="1050" b="0">
                <a:solidFill>
                  <a:srgbClr val="5A6069"/>
                </a:solidFill>
              </a:rPr>
              <a:t>must not pick correct</a:t>
            </a:r>
          </a:p>
        </p:txBody>
      </p:sp>
      <p:sp>
        <p:nvSpPr>
          <p:cNvPr id="25" name="answer-condition-2">
            <a:extLst xmlns:a="http://schemas.openxmlformats.org/drawingml/2006/main">
              <a:ext uri="{FF2B5EF4-FFF2-40B4-BE49-F238E27FC236}">
                <a16:creationId xmlns:a16="http://schemas.microsoft.com/office/drawing/2014/main" id="{D19CDBC6-483F-45CF-B0FF-F017B0F3C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810000"/>
            <a:ext cx="2800350" cy="323850"/>
          </a:xfrm>
          <a:prstGeom xmlns:a="http://schemas.openxmlformats.org/drawingml/2006/main" prst="roundRect">
            <a:avLst>
              <a:gd name="adj" fmla="val 2058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4D64EEE-AFAB-4395-8A75-5E3F61781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857625"/>
            <a:ext cx="895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0000"/>
                </a:solidFill>
              </a:defRPr>
            </a:pPr>
            <a:r>
              <a:rPr sz="1050" b="1">
                <a:solidFill>
                  <a:srgbClr val="000000"/>
                </a:solidFill>
              </a:rPr>
              <a:t>provider only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D345452-65FD-46E6-A335-768CDA4A8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3857625"/>
            <a:ext cx="1695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A6069"/>
                </a:solidFill>
              </a:defRPr>
            </a:pPr>
            <a:r>
              <a:rPr sz="1050" b="0">
                <a:solidFill>
                  <a:srgbClr val="5A6069"/>
                </a:solidFill>
              </a:rPr>
              <a:t>may pick correct; log warning</a:t>
            </a:r>
          </a:p>
        </p:txBody>
      </p:sp>
      <p:sp>
        <p:nvSpPr>
          <p:cNvPr id="28" name="answer-condition-3">
            <a:extLst xmlns:a="http://schemas.openxmlformats.org/drawingml/2006/main">
              <a:ext uri="{FF2B5EF4-FFF2-40B4-BE49-F238E27FC236}">
                <a16:creationId xmlns:a16="http://schemas.microsoft.com/office/drawing/2014/main" id="{9A726705-F1CF-49FD-A8E3-EE0599AC8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210050"/>
            <a:ext cx="2800350" cy="323850"/>
          </a:xfrm>
          <a:prstGeom xmlns:a="http://schemas.openxmlformats.org/drawingml/2006/main" prst="roundRect">
            <a:avLst>
              <a:gd name="adj" fmla="val 20588"/>
            </a:avLst>
          </a:prstGeom>
          <a:solidFill xmlns:a="http://schemas.openxmlformats.org/drawingml/2006/main">
            <a:srgbClr val="DDF3FC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2343794-D867-408B-B684-46A33E7C2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257675"/>
            <a:ext cx="895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0000"/>
                </a:solidFill>
              </a:defRPr>
            </a:pPr>
            <a:r>
              <a:rPr sz="1050" b="1">
                <a:solidFill>
                  <a:srgbClr val="000000"/>
                </a:solidFill>
              </a:rPr>
              <a:t>combined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6D796B4-E39F-4A66-9D19-A74D58D49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4257675"/>
            <a:ext cx="1695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A6069"/>
                </a:solidFill>
              </a:defRPr>
            </a:pPr>
            <a:r>
              <a:rPr sz="1050" b="0">
                <a:solidFill>
                  <a:srgbClr val="5A6069"/>
                </a:solidFill>
              </a:rPr>
              <a:t>must pick correct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FE50C7B-532C-4C3A-93CA-A1C16BD4A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4514850"/>
            <a:ext cx="2781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D8DFF"/>
                </a:solidFill>
              </a:defRPr>
            </a:pPr>
            <a:r>
              <a:rPr sz="1125" b="1">
                <a:solidFill>
                  <a:srgbClr val="3D8DFF"/>
                </a:solidFill>
              </a:rPr>
              <a:t>OUTPUT  PASS / FAIL</a:t>
            </a:r>
          </a:p>
        </p:txBody>
      </p:sp>
      <p:cxnSp>
        <p:nvCxnSpPr>
          <p:cNvPr id="84" name=""/>
          <p:cNvCxnSpPr>
            <a:stCxn xmlns:a="http://schemas.openxmlformats.org/drawingml/2006/main" id="3" idx="2"/>
            <a:endCxn xmlns:a="http://schemas.openxmlformats.org/drawingml/2006/main" id="5" idx="0"/>
          </p:cNvCxnSpPr>
          <p:nvPr/>
        </p:nvCxnSpPr>
        <p:spPr>
          <a:xfrm xmlns:a="http://schemas.openxmlformats.org/drawingml/2006/main" flipH="1">
            <a:off x="2124075" y="1885950"/>
            <a:ext cx="3971925" cy="51435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000000"/>
            </a:solidFill>
            <a:prstDash val="solid"/>
            <a:tailEnd type="triangle" w="sm" len="sm"/>
          </a:ln>
        </p:spPr>
      </p:cxnSp>
      <p:cxnSp>
        <p:nvCxnSpPr>
          <p:cNvPr id="85" name=""/>
          <p:cNvCxnSpPr>
            <a:stCxn xmlns:a="http://schemas.openxmlformats.org/drawingml/2006/main" id="3" idx="2"/>
            <a:endCxn xmlns:a="http://schemas.openxmlformats.org/drawingml/2006/main" id="12" idx="0"/>
          </p:cNvCxnSpPr>
          <p:nvPr/>
        </p:nvCxnSpPr>
        <p:spPr>
          <a:xfrm xmlns:a="http://schemas.openxmlformats.org/drawingml/2006/main">
            <a:off x="6096000" y="1885950"/>
            <a:ext cx="0" cy="5143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0000"/>
            </a:solidFill>
            <a:prstDash val="solid"/>
            <a:tailEnd type="triangle" w="sm" len="sm"/>
          </a:ln>
        </p:spPr>
      </p:cxnSp>
      <p:cxnSp>
        <p:nvCxnSpPr>
          <p:cNvPr id="86" name=""/>
          <p:cNvCxnSpPr>
            <a:stCxn xmlns:a="http://schemas.openxmlformats.org/drawingml/2006/main" id="3" idx="2"/>
            <a:endCxn xmlns:a="http://schemas.openxmlformats.org/drawingml/2006/main" id="19" idx="0"/>
          </p:cNvCxnSpPr>
          <p:nvPr/>
        </p:nvCxnSpPr>
        <p:spPr>
          <a:xfrm xmlns:a="http://schemas.openxmlformats.org/drawingml/2006/main">
            <a:off x="6096000" y="1885950"/>
            <a:ext cx="3971925" cy="51435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000000"/>
            </a:solidFill>
            <a:prstDash val="solid"/>
            <a:tailEnd type="triangle" w="sm" len="sm"/>
          </a:ln>
        </p:spPr>
      </p:cxnSp>
      <p:sp>
        <p:nvSpPr>
          <p:cNvPr id="35" name="judge-retry">
            <a:extLst xmlns:a="http://schemas.openxmlformats.org/drawingml/2006/main">
              <a:ext uri="{FF2B5EF4-FFF2-40B4-BE49-F238E27FC236}">
                <a16:creationId xmlns:a16="http://schemas.microsoft.com/office/drawing/2014/main" id="{E6B99840-109A-41FA-B08E-CB342E61A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19700"/>
            <a:ext cx="2857500" cy="704850"/>
          </a:xfrm>
          <a:prstGeom xmlns:a="http://schemas.openxmlformats.org/drawingml/2006/main" prst="roundRect">
            <a:avLst>
              <a:gd name="adj" fmla="val 13514"/>
            </a:avLst>
          </a:prstGeom>
          <a:solidFill xmlns:a="http://schemas.openxmlformats.org/drawingml/2006/main">
            <a:srgbClr val="F8D9D9"/>
          </a:solidFill>
          <a:ln xmlns:a="http://schemas.openxmlformats.org/drawingml/2006/main" w="9525">
            <a:solidFill>
              <a:srgbClr val="E96A6A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FE6C9B7-677D-474B-9DB8-0B3A7758F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334000"/>
            <a:ext cx="895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E96A6A"/>
                </a:solidFill>
              </a:defRPr>
            </a:pPr>
            <a:r>
              <a:rPr sz="1200" b="1">
                <a:solidFill>
                  <a:srgbClr val="E96A6A"/>
                </a:solidFill>
              </a:rPr>
              <a:t>ANY FAIL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0D33CAB-97E9-4DAE-8357-F4A26790F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286375"/>
            <a:ext cx="1657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A6069"/>
                </a:solidFill>
              </a:defRPr>
            </a:pPr>
            <a:r>
              <a:rPr sz="1125" b="0">
                <a:solidFill>
                  <a:srgbClr val="5A6069"/>
                </a:solidFill>
              </a:rPr>
              <a:t>merge fixes → feedback → retry</a:t>
            </a:r>
          </a:p>
          <a:p xmlns:a="http://schemas.openxmlformats.org/drawingml/2006/main">
            <a:pPr algn="ctr">
              <a:defRPr sz="1125" b="0">
                <a:solidFill>
                  <a:srgbClr val="5A6069"/>
                </a:solidFill>
              </a:defRPr>
            </a:pPr>
            <a:r>
              <a:rPr sz="1125" b="0">
                <a:solidFill>
                  <a:srgbClr val="5A6069"/>
                </a:solidFill>
              </a:rPr>
              <a:t>reject after 3 attempts</a:t>
            </a:r>
          </a:p>
        </p:txBody>
      </p:sp>
      <p:sp>
        <p:nvSpPr>
          <p:cNvPr id="38" name="judge-merge-gate">
            <a:extLst xmlns:a="http://schemas.openxmlformats.org/drawingml/2006/main">
              <a:ext uri="{FF2B5EF4-FFF2-40B4-BE49-F238E27FC236}">
                <a16:creationId xmlns:a16="http://schemas.microsoft.com/office/drawing/2014/main" id="{6A3E22B5-67D5-4156-8C14-53F343AD0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5105400"/>
            <a:ext cx="3524250" cy="933450"/>
          </a:xfrm>
          <a:prstGeom xmlns:a="http://schemas.openxmlformats.org/drawingml/2006/main" prst="roundRect">
            <a:avLst>
              <a:gd name="adj" fmla="val 12245"/>
            </a:avLst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7D0E52A-DCA1-4115-B101-4662D6B54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5238750"/>
            <a:ext cx="3124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MERGE + DETERMINISTIC GATE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FA22F93-49BF-4B98-96FE-47E96C167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5581650"/>
            <a:ext cx="2933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all three checks PASS</a:t>
            </a:r>
          </a:p>
          <a:p xmlns:a="http://schemas.openxmlformats.org/drawingml/2006/main">
            <a:pPr algn="ctr"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then strict review schema validation</a:t>
            </a:r>
          </a:p>
        </p:txBody>
      </p:sp>
      <p:sp>
        <p:nvSpPr>
          <p:cNvPr id="41" name="judge-accepted">
            <a:extLst xmlns:a="http://schemas.openxmlformats.org/drawingml/2006/main">
              <a:ext uri="{FF2B5EF4-FFF2-40B4-BE49-F238E27FC236}">
                <a16:creationId xmlns:a16="http://schemas.microsoft.com/office/drawing/2014/main" id="{53B9AF55-C4AB-47E2-8C5D-EA83D169B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5219700"/>
            <a:ext cx="2857500" cy="704850"/>
          </a:xfrm>
          <a:prstGeom xmlns:a="http://schemas.openxmlformats.org/drawingml/2006/main" prst="roundRect">
            <a:avLst>
              <a:gd name="adj" fmla="val 13514"/>
            </a:avLst>
          </a:prstGeom>
          <a:solidFill xmlns:a="http://schemas.openxmlformats.org/drawingml/2006/main">
            <a:srgbClr val="DDF3FC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EEEFAE7-742E-4C78-BDA7-A1E145FD7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5334000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</a:defRPr>
            </a:pPr>
            <a:r>
              <a:rPr sz="1200" b="1">
                <a:solidFill>
                  <a:srgbClr val="3D8DFF"/>
                </a:solidFill>
              </a:rPr>
              <a:t>PASS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7569817-AB95-4D81-AA21-1777998E4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5286375"/>
            <a:ext cx="18669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A6069"/>
                </a:solidFill>
              </a:defRPr>
            </a:pPr>
            <a:r>
              <a:rPr sz="1125" b="0">
                <a:solidFill>
                  <a:srgbClr val="5A6069"/>
                </a:solidFill>
              </a:rPr>
              <a:t>write accepted QA + full trace</a:t>
            </a:r>
          </a:p>
          <a:p xmlns:a="http://schemas.openxmlformats.org/drawingml/2006/main">
            <a:pPr algn="ctr">
              <a:defRPr sz="1125" b="0">
                <a:solidFill>
                  <a:srgbClr val="5A6069"/>
                </a:solidFill>
              </a:defRPr>
            </a:pPr>
            <a:r>
              <a:rPr sz="1125" b="0">
                <a:solidFill>
                  <a:srgbClr val="5A6069"/>
                </a:solidFill>
              </a:rPr>
              <a:t>qa_mcq.jsonl</a:t>
            </a:r>
          </a:p>
        </p:txBody>
      </p:sp>
      <p:cxnSp>
        <p:nvCxnSpPr>
          <p:cNvPr id="96" name=""/>
          <p:cNvCxnSpPr>
            <a:stCxn xmlns:a="http://schemas.openxmlformats.org/drawingml/2006/main" id="5" idx="2"/>
            <a:endCxn xmlns:a="http://schemas.openxmlformats.org/drawingml/2006/main" id="38" idx="0"/>
          </p:cNvCxnSpPr>
          <p:nvPr/>
        </p:nvCxnSpPr>
        <p:spPr>
          <a:xfrm xmlns:a="http://schemas.openxmlformats.org/drawingml/2006/main">
            <a:off x="2124075" y="4743450"/>
            <a:ext cx="3971925" cy="36195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000000"/>
            </a:solidFill>
            <a:prstDash val="solid"/>
            <a:tailEnd type="triangle" w="sm" len="sm"/>
          </a:ln>
        </p:spPr>
      </p:cxnSp>
      <p:cxnSp>
        <p:nvCxnSpPr>
          <p:cNvPr id="97" name=""/>
          <p:cNvCxnSpPr>
            <a:stCxn xmlns:a="http://schemas.openxmlformats.org/drawingml/2006/main" id="12" idx="2"/>
            <a:endCxn xmlns:a="http://schemas.openxmlformats.org/drawingml/2006/main" id="38" idx="0"/>
          </p:cNvCxnSpPr>
          <p:nvPr/>
        </p:nvCxnSpPr>
        <p:spPr>
          <a:xfrm xmlns:a="http://schemas.openxmlformats.org/drawingml/2006/main">
            <a:off x="6096000" y="4743450"/>
            <a:ext cx="0" cy="3619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0000"/>
            </a:solidFill>
            <a:prstDash val="solid"/>
            <a:tailEnd type="triangle" w="sm" len="sm"/>
          </a:ln>
        </p:spPr>
      </p:cxnSp>
      <p:cxnSp>
        <p:nvCxnSpPr>
          <p:cNvPr id="98" name=""/>
          <p:cNvCxnSpPr>
            <a:stCxn xmlns:a="http://schemas.openxmlformats.org/drawingml/2006/main" id="19" idx="2"/>
            <a:endCxn xmlns:a="http://schemas.openxmlformats.org/drawingml/2006/main" id="38" idx="0"/>
          </p:cNvCxnSpPr>
          <p:nvPr/>
        </p:nvCxnSpPr>
        <p:spPr>
          <a:xfrm xmlns:a="http://schemas.openxmlformats.org/drawingml/2006/main" flipH="1">
            <a:off x="6096000" y="4743450"/>
            <a:ext cx="3971925" cy="36195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000000"/>
            </a:solidFill>
            <a:prstDash val="solid"/>
            <a:tailEnd type="triangle" w="sm" len="sm"/>
          </a:ln>
        </p:spPr>
      </p:cxnSp>
      <p:cxnSp>
        <p:nvCxnSpPr>
          <p:cNvPr id="99" name=""/>
          <p:cNvCxnSpPr>
            <a:stCxn xmlns:a="http://schemas.openxmlformats.org/drawingml/2006/main" id="38" idx="1"/>
            <a:endCxn xmlns:a="http://schemas.openxmlformats.org/drawingml/2006/main" id="35" idx="3"/>
          </p:cNvCxnSpPr>
          <p:nvPr/>
        </p:nvCxnSpPr>
        <p:spPr>
          <a:xfrm xmlns:a="http://schemas.openxmlformats.org/drawingml/2006/main" flipH="1">
            <a:off x="3314700" y="5572125"/>
            <a:ext cx="10191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E96A6A"/>
            </a:solidFill>
            <a:prstDash val="solid"/>
            <a:tailEnd type="triangle" w="sm" len="sm"/>
          </a:ln>
        </p:spPr>
      </p:cxnSp>
      <p:cxnSp>
        <p:nvCxnSpPr>
          <p:cNvPr id="100" name=""/>
          <p:cNvCxnSpPr>
            <a:stCxn xmlns:a="http://schemas.openxmlformats.org/drawingml/2006/main" id="38" idx="3"/>
            <a:endCxn xmlns:a="http://schemas.openxmlformats.org/drawingml/2006/main" id="41" idx="1"/>
          </p:cNvCxnSpPr>
          <p:nvPr/>
        </p:nvCxnSpPr>
        <p:spPr>
          <a:xfrm xmlns:a="http://schemas.openxmlformats.org/drawingml/2006/main">
            <a:off x="7858125" y="5572125"/>
            <a:ext cx="10191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8DFF"/>
            </a:solidFill>
            <a:prstDash val="solid"/>
            <a:tailEnd type="triangle" w="sm" len="sm"/>
          </a:ln>
        </p:spPr>
      </p:cxn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20A7C07D-8DDC-4EC1-933E-6B89A2FB5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6067425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A6069"/>
                </a:solidFill>
              </a:defRPr>
            </a:pPr>
            <a:r>
              <a:rPr sz="1050" b="0">
                <a:solidFill>
                  <a:srgbClr val="5A6069"/>
                </a:solidFill>
              </a:rPr>
              <a:t>Diagnostics only: PASS/FAIL logits → entropy; category-local 1–3 quality memory → no extra judge and no gate override.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FE6176B3-5BDA-4692-9939-89AD14717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15075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ADF"/>
            </a:solidFill>
            <a:prstDash val="solid"/>
          </a:ln>
        </p:spPr>
      </p:sp>
      <p:sp>
        <p:nvSpPr>
          <p:cNvPr id="51" name="source-footer-6">
            <a:extLst xmlns:a="http://schemas.openxmlformats.org/drawingml/2006/main">
              <a:ext uri="{FF2B5EF4-FFF2-40B4-BE49-F238E27FC236}">
                <a16:creationId xmlns:a16="http://schemas.microsoft.com/office/drawing/2014/main" id="{26D735C8-B32E-457D-B5EE-1E000755F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0"/>
            <a:ext cx="10239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A6069"/>
                </a:solidFill>
              </a:defRPr>
            </a:pPr>
            <a:r>
              <a:rPr sz="825" b="0">
                <a:solidFill>
                  <a:srgbClr val="5A6069"/>
                </a:solidFill>
              </a:rPr>
              <a:t>Source: video_qa_loop.py • JUDGE_DESIGN_NOTES.md</a:t>
            </a:r>
          </a:p>
        </p:txBody>
      </p:sp>
      <p:sp>
        <p:nvSpPr>
          <p:cNvPr id="52" name="slide-number-6">
            <a:extLst xmlns:a="http://schemas.openxmlformats.org/drawingml/2006/main">
              <a:ext uri="{FF2B5EF4-FFF2-40B4-BE49-F238E27FC236}">
                <a16:creationId xmlns:a16="http://schemas.microsoft.com/office/drawing/2014/main" id="{995480F1-077F-42B4-9718-9F48EB6D2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62700"/>
            <a:ext cx="647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000000"/>
                </a:solidFill>
              </a:defRPr>
            </a:pPr>
            <a:r>
              <a:rPr sz="975" b="0">
                <a:solidFill>
                  <a:srgbClr val="000000"/>
                </a:solidFill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51130635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2026-07-17T22:43:39.6620000Z</dcterms:created>
  <dcterms:modified xsi:type="dcterms:W3CDTF">2026-07-17T22:43:39.6620000Z</dcterms:modified>
</coreProperties>
</file>